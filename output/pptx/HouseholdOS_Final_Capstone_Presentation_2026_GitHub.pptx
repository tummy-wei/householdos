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1589a4371c040b3" /><Relationship Type="http://schemas.openxmlformats.org/officeDocument/2006/relationships/extended-properties" Target="/docProps/app.xml" Id="Rb171b049d7524460" /><Relationship Type="http://schemas.openxmlformats.org/officeDocument/2006/relationships/officeDocument" Target="/ppt/presentation.xml" Id="Re2f278209ecb4c83" /></Relationships>
</file>

<file path=ppt/presentation.xml><?xml version="1.0" encoding="utf-8"?>
<p:presentation xmlns:p="http://schemas.openxmlformats.org/presentationml/2006/main">
  <p:sldMasterIdLst>
    <p:sldMasterId xmlns:r="http://schemas.openxmlformats.org/officeDocument/2006/relationships" id="2147483648" r:id="Rf96edbb463684c44"/>
  </p:sldMasterIdLst>
  <p:notesMasterIdLst>
    <p:notesMasterId xmlns:r="http://schemas.openxmlformats.org/officeDocument/2006/relationships" r:id="R82cc50bccddb416c"/>
  </p:notesMasterIdLst>
  <p:sldIdLst>
    <p:sldId xmlns:r="http://schemas.openxmlformats.org/officeDocument/2006/relationships" id="256" r:id="R636961fd181947b7"/>
    <p:sldId xmlns:r="http://schemas.openxmlformats.org/officeDocument/2006/relationships" id="257" r:id="Rb9e97a87f63d44ad"/>
    <p:sldId xmlns:r="http://schemas.openxmlformats.org/officeDocument/2006/relationships" id="258" r:id="Rbd4615f1c3764b44"/>
    <p:sldId xmlns:r="http://schemas.openxmlformats.org/officeDocument/2006/relationships" id="259" r:id="R2a54e4a1b1f347d5"/>
    <p:sldId xmlns:r="http://schemas.openxmlformats.org/officeDocument/2006/relationships" id="260" r:id="R05fa2443257445ad"/>
    <p:sldId xmlns:r="http://schemas.openxmlformats.org/officeDocument/2006/relationships" id="261" r:id="Rb256b1f12f1046e9"/>
    <p:sldId xmlns:r="http://schemas.openxmlformats.org/officeDocument/2006/relationships" id="262" r:id="R4f57609b39144faf"/>
    <p:sldId xmlns:r="http://schemas.openxmlformats.org/officeDocument/2006/relationships" id="263" r:id="R4a8fc9ea77294f74"/>
    <p:sldId xmlns:r="http://schemas.openxmlformats.org/officeDocument/2006/relationships" id="264" r:id="R7b464f79f47744a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3adf148937c4eb8" /><Relationship Type="http://schemas.openxmlformats.org/officeDocument/2006/relationships/slideMaster" Target="/ppt/slideMasters/slideMaster1.xml" Id="Rf96edbb463684c44" /><Relationship Type="http://schemas.openxmlformats.org/officeDocument/2006/relationships/notesMaster" Target="/ppt/notesMasters/notesMaster1.xml" Id="R82cc50bccddb416c" /><Relationship Type="http://schemas.openxmlformats.org/officeDocument/2006/relationships/presProps" Target="/ppt/presProps.xml" Id="Rb568de600a524842" /><Relationship Type="http://schemas.openxmlformats.org/officeDocument/2006/relationships/tableStyles" Target="/ppt/tableStyles.xml" Id="Rbdc459b723844023" /><Relationship Type="http://schemas.openxmlformats.org/officeDocument/2006/relationships/slide" Target="/ppt/slides/slide1.xml" Id="R636961fd181947b7" /><Relationship Type="http://schemas.openxmlformats.org/officeDocument/2006/relationships/slide" Target="/ppt/slides/slide2.xml" Id="Rb9e97a87f63d44ad" /><Relationship Type="http://schemas.openxmlformats.org/officeDocument/2006/relationships/slide" Target="/ppt/slides/slide3.xml" Id="Rbd4615f1c3764b44" /><Relationship Type="http://schemas.openxmlformats.org/officeDocument/2006/relationships/slide" Target="/ppt/slides/slide4.xml" Id="R2a54e4a1b1f347d5" /><Relationship Type="http://schemas.openxmlformats.org/officeDocument/2006/relationships/slide" Target="/ppt/slides/slide5.xml" Id="R05fa2443257445ad" /><Relationship Type="http://schemas.openxmlformats.org/officeDocument/2006/relationships/slide" Target="/ppt/slides/slide6.xml" Id="Rb256b1f12f1046e9" /><Relationship Type="http://schemas.openxmlformats.org/officeDocument/2006/relationships/slide" Target="/ppt/slides/slide7.xml" Id="R4f57609b39144faf" /><Relationship Type="http://schemas.openxmlformats.org/officeDocument/2006/relationships/slide" Target="/ppt/slides/slide8.xml" Id="R4a8fc9ea77294f74" /><Relationship Type="http://schemas.openxmlformats.org/officeDocument/2006/relationships/slide" Target="/ppt/slides/slide9.xml" Id="R7b464f79f47744a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6a5467809ba40a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ac14ebc85cd4398" /><Relationship Type="http://schemas.openxmlformats.org/officeDocument/2006/relationships/notesMaster" Target="/ppt/notesMasters/notesMaster1.xml" Id="R1d67354d7daf4038" /></Relationships>
</file>

<file path=ppt/notesSlides/_rels/notesSlide2.xml.rels>&#65279;<?xml version="1.0" encoding="utf-8"?><Relationships xmlns="http://schemas.openxmlformats.org/package/2006/relationships"><Relationship Type="http://schemas.openxmlformats.org/officeDocument/2006/relationships/slide" Target="/ppt/slides/slide2.xml" Id="R378b3ddd92944270" /><Relationship Type="http://schemas.openxmlformats.org/officeDocument/2006/relationships/notesMaster" Target="/ppt/notesMasters/notesMaster1.xml" Id="R5a46c55c9ba4403f" /></Relationships>
</file>

<file path=ppt/notesSlides/_rels/notesSlide3.xml.rels>&#65279;<?xml version="1.0" encoding="utf-8"?><Relationships xmlns="http://schemas.openxmlformats.org/package/2006/relationships"><Relationship Type="http://schemas.openxmlformats.org/officeDocument/2006/relationships/slide" Target="/ppt/slides/slide3.xml" Id="Rd629333b2505483d" /><Relationship Type="http://schemas.openxmlformats.org/officeDocument/2006/relationships/notesMaster" Target="/ppt/notesMasters/notesMaster1.xml" Id="Rceeec2abd1dc46d0" /></Relationships>
</file>

<file path=ppt/notesSlides/_rels/notesSlide4.xml.rels>&#65279;<?xml version="1.0" encoding="utf-8"?><Relationships xmlns="http://schemas.openxmlformats.org/package/2006/relationships"><Relationship Type="http://schemas.openxmlformats.org/officeDocument/2006/relationships/slide" Target="/ppt/slides/slide4.xml" Id="R3bf4b522c99846f6" /><Relationship Type="http://schemas.openxmlformats.org/officeDocument/2006/relationships/notesMaster" Target="/ppt/notesMasters/notesMaster1.xml" Id="R97543b173a5741ba" /></Relationships>
</file>

<file path=ppt/notesSlides/_rels/notesSlide5.xml.rels>&#65279;<?xml version="1.0" encoding="utf-8"?><Relationships xmlns="http://schemas.openxmlformats.org/package/2006/relationships"><Relationship Type="http://schemas.openxmlformats.org/officeDocument/2006/relationships/slide" Target="/ppt/slides/slide5.xml" Id="R5e8faee699204edc" /><Relationship Type="http://schemas.openxmlformats.org/officeDocument/2006/relationships/notesMaster" Target="/ppt/notesMasters/notesMaster1.xml" Id="R0b9fe7fc2e8c42d5" /></Relationships>
</file>

<file path=ppt/notesSlides/_rels/notesSlide6.xml.rels>&#65279;<?xml version="1.0" encoding="utf-8"?><Relationships xmlns="http://schemas.openxmlformats.org/package/2006/relationships"><Relationship Type="http://schemas.openxmlformats.org/officeDocument/2006/relationships/slide" Target="/ppt/slides/slide6.xml" Id="R4e3ac0a8c0824995" /><Relationship Type="http://schemas.openxmlformats.org/officeDocument/2006/relationships/notesMaster" Target="/ppt/notesMasters/notesMaster1.xml" Id="Rc665563328e74b6b" /></Relationships>
</file>

<file path=ppt/notesSlides/_rels/notesSlide7.xml.rels>&#65279;<?xml version="1.0" encoding="utf-8"?><Relationships xmlns="http://schemas.openxmlformats.org/package/2006/relationships"><Relationship Type="http://schemas.openxmlformats.org/officeDocument/2006/relationships/slide" Target="/ppt/slides/slide7.xml" Id="R0258c0cc85614855" /><Relationship Type="http://schemas.openxmlformats.org/officeDocument/2006/relationships/notesMaster" Target="/ppt/notesMasters/notesMaster1.xml" Id="Rfdf18114a0434e27" /></Relationships>
</file>

<file path=ppt/notesSlides/_rels/notesSlide8.xml.rels>&#65279;<?xml version="1.0" encoding="utf-8"?><Relationships xmlns="http://schemas.openxmlformats.org/package/2006/relationships"><Relationship Type="http://schemas.openxmlformats.org/officeDocument/2006/relationships/slide" Target="/ppt/slides/slide8.xml" Id="Ra957ef81b1114bef" /><Relationship Type="http://schemas.openxmlformats.org/officeDocument/2006/relationships/notesMaster" Target="/ppt/notesMasters/notesMaster1.xml" Id="R3a1b331c4abd4e50" /></Relationships>
</file>

<file path=ppt/notesSlides/_rels/notesSlide9.xml.rels>&#65279;<?xml version="1.0" encoding="utf-8"?><Relationships xmlns="http://schemas.openxmlformats.org/package/2006/relationships"><Relationship Type="http://schemas.openxmlformats.org/officeDocument/2006/relationships/slide" Target="/ppt/slides/slide9.xml" Id="Re5eeeaedeaec4c72" /><Relationship Type="http://schemas.openxmlformats.org/officeDocument/2006/relationships/notesMaster" Target="/ppt/notesMasters/notesMaster1.xml" Id="R720e03ceed5d454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Hello. I am Kang Wei, and this is HouseholdOS, an approval-gated AI Chief of Staff for family and ministry operations. The project began with a practical problem: our commitments are spread across school calendars, soccer feeds, recurring lessons, church spreadsheets, email, and LINE. HouseholdOS brings those sources into one operating view, creates a weekly brief, and keeps humans in control of every consequential action. I will show the problem, the architecture, the design decisions, the evaluation results, and what remains before production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central issue is fragmentation. Each source is useful on its own, but the household still has to reconcile dates, time zones, travel buffers, changing drivers, volunteer assignments, and communication deadlines. A normal calendar can tell me that an event exists. It cannot tell me that one child has an overlap, that the driver is still unknown, that a Bible-study leader needs a reminder ten and a half days ahead, or that a public announcement must omit helper-only details. The cost is repeated manual work and a real risk of missed handoffs.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goal is one reviewable weekly brief across five domains: kids activities, church events, groceries, travel, and house maintenance. Success requires more than fluent text. The system must preserve source facts, identify conflicts and missing information, create actionable work, and keep external actions behind an approval boundary. Budget is deferred. Purchases, travel bookings, and contractor engagement are unavailable. The grocery, travel, and maintenance records shown in the capstone demo are synthetic and clearly labeled.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architecture uses ports and adapters. Streamlit is the operating console. Read-only adapters ingest four ICS sources, Gmail messages, Google Sheets data, and manual input. Deterministic Python normalizes dates, expands recurrences, calculates transportation, filters evidence, and enforces policy. SQLite stores operational state, evidence, traces, approvals, and delivery outcomes. The OpenAI Agents SDK supports a supervisor plus Schedule, Research, Planner, and Critic specialists. At the action boundary, Apps Script updates the spreadsheet and calendars, while the LINE API sends an approved draft. This division keeps exact rules outside probabilistic reasoning.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Human oversight is implemented as state, not as a sentence in a prompt. The system drafts an action and presents the exact content. The user previews it, then approval binds to the specific tool and payload. Only then can the adapter execute, and the result is written to an audit record. Scheduled actions remain locked until their approved time. If a credential, destination, matching approval, or timing condition is absent, the adapter fails closed. This flow supports ministry reminders and calendar changes while preventing an accidental click from becoming an unreviewed external 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Five decisions shaped the final system. Google Sheets remains the church system of record because helper assignments change frequently. Typed Pydantic contracts and deterministic Python enforce facts and constraints. SQLite supports a local-first demo with inspectable state. The OpenAI Agents SDK is the only model harness, avoiding overlapping orchestration frameworks. Finally, synthetic records make the grocery, travel, and maintenance demo reproducible without exposing private data. Across the program, these decisions narrowed a broad assistant concept into an evaluable operating 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Evaluation combines 31 unit tests with a deterministic benchmark of twenty scenarios. The tests cover persistence, calendar repair, overlap detection, cancellations, driver overrides, ministry drafting, email extraction, source filtering, and fail-closed adapters. All 31 passed. The benchmark covers routing, constraints, missing information, transportation, retrieval, grounding, safety, synthesis, and each operating domain. It passed 20 of 20, and the unsafe-action rate was zero. These results show correctness against the implemented suite. They do not establish production reliability, and the planned user study has not yet measured time saved or trust.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public repository is available at github.com/tummy-wei/HouseholdOS. Before final publication, I will verify that credentials, OAuth tokens, private email content, addresses, and live group identifiers are excluded. The repository should contain the README, architecture, application, domain workflows, adapters, tests, benchmark baseline, sample inputs, and demo instructions. A reviewer can launch Streamlit, run the 31 tests, rerun the benchmark, and inspect the approval boundary.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strongest parts of HouseholdOS are visible provenance, typed state, deterministic constraint checks, fail-closed actions, and one brief across five domains. Current limitations are equally important: it runs locally, lacks a durable scheduler, relies on rule-based calendar logic, and has mostly synthetic evaluation shaped by one household. The next steps are managed deployment, a durable job queue, sandbox integration tests, and a four-week user study. Later work can add semantic Bible-material retrieval and budget support. The transferable result is a reusable Chief-of-Staff pattern that coordinates complex work while leaving decisions with people. Thank you.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ba23449d4cb4b8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3865168d7cf4913" /><Relationship Type="http://schemas.openxmlformats.org/officeDocument/2006/relationships/slideLayout" Target="/ppt/slideLayouts/slideLayout1.xml" Id="R98b2b008d456496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8b2b008d456496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8e5dccd7cd04102" /><Relationship Type="http://schemas.openxmlformats.org/officeDocument/2006/relationships/notesSlide" Target="/ppt/notesSlides/notesSlide1.xml" Id="R2e00c800e1a848b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2c63436924e4ddb" /><Relationship Type="http://schemas.openxmlformats.org/officeDocument/2006/relationships/notesSlide" Target="/ppt/notesSlides/notesSlide2.xml" Id="R3f72f5dd8eb441f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ce4b343b1184a1d" /><Relationship Type="http://schemas.openxmlformats.org/officeDocument/2006/relationships/notesSlide" Target="/ppt/notesSlides/notesSlide3.xml" Id="R4756d138e15f43b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fa626642d0a4418" /><Relationship Type="http://schemas.openxmlformats.org/officeDocument/2006/relationships/notesSlide" Target="/ppt/notesSlides/notesSlide4.xml" Id="R63f2cc3b635b464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70af0186488433c" /><Relationship Type="http://schemas.openxmlformats.org/officeDocument/2006/relationships/notesSlide" Target="/ppt/notesSlides/notesSlide5.xml" Id="R1dc3dd73ed47477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f324433f1d04c68" /><Relationship Type="http://schemas.openxmlformats.org/officeDocument/2006/relationships/notesSlide" Target="/ppt/notesSlides/notesSlide6.xml" Id="R643dda897afb4c0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8541430ee574630" /><Relationship Type="http://schemas.openxmlformats.org/officeDocument/2006/relationships/chart" Target="/ppt/slides/charts/chart1.xml" Id="R7a05ebf63e2c407a" /><Relationship Type="http://schemas.openxmlformats.org/officeDocument/2006/relationships/notesSlide" Target="/ppt/notesSlides/notesSlide7.xml" Id="R715f3595fdff412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7868cb6eded477b" /><Relationship Type="http://schemas.openxmlformats.org/officeDocument/2006/relationships/notesSlide" Target="/ppt/notesSlides/notesSlide8.xml" Id="R6825f1f9afd14d7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cf9625280fa4834" /><Relationship Type="http://schemas.openxmlformats.org/officeDocument/2006/relationships/notesSlide" Target="/ppt/notesSlides/notesSlide9.xml" Id="R7135537b0d09498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Observed</c:v>
          </c:tx>
          <c:spPr>
            <a:solidFill xmlns:a="http://schemas.openxmlformats.org/drawingml/2006/main">
              <a:srgbClr val="176B57"/>
            </a:solidFill>
          </c:spPr>
          <c:cat>
            <c:strRef>
              <c:f>'Chart Data'!$A$2:$A$4</c:f>
              <c:strCache>
                <c:ptCount val="3"/>
                <c:pt idx="0">
                  <c:v>Unit tests</c:v>
                </c:pt>
                <c:pt idx="1">
                  <c:v>Benchmark scenarios</c:v>
                </c:pt>
                <c:pt idx="2">
                  <c:v>Unsafe actions</c:v>
                </c:pt>
              </c:strCache>
            </c:strRef>
          </c:cat>
          <c:val>
            <c:numRef>
              <c:f>'Chart Data'!$B$2:$B$4</c:f>
              <c:numCache>
                <c:formatCode>General</c:formatCode>
                <c:ptCount val="3"/>
                <c:pt idx="0">
                  <c:v>31</c:v>
                </c:pt>
                <c:pt idx="1">
                  <c:v>20</c:v>
                </c:pt>
                <c:pt idx="2">
                  <c:v>0</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5D8938B-A362-4B37-BB24-E2F7B1BA980D}"/>
              </a:ext>
            </a:extLst>
          </p:cNvPr>
          <p:cNvSpPr>
            <a:spLocks xmlns:a="http://schemas.openxmlformats.org/drawingml/2006/main" noGrp="1"/>
          </p:cNvSpPr>
          <p:nvPr/>
        </p:nvSpPr>
        <p:spPr>
          <a:xfrm xmlns:a="http://schemas.openxmlformats.org/drawingml/2006/main">
            <a:off x="704850" y="1571625"/>
            <a:ext cx="714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172B25"/>
                </a:solidFill>
                <a:latin typeface="Helvetica Neue"/>
                <a:ea typeface="Helvetica Neue"/>
                <a:cs typeface="Helvetica Neue"/>
              </a:defRPr>
            </a:pPr>
            <a:r>
              <a:rPr sz="4350" b="1">
                <a:solidFill>
                  <a:srgbClr val="172B25"/>
                </a:solidFill>
                <a:latin typeface="Helvetica Neue"/>
                <a:ea typeface="Helvetica Neue"/>
                <a:cs typeface="Helvetica Neue"/>
              </a:rPr>
              <a:t>HouseholdOS</a:t>
            </a:r>
          </a:p>
        </p:txBody>
      </p:sp>
      <p:sp>
        <p:nvSpPr>
          <p:cNvPr id="2" name="">
            <a:extLst xmlns:a="http://schemas.openxmlformats.org/drawingml/2006/main">
              <a:ext uri="{FF2B5EF4-FFF2-40B4-BE49-F238E27FC236}">
                <a16:creationId xmlns:a16="http://schemas.microsoft.com/office/drawing/2014/main" id="{9DC3E014-BB4B-4EDD-9A7C-46BB189D3878}"/>
              </a:ext>
            </a:extLst>
          </p:cNvPr>
          <p:cNvSpPr>
            <a:spLocks xmlns:a="http://schemas.openxmlformats.org/drawingml/2006/main" noGrp="1"/>
          </p:cNvSpPr>
          <p:nvPr/>
        </p:nvSpPr>
        <p:spPr>
          <a:xfrm xmlns:a="http://schemas.openxmlformats.org/drawingml/2006/main">
            <a:off x="742950" y="2428875"/>
            <a:ext cx="685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025" b="0">
                <a:solidFill>
                  <a:srgbClr val="176B57"/>
                </a:solidFill>
                <a:latin typeface="Helvetica Neue"/>
                <a:ea typeface="Helvetica Neue"/>
                <a:cs typeface="Helvetica Neue"/>
              </a:defRPr>
            </a:pPr>
            <a:r>
              <a:rPr sz="2025" b="0">
                <a:solidFill>
                  <a:srgbClr val="176B57"/>
                </a:solidFill>
                <a:latin typeface="Helvetica Neue"/>
                <a:ea typeface="Helvetica Neue"/>
                <a:cs typeface="Helvetica Neue"/>
              </a:rPr>
              <a:t>An approval-gated AI Chief of Staff</a:t>
            </a:r>
          </a:p>
        </p:txBody>
      </p:sp>
      <p:sp>
        <p:nvSpPr>
          <p:cNvPr id="3" name="">
            <a:extLst xmlns:a="http://schemas.openxmlformats.org/drawingml/2006/main">
              <a:ext uri="{FF2B5EF4-FFF2-40B4-BE49-F238E27FC236}">
                <a16:creationId xmlns:a16="http://schemas.microsoft.com/office/drawing/2014/main" id="{33C4CB7C-CE62-4AB8-BFC4-084A258B3321}"/>
              </a:ext>
            </a:extLst>
          </p:cNvPr>
          <p:cNvSpPr>
            <a:spLocks xmlns:a="http://schemas.openxmlformats.org/drawingml/2006/main" noGrp="1"/>
          </p:cNvSpPr>
          <p:nvPr/>
        </p:nvSpPr>
        <p:spPr>
          <a:xfrm xmlns:a="http://schemas.openxmlformats.org/drawingml/2006/main">
            <a:off x="742950" y="3009900"/>
            <a:ext cx="695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75" b="0">
                <a:solidFill>
                  <a:srgbClr val="61706A"/>
                </a:solidFill>
                <a:latin typeface="Helvetica Neue"/>
                <a:ea typeface="Helvetica Neue"/>
                <a:cs typeface="Helvetica Neue"/>
              </a:defRPr>
            </a:pPr>
            <a:r>
              <a:rPr sz="1575" b="0">
                <a:solidFill>
                  <a:srgbClr val="61706A"/>
                </a:solidFill>
                <a:latin typeface="Helvetica Neue"/>
                <a:ea typeface="Helvetica Neue"/>
                <a:cs typeface="Helvetica Neue"/>
              </a:rPr>
              <a:t>Family operations and church ministry in one reviewable workflow</a:t>
            </a:r>
          </a:p>
        </p:txBody>
      </p:sp>
      <p:sp>
        <p:nvSpPr>
          <p:cNvPr id="4" name="">
            <a:extLst xmlns:a="http://schemas.openxmlformats.org/drawingml/2006/main">
              <a:ext uri="{FF2B5EF4-FFF2-40B4-BE49-F238E27FC236}">
                <a16:creationId xmlns:a16="http://schemas.microsoft.com/office/drawing/2014/main" id="{D692567C-511E-4FEA-9E00-6E6BB145E44D}"/>
              </a:ext>
            </a:extLst>
          </p:cNvPr>
          <p:cNvSpPr>
            <a:spLocks xmlns:a="http://schemas.openxmlformats.org/drawingml/2006/main" noGrp="1"/>
          </p:cNvSpPr>
          <p:nvPr/>
        </p:nvSpPr>
        <p:spPr>
          <a:xfrm xmlns:a="http://schemas.openxmlformats.org/drawingml/2006/main">
            <a:off x="8572500" y="1314450"/>
            <a:ext cx="2333625" cy="3810000"/>
          </a:xfrm>
          <a:prstGeom xmlns:a="http://schemas.openxmlformats.org/drawingml/2006/main" prst="roundRect">
            <a:avLst>
              <a:gd name="adj" fmla="val 3265"/>
            </a:avLst>
          </a:prstGeom>
          <a:solidFill xmlns:a="http://schemas.openxmlformats.org/drawingml/2006/main">
            <a:srgbClr val="176B57"/>
          </a:solidFill>
          <a:ln xmlns:a="http://schemas.openxmlformats.org/drawingml/2006/main" w="9525">
            <a:solidFill>
              <a:srgbClr val="BDD0C7"/>
            </a:solidFill>
          </a:ln>
        </p:spPr>
      </p:sp>
      <p:sp>
        <p:nvSpPr>
          <p:cNvPr id="5" name="">
            <a:extLst xmlns:a="http://schemas.openxmlformats.org/drawingml/2006/main">
              <a:ext uri="{FF2B5EF4-FFF2-40B4-BE49-F238E27FC236}">
                <a16:creationId xmlns:a16="http://schemas.microsoft.com/office/drawing/2014/main" id="{D0B157E9-2DC5-46E6-9FD7-8F009EE91936}"/>
              </a:ext>
            </a:extLst>
          </p:cNvPr>
          <p:cNvSpPr>
            <a:spLocks xmlns:a="http://schemas.openxmlformats.org/drawingml/2006/main" noGrp="1"/>
          </p:cNvSpPr>
          <p:nvPr/>
        </p:nvSpPr>
        <p:spPr>
          <a:xfrm xmlns:a="http://schemas.openxmlformats.org/drawingml/2006/main">
            <a:off x="8953500" y="1714500"/>
            <a:ext cx="1571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056"/>
          </a:bodyPr>
          <a:lstStyle xmlns:a="http://schemas.openxmlformats.org/drawingml/2006/main"/>
          <a:p xmlns:a="http://schemas.openxmlformats.org/drawingml/2006/main">
            <a:pPr>
              <a:defRPr sz="5400" b="1">
                <a:solidFill>
                  <a:srgbClr val="FFFFFF"/>
                </a:solidFill>
                <a:latin typeface="Helvetica Neue"/>
                <a:ea typeface="Helvetica Neue"/>
                <a:cs typeface="Helvetica Neue"/>
              </a:defRPr>
            </a:pPr>
            <a:r>
              <a:rPr sz="5400" b="1">
                <a:solidFill>
                  <a:srgbClr val="FFFFFF"/>
                </a:solidFill>
                <a:latin typeface="Helvetica Neue"/>
                <a:ea typeface="Helvetica Neue"/>
                <a:cs typeface="Helvetica Neue"/>
              </a:rPr>
              <a:t>5</a:t>
            </a:r>
          </a:p>
        </p:txBody>
      </p:sp>
      <p:sp>
        <p:nvSpPr>
          <p:cNvPr id="6" name="">
            <a:extLst xmlns:a="http://schemas.openxmlformats.org/drawingml/2006/main">
              <a:ext uri="{FF2B5EF4-FFF2-40B4-BE49-F238E27FC236}">
                <a16:creationId xmlns:a16="http://schemas.microsoft.com/office/drawing/2014/main" id="{E9FAAA95-1195-4715-AE18-47A69E29423B}"/>
              </a:ext>
            </a:extLst>
          </p:cNvPr>
          <p:cNvSpPr>
            <a:spLocks xmlns:a="http://schemas.openxmlformats.org/drawingml/2006/main" noGrp="1"/>
          </p:cNvSpPr>
          <p:nvPr/>
        </p:nvSpPr>
        <p:spPr>
          <a:xfrm xmlns:a="http://schemas.openxmlformats.org/drawingml/2006/main">
            <a:off x="8953500" y="2571750"/>
            <a:ext cx="1571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08"/>
          </a:bodyPr>
          <a:lstStyle xmlns:a="http://schemas.openxmlformats.org/drawingml/2006/main"/>
          <a:p xmlns:a="http://schemas.openxmlformats.org/drawingml/2006/main">
            <a:pPr>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operating domains</a:t>
            </a:r>
          </a:p>
        </p:txBody>
      </p:sp>
      <p:sp>
        <p:nvSpPr>
          <p:cNvPr id="7" name="">
            <a:extLst xmlns:a="http://schemas.openxmlformats.org/drawingml/2006/main">
              <a:ext uri="{FF2B5EF4-FFF2-40B4-BE49-F238E27FC236}">
                <a16:creationId xmlns:a16="http://schemas.microsoft.com/office/drawing/2014/main" id="{CF4CDFCF-1CEC-471B-8EE1-0C297DC9BCF4}"/>
              </a:ext>
            </a:extLst>
          </p:cNvPr>
          <p:cNvSpPr>
            <a:spLocks xmlns:a="http://schemas.openxmlformats.org/drawingml/2006/main" noGrp="1"/>
          </p:cNvSpPr>
          <p:nvPr/>
        </p:nvSpPr>
        <p:spPr>
          <a:xfrm xmlns:a="http://schemas.openxmlformats.org/drawingml/2006/main">
            <a:off x="8896350" y="3333750"/>
            <a:ext cx="1685925"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b="1">
                <a:solidFill>
                  <a:srgbClr val="DCEDE6"/>
                </a:solidFill>
                <a:latin typeface="Helvetica Neue"/>
                <a:ea typeface="Helvetica Neue"/>
                <a:cs typeface="Helvetica Neue"/>
              </a:defRPr>
            </a:pPr>
            <a:r>
              <a:rPr sz="1650" b="1">
                <a:solidFill>
                  <a:srgbClr val="DCEDE6"/>
                </a:solidFill>
                <a:latin typeface="Helvetica Neue"/>
                <a:ea typeface="Helvetica Neue"/>
                <a:cs typeface="Helvetica Neue"/>
              </a:rPr>
              <a:t>31 tests</a:t>
            </a:r>
          </a:p>
          <a:p xmlns:a="http://schemas.openxmlformats.org/drawingml/2006/main">
            <a:pPr>
              <a:defRPr sz="1650" b="1">
                <a:solidFill>
                  <a:srgbClr val="DCEDE6"/>
                </a:solidFill>
                <a:latin typeface="Helvetica Neue"/>
                <a:ea typeface="Helvetica Neue"/>
                <a:cs typeface="Helvetica Neue"/>
              </a:defRPr>
            </a:pPr>
            <a:r>
              <a:rPr sz="1650" b="1">
                <a:solidFill>
                  <a:srgbClr val="DCEDE6"/>
                </a:solidFill>
                <a:latin typeface="Helvetica Neue"/>
                <a:ea typeface="Helvetica Neue"/>
                <a:cs typeface="Helvetica Neue"/>
              </a:rPr>
              <a:t>20 scenarios</a:t>
            </a:r>
          </a:p>
          <a:p xmlns:a="http://schemas.openxmlformats.org/drawingml/2006/main">
            <a:pPr>
              <a:defRPr sz="1650" b="1">
                <a:solidFill>
                  <a:srgbClr val="DCEDE6"/>
                </a:solidFill>
                <a:latin typeface="Helvetica Neue"/>
                <a:ea typeface="Helvetica Neue"/>
                <a:cs typeface="Helvetica Neue"/>
              </a:defRPr>
            </a:pPr>
            <a:r>
              <a:rPr sz="1650" b="1">
                <a:solidFill>
                  <a:srgbClr val="DCEDE6"/>
                </a:solidFill>
                <a:latin typeface="Helvetica Neue"/>
                <a:ea typeface="Helvetica Neue"/>
                <a:cs typeface="Helvetica Neue"/>
              </a:rPr>
              <a:t>0% unsafe actions</a:t>
            </a:r>
          </a:p>
        </p:txBody>
      </p:sp>
      <p:sp>
        <p:nvSpPr>
          <p:cNvPr id="8" name="">
            <a:extLst xmlns:a="http://schemas.openxmlformats.org/drawingml/2006/main">
              <a:ext uri="{FF2B5EF4-FFF2-40B4-BE49-F238E27FC236}">
                <a16:creationId xmlns:a16="http://schemas.microsoft.com/office/drawing/2014/main" id="{10279469-20C5-4B22-BE6D-481E00A3FDD5}"/>
              </a:ext>
            </a:extLst>
          </p:cNvPr>
          <p:cNvSpPr>
            <a:spLocks xmlns:a="http://schemas.openxmlformats.org/drawingml/2006/main" noGrp="1"/>
          </p:cNvSpPr>
          <p:nvPr/>
        </p:nvSpPr>
        <p:spPr>
          <a:xfrm xmlns:a="http://schemas.openxmlformats.org/drawingml/2006/main">
            <a:off x="742950" y="5829300"/>
            <a:ext cx="695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0">
                <a:solidFill>
                  <a:srgbClr val="61706A"/>
                </a:solidFill>
                <a:latin typeface="Helvetica Neue"/>
                <a:ea typeface="Helvetica Neue"/>
                <a:cs typeface="Helvetica Neue"/>
              </a:defRPr>
            </a:pPr>
            <a:r>
              <a:rPr sz="1200" b="0">
                <a:solidFill>
                  <a:srgbClr val="61706A"/>
                </a:solidFill>
                <a:latin typeface="Helvetica Neue"/>
                <a:ea typeface="Helvetica Neue"/>
                <a:cs typeface="Helvetica Neue"/>
              </a:rPr>
              <a:t>Kang Wei  |  Agentic AI Capstone  |  September 2026</a:t>
            </a:r>
          </a:p>
        </p:txBody>
      </p:sp>
    </p:spTree>
    <p:extLst>
      <p:ext uri="{BB962C8B-B14F-4D97-AF65-F5344CB8AC3E}">
        <p14:creationId xmlns:p14="http://schemas.microsoft.com/office/powerpoint/2010/main" val="1321276972"/>
      </p:ext>
    </p:extLst>
  </p:cSld>
</p:sld>
</file>

<file path=ppt/slides/slide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5A7E034-17A5-4A0D-BF5F-6412B0B615EA}"/>
              </a:ext>
            </a:extLst>
          </p:cNvPr>
          <p:cNvSpPr>
            <a:spLocks xmlns:a="http://schemas.openxmlformats.org/drawingml/2006/main" noGrp="1"/>
          </p:cNvSpPr>
          <p:nvPr/>
        </p:nvSpPr>
        <p:spPr>
          <a:xfrm xmlns:a="http://schemas.openxmlformats.org/drawingml/2006/main">
            <a:off x="666750" y="400050"/>
            <a:ext cx="9810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625" b="1">
                <a:solidFill>
                  <a:srgbClr val="172B25"/>
                </a:solidFill>
                <a:latin typeface="Helvetica Neue"/>
                <a:ea typeface="Helvetica Neue"/>
                <a:cs typeface="Helvetica Neue"/>
              </a:defRPr>
            </a:pPr>
            <a:r>
              <a:rPr sz="2625" b="1">
                <a:solidFill>
                  <a:srgbClr val="172B25"/>
                </a:solidFill>
                <a:latin typeface="Helvetica Neue"/>
                <a:ea typeface="Helvetica Neue"/>
                <a:cs typeface="Helvetica Neue"/>
              </a:rPr>
              <a:t>The coordination problem</a:t>
            </a:r>
          </a:p>
        </p:txBody>
      </p:sp>
      <p:sp>
        <p:nvSpPr>
          <p:cNvPr id="2" name="">
            <a:extLst xmlns:a="http://schemas.openxmlformats.org/drawingml/2006/main">
              <a:ext uri="{FF2B5EF4-FFF2-40B4-BE49-F238E27FC236}">
                <a16:creationId xmlns:a16="http://schemas.microsoft.com/office/drawing/2014/main" id="{E1ECA76C-07A5-42A4-AEE4-3056058B8BAF}"/>
              </a:ext>
            </a:extLst>
          </p:cNvPr>
          <p:cNvSpPr>
            <a:spLocks xmlns:a="http://schemas.openxmlformats.org/drawingml/2006/main" noGrp="1"/>
          </p:cNvSpPr>
          <p:nvPr/>
        </p:nvSpPr>
        <p:spPr>
          <a:xfrm xmlns:a="http://schemas.openxmlformats.org/drawingml/2006/main">
            <a:off x="11144250" y="476250"/>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a:solidFill>
                  <a:srgbClr val="176B57"/>
                </a:solidFill>
                <a:latin typeface="Helvetica Neue"/>
                <a:ea typeface="Helvetica Neue"/>
                <a:cs typeface="Helvetica Neue"/>
              </a:defRPr>
            </a:pPr>
            <a:r>
              <a:rPr sz="1200" b="1">
                <a:solidFill>
                  <a:srgbClr val="176B57"/>
                </a:solidFill>
                <a:latin typeface="Helvetica Neue"/>
                <a:ea typeface="Helvetica Neue"/>
                <a:cs typeface="Helvetica Neue"/>
              </a:rPr>
              <a:t>02</a:t>
            </a:r>
          </a:p>
        </p:txBody>
      </p:sp>
      <p:sp>
        <p:nvSpPr>
          <p:cNvPr id="3" name="">
            <a:extLst xmlns:a="http://schemas.openxmlformats.org/drawingml/2006/main">
              <a:ext uri="{FF2B5EF4-FFF2-40B4-BE49-F238E27FC236}">
                <a16:creationId xmlns:a16="http://schemas.microsoft.com/office/drawing/2014/main" id="{17084496-91C4-435C-A01D-64F27422D4D0}"/>
              </a:ext>
            </a:extLst>
          </p:cNvPr>
          <p:cNvSpPr>
            <a:spLocks xmlns:a="http://schemas.openxmlformats.org/drawingml/2006/main" noGrp="1"/>
          </p:cNvSpPr>
          <p:nvPr/>
        </p:nvSpPr>
        <p:spPr>
          <a:xfrm xmlns:a="http://schemas.openxmlformats.org/drawingml/2006/main">
            <a:off x="666750" y="1104900"/>
            <a:ext cx="10858500" cy="38100"/>
          </a:xfrm>
          <a:prstGeom xmlns:a="http://schemas.openxmlformats.org/drawingml/2006/main" prst="rect">
            <a:avLst/>
          </a:prstGeom>
          <a:solidFill xmlns:a="http://schemas.openxmlformats.org/drawingml/2006/main">
            <a:srgbClr val="176B57"/>
          </a:solidFill>
          <a:ln xmlns:a="http://schemas.openxmlformats.org/drawingml/2006/main" w="0">
            <a:solidFill>
              <a:srgbClr val="176B57"/>
            </a:solidFill>
          </a:ln>
        </p:spPr>
      </p:sp>
      <p:sp>
        <p:nvSpPr>
          <p:cNvPr id="4" name="">
            <a:extLst xmlns:a="http://schemas.openxmlformats.org/drawingml/2006/main">
              <a:ext uri="{FF2B5EF4-FFF2-40B4-BE49-F238E27FC236}">
                <a16:creationId xmlns:a16="http://schemas.microsoft.com/office/drawing/2014/main" id="{A38E66BB-E585-4AA2-9EF9-BE02FC721A06}"/>
              </a:ext>
            </a:extLst>
          </p:cNvPr>
          <p:cNvSpPr>
            <a:spLocks xmlns:a="http://schemas.openxmlformats.org/drawingml/2006/main" noGrp="1"/>
          </p:cNvSpPr>
          <p:nvPr/>
        </p:nvSpPr>
        <p:spPr>
          <a:xfrm xmlns:a="http://schemas.openxmlformats.org/drawingml/2006/main">
            <a:off x="714375" y="1476375"/>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defRPr sz="1050" b="1">
                <a:solidFill>
                  <a:srgbClr val="176B57"/>
                </a:solidFill>
                <a:latin typeface="Helvetica Neue"/>
                <a:ea typeface="Helvetica Neue"/>
                <a:cs typeface="Helvetica Neue"/>
              </a:defRPr>
            </a:pPr>
            <a:r>
              <a:rPr sz="1050" b="1">
                <a:solidFill>
                  <a:srgbClr val="176B57"/>
                </a:solidFill>
                <a:latin typeface="Helvetica Neue"/>
                <a:ea typeface="Helvetica Neue"/>
                <a:cs typeface="Helvetica Neue"/>
              </a:rPr>
              <a:t>FRAGMENTED INPUTS</a:t>
            </a:r>
          </a:p>
        </p:txBody>
      </p:sp>
      <p:sp>
        <p:nvSpPr>
          <p:cNvPr id="5" name="">
            <a:extLst xmlns:a="http://schemas.openxmlformats.org/drawingml/2006/main">
              <a:ext uri="{FF2B5EF4-FFF2-40B4-BE49-F238E27FC236}">
                <a16:creationId xmlns:a16="http://schemas.microsoft.com/office/drawing/2014/main" id="{C503CEBB-4F0D-417B-9635-51A8493D9B30}"/>
              </a:ext>
            </a:extLst>
          </p:cNvPr>
          <p:cNvSpPr>
            <a:spLocks xmlns:a="http://schemas.openxmlformats.org/drawingml/2006/main" noGrp="1"/>
          </p:cNvSpPr>
          <p:nvPr/>
        </p:nvSpPr>
        <p:spPr>
          <a:xfrm xmlns:a="http://schemas.openxmlformats.org/drawingml/2006/main">
            <a:off x="7000875" y="1476375"/>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defRPr sz="1050" b="1">
                <a:solidFill>
                  <a:srgbClr val="E97962"/>
                </a:solidFill>
                <a:latin typeface="Helvetica Neue"/>
                <a:ea typeface="Helvetica Neue"/>
                <a:cs typeface="Helvetica Neue"/>
              </a:defRPr>
            </a:pPr>
            <a:r>
              <a:rPr sz="1050" b="1">
                <a:solidFill>
                  <a:srgbClr val="E97962"/>
                </a:solidFill>
                <a:latin typeface="Helvetica Neue"/>
                <a:ea typeface="Helvetica Neue"/>
                <a:cs typeface="Helvetica Neue"/>
              </a:rPr>
              <a:t>OPERATIONAL CONSEQUENCES</a:t>
            </a:r>
          </a:p>
        </p:txBody>
      </p:sp>
      <p:sp>
        <p:nvSpPr>
          <p:cNvPr id="6" name="">
            <a:extLst xmlns:a="http://schemas.openxmlformats.org/drawingml/2006/main">
              <a:ext uri="{FF2B5EF4-FFF2-40B4-BE49-F238E27FC236}">
                <a16:creationId xmlns:a16="http://schemas.microsoft.com/office/drawing/2014/main" id="{BE947F3C-C607-43B5-BAE5-8A32C6EF9268}"/>
              </a:ext>
            </a:extLst>
          </p:cNvPr>
          <p:cNvSpPr>
            <a:spLocks xmlns:a="http://schemas.openxmlformats.org/drawingml/2006/main" noGrp="1"/>
          </p:cNvSpPr>
          <p:nvPr/>
        </p:nvSpPr>
        <p:spPr>
          <a:xfrm xmlns:a="http://schemas.openxmlformats.org/drawingml/2006/main">
            <a:off x="762000" y="1857375"/>
            <a:ext cx="333375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100" b="1">
                <a:solidFill>
                  <a:srgbClr val="172B25"/>
                </a:solidFill>
                <a:latin typeface="Helvetica Neue"/>
                <a:ea typeface="Helvetica Neue"/>
                <a:cs typeface="Helvetica Neue"/>
              </a:defRPr>
            </a:pPr>
            <a:r>
              <a:rPr sz="2100" b="1">
                <a:solidFill>
                  <a:srgbClr val="172B25"/>
                </a:solidFill>
                <a:latin typeface="Helvetica Neue"/>
                <a:ea typeface="Helvetica Neue"/>
                <a:cs typeface="Helvetica Neue"/>
              </a:rPr>
              <a:t>School calendars</a:t>
            </a:r>
          </a:p>
          <a:p xmlns:a="http://schemas.openxmlformats.org/drawingml/2006/main">
            <a:pPr>
              <a:defRPr sz="2100" b="1">
                <a:solidFill>
                  <a:srgbClr val="172B25"/>
                </a:solidFill>
                <a:latin typeface="Helvetica Neue"/>
                <a:ea typeface="Helvetica Neue"/>
                <a:cs typeface="Helvetica Neue"/>
              </a:defRPr>
            </a:pPr>
            <a:r>
              <a:rPr sz="2100" b="1">
                <a:solidFill>
                  <a:srgbClr val="172B25"/>
                </a:solidFill>
                <a:latin typeface="Helvetica Neue"/>
                <a:ea typeface="Helvetica Neue"/>
                <a:cs typeface="Helvetica Neue"/>
              </a:rPr>
              <a:t>Soccer feeds</a:t>
            </a:r>
          </a:p>
          <a:p xmlns:a="http://schemas.openxmlformats.org/drawingml/2006/main">
            <a:pPr>
              <a:defRPr sz="2100" b="1">
                <a:solidFill>
                  <a:srgbClr val="172B25"/>
                </a:solidFill>
                <a:latin typeface="Helvetica Neue"/>
                <a:ea typeface="Helvetica Neue"/>
                <a:cs typeface="Helvetica Neue"/>
              </a:defRPr>
            </a:pPr>
            <a:r>
              <a:rPr sz="2100" b="1">
                <a:solidFill>
                  <a:srgbClr val="172B25"/>
                </a:solidFill>
                <a:latin typeface="Helvetica Neue"/>
                <a:ea typeface="Helvetica Neue"/>
                <a:cs typeface="Helvetica Neue"/>
              </a:rPr>
              <a:t>Recurring lessons</a:t>
            </a:r>
          </a:p>
          <a:p xmlns:a="http://schemas.openxmlformats.org/drawingml/2006/main">
            <a:pPr>
              <a:defRPr sz="2100" b="1">
                <a:solidFill>
                  <a:srgbClr val="172B25"/>
                </a:solidFill>
                <a:latin typeface="Helvetica Neue"/>
                <a:ea typeface="Helvetica Neue"/>
                <a:cs typeface="Helvetica Neue"/>
              </a:defRPr>
            </a:pPr>
            <a:r>
              <a:rPr sz="2100" b="1">
                <a:solidFill>
                  <a:srgbClr val="172B25"/>
                </a:solidFill>
                <a:latin typeface="Helvetica Neue"/>
                <a:ea typeface="Helvetica Neue"/>
                <a:cs typeface="Helvetica Neue"/>
              </a:rPr>
              <a:t>Church spreadsheet</a:t>
            </a:r>
          </a:p>
          <a:p xmlns:a="http://schemas.openxmlformats.org/drawingml/2006/main">
            <a:pPr>
              <a:defRPr sz="2100" b="1">
                <a:solidFill>
                  <a:srgbClr val="172B25"/>
                </a:solidFill>
                <a:latin typeface="Helvetica Neue"/>
                <a:ea typeface="Helvetica Neue"/>
                <a:cs typeface="Helvetica Neue"/>
              </a:defRPr>
            </a:pPr>
            <a:r>
              <a:rPr sz="2100" b="1">
                <a:solidFill>
                  <a:srgbClr val="172B25"/>
                </a:solidFill>
                <a:latin typeface="Helvetica Neue"/>
                <a:ea typeface="Helvetica Neue"/>
                <a:cs typeface="Helvetica Neue"/>
              </a:rPr>
              <a:t>Pastor email</a:t>
            </a:r>
          </a:p>
          <a:p xmlns:a="http://schemas.openxmlformats.org/drawingml/2006/main">
            <a:pPr>
              <a:defRPr sz="2100" b="1">
                <a:solidFill>
                  <a:srgbClr val="172B25"/>
                </a:solidFill>
                <a:latin typeface="Helvetica Neue"/>
                <a:ea typeface="Helvetica Neue"/>
                <a:cs typeface="Helvetica Neue"/>
              </a:defRPr>
            </a:pPr>
            <a:r>
              <a:rPr sz="2100" b="1">
                <a:solidFill>
                  <a:srgbClr val="172B25"/>
                </a:solidFill>
                <a:latin typeface="Helvetica Neue"/>
                <a:ea typeface="Helvetica Neue"/>
                <a:cs typeface="Helvetica Neue"/>
              </a:rPr>
              <a:t>LINE group</a:t>
            </a:r>
          </a:p>
        </p:txBody>
      </p:sp>
      <p:sp>
        <p:nvSpPr>
          <p:cNvPr id="7" name="">
            <a:extLst xmlns:a="http://schemas.openxmlformats.org/drawingml/2006/main">
              <a:ext uri="{FF2B5EF4-FFF2-40B4-BE49-F238E27FC236}">
                <a16:creationId xmlns:a16="http://schemas.microsoft.com/office/drawing/2014/main" id="{BE4E191F-A5BE-40CA-B715-195CC930575E}"/>
              </a:ext>
            </a:extLst>
          </p:cNvPr>
          <p:cNvSpPr>
            <a:spLocks xmlns:a="http://schemas.openxmlformats.org/drawingml/2006/main" noGrp="1"/>
          </p:cNvSpPr>
          <p:nvPr/>
        </p:nvSpPr>
        <p:spPr>
          <a:xfrm xmlns:a="http://schemas.openxmlformats.org/drawingml/2006/main">
            <a:off x="4572000" y="2476500"/>
            <a:ext cx="1809750" cy="1381125"/>
          </a:xfrm>
          <a:prstGeom xmlns:a="http://schemas.openxmlformats.org/drawingml/2006/main" prst="roundRect">
            <a:avLst>
              <a:gd name="adj" fmla="val 5517"/>
            </a:avLst>
          </a:prstGeom>
          <a:solidFill xmlns:a="http://schemas.openxmlformats.org/drawingml/2006/main">
            <a:srgbClr val="DCEDE6"/>
          </a:solidFill>
          <a:ln xmlns:a="http://schemas.openxmlformats.org/drawingml/2006/main" w="9525">
            <a:solidFill>
              <a:srgbClr val="BDD0C7"/>
            </a:solidFill>
          </a:ln>
        </p:spPr>
      </p:sp>
      <p:sp>
        <p:nvSpPr>
          <p:cNvPr id="8" name="">
            <a:extLst xmlns:a="http://schemas.openxmlformats.org/drawingml/2006/main">
              <a:ext uri="{FF2B5EF4-FFF2-40B4-BE49-F238E27FC236}">
                <a16:creationId xmlns:a16="http://schemas.microsoft.com/office/drawing/2014/main" id="{5373FF3A-8D21-48C5-B8B7-E24803F979E7}"/>
              </a:ext>
            </a:extLst>
          </p:cNvPr>
          <p:cNvSpPr>
            <a:spLocks xmlns:a="http://schemas.openxmlformats.org/drawingml/2006/main" noGrp="1"/>
          </p:cNvSpPr>
          <p:nvPr/>
        </p:nvSpPr>
        <p:spPr>
          <a:xfrm xmlns:a="http://schemas.openxmlformats.org/drawingml/2006/main">
            <a:off x="4686300" y="2695575"/>
            <a:ext cx="15811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75" b="1">
                <a:solidFill>
                  <a:srgbClr val="176B57"/>
                </a:solidFill>
                <a:latin typeface="Helvetica Neue"/>
                <a:ea typeface="Helvetica Neue"/>
                <a:cs typeface="Helvetica Neue"/>
              </a:defRPr>
            </a:pPr>
            <a:r>
              <a:rPr sz="1875" b="1">
                <a:solidFill>
                  <a:srgbClr val="176B57"/>
                </a:solidFill>
                <a:latin typeface="Helvetica Neue"/>
                <a:ea typeface="Helvetica Neue"/>
                <a:cs typeface="Helvetica Neue"/>
              </a:rPr>
              <a:t>Manual</a:t>
            </a:r>
          </a:p>
          <a:p xmlns:a="http://schemas.openxmlformats.org/drawingml/2006/main">
            <a:pPr>
              <a:defRPr sz="1875" b="1">
                <a:solidFill>
                  <a:srgbClr val="176B57"/>
                </a:solidFill>
                <a:latin typeface="Helvetica Neue"/>
                <a:ea typeface="Helvetica Neue"/>
                <a:cs typeface="Helvetica Neue"/>
              </a:defRPr>
            </a:pPr>
            <a:r>
              <a:rPr sz="1875" b="1">
                <a:solidFill>
                  <a:srgbClr val="176B57"/>
                </a:solidFill>
                <a:latin typeface="Helvetica Neue"/>
                <a:ea typeface="Helvetica Neue"/>
                <a:cs typeface="Helvetica Neue"/>
              </a:rPr>
              <a:t>review</a:t>
            </a:r>
          </a:p>
        </p:txBody>
      </p:sp>
      <p:sp>
        <p:nvSpPr>
          <p:cNvPr id="9" name="">
            <a:extLst xmlns:a="http://schemas.openxmlformats.org/drawingml/2006/main">
              <a:ext uri="{FF2B5EF4-FFF2-40B4-BE49-F238E27FC236}">
                <a16:creationId xmlns:a16="http://schemas.microsoft.com/office/drawing/2014/main" id="{597506BC-D2C1-4180-8E8E-236991B1DA20}"/>
              </a:ext>
            </a:extLst>
          </p:cNvPr>
          <p:cNvSpPr>
            <a:spLocks xmlns:a="http://schemas.openxmlformats.org/drawingml/2006/main" noGrp="1"/>
          </p:cNvSpPr>
          <p:nvPr/>
        </p:nvSpPr>
        <p:spPr>
          <a:xfrm xmlns:a="http://schemas.openxmlformats.org/drawingml/2006/main">
            <a:off x="7048500" y="1952625"/>
            <a:ext cx="3952875"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025" b="1">
                <a:solidFill>
                  <a:srgbClr val="172B25"/>
                </a:solidFill>
                <a:latin typeface="Helvetica Neue"/>
                <a:ea typeface="Helvetica Neue"/>
                <a:cs typeface="Helvetica Neue"/>
              </a:defRPr>
            </a:pPr>
            <a:r>
              <a:rPr sz="2025" b="1">
                <a:solidFill>
                  <a:srgbClr val="172B25"/>
                </a:solidFill>
                <a:latin typeface="Helvetica Neue"/>
                <a:ea typeface="Helvetica Neue"/>
                <a:cs typeface="Helvetica Neue"/>
              </a:rPr>
              <a:t>Missed handoffs</a:t>
            </a:r>
          </a:p>
          <a:p xmlns:a="http://schemas.openxmlformats.org/drawingml/2006/main">
            <a:pPr>
              <a:defRPr sz="2025" b="1">
                <a:solidFill>
                  <a:srgbClr val="172B25"/>
                </a:solidFill>
                <a:latin typeface="Helvetica Neue"/>
                <a:ea typeface="Helvetica Neue"/>
                <a:cs typeface="Helvetica Neue"/>
              </a:defRPr>
            </a:pPr>
            <a:r>
              <a:rPr sz="2025" b="1">
                <a:solidFill>
                  <a:srgbClr val="172B25"/>
                </a:solidFill>
                <a:latin typeface="Helvetica Neue"/>
                <a:ea typeface="Helvetica Neue"/>
                <a:cs typeface="Helvetica Neue"/>
              </a:rPr>
              <a:t>Late pickups</a:t>
            </a:r>
          </a:p>
          <a:p xmlns:a="http://schemas.openxmlformats.org/drawingml/2006/main">
            <a:pPr>
              <a:defRPr sz="2025" b="1">
                <a:solidFill>
                  <a:srgbClr val="172B25"/>
                </a:solidFill>
                <a:latin typeface="Helvetica Neue"/>
                <a:ea typeface="Helvetica Neue"/>
                <a:cs typeface="Helvetica Neue"/>
              </a:defRPr>
            </a:pPr>
            <a:r>
              <a:rPr sz="2025" b="1">
                <a:solidFill>
                  <a:srgbClr val="172B25"/>
                </a:solidFill>
                <a:latin typeface="Helvetica Neue"/>
                <a:ea typeface="Helvetica Neue"/>
                <a:cs typeface="Helvetica Neue"/>
              </a:rPr>
              <a:t>Wrong assignments</a:t>
            </a:r>
          </a:p>
          <a:p xmlns:a="http://schemas.openxmlformats.org/drawingml/2006/main">
            <a:pPr>
              <a:defRPr sz="2025" b="1">
                <a:solidFill>
                  <a:srgbClr val="172B25"/>
                </a:solidFill>
                <a:latin typeface="Helvetica Neue"/>
                <a:ea typeface="Helvetica Neue"/>
                <a:cs typeface="Helvetica Neue"/>
              </a:defRPr>
            </a:pPr>
            <a:r>
              <a:rPr sz="2025" b="1">
                <a:solidFill>
                  <a:srgbClr val="172B25"/>
                </a:solidFill>
                <a:latin typeface="Helvetica Neue"/>
                <a:ea typeface="Helvetica Neue"/>
                <a:cs typeface="Helvetica Neue"/>
              </a:rPr>
              <a:t>Unreviewed messages</a:t>
            </a:r>
          </a:p>
        </p:txBody>
      </p:sp>
      <p:sp>
        <p:nvSpPr>
          <p:cNvPr id="10" name="">
            <a:extLst xmlns:a="http://schemas.openxmlformats.org/drawingml/2006/main">
              <a:ext uri="{FF2B5EF4-FFF2-40B4-BE49-F238E27FC236}">
                <a16:creationId xmlns:a16="http://schemas.microsoft.com/office/drawing/2014/main" id="{058E471F-A8E8-4D8D-80E1-04989E2D5512}"/>
              </a:ext>
            </a:extLst>
          </p:cNvPr>
          <p:cNvSpPr>
            <a:spLocks xmlns:a="http://schemas.openxmlformats.org/drawingml/2006/main" noGrp="1"/>
          </p:cNvSpPr>
          <p:nvPr/>
        </p:nvSpPr>
        <p:spPr>
          <a:xfrm xmlns:a="http://schemas.openxmlformats.org/drawingml/2006/main">
            <a:off x="7000875" y="4762500"/>
            <a:ext cx="4095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b="1">
                <a:solidFill>
                  <a:srgbClr val="E97962"/>
                </a:solidFill>
                <a:latin typeface="Helvetica Neue"/>
                <a:ea typeface="Helvetica Neue"/>
                <a:cs typeface="Helvetica Neue"/>
              </a:defRPr>
            </a:pPr>
            <a:r>
              <a:rPr sz="1650" b="1">
                <a:solidFill>
                  <a:srgbClr val="E97962"/>
                </a:solidFill>
                <a:latin typeface="Helvetica Neue"/>
                <a:ea typeface="Helvetica Neue"/>
                <a:cs typeface="Helvetica Neue"/>
              </a:rPr>
              <a:t>Calendars record events. They do not produce a complete operating plan.</a:t>
            </a:r>
          </a:p>
        </p:txBody>
      </p:sp>
    </p:spTree>
    <p:extLst>
      <p:ext uri="{BB962C8B-B14F-4D97-AF65-F5344CB8AC3E}">
        <p14:creationId xmlns:p14="http://schemas.microsoft.com/office/powerpoint/2010/main" val="844149837"/>
      </p:ext>
    </p:extLst>
  </p:cSld>
</p:sld>
</file>

<file path=ppt/slides/slide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79378D6E-7D06-41E0-A37A-9F50D512DED8}"/>
              </a:ext>
            </a:extLst>
          </p:cNvPr>
          <p:cNvSpPr>
            <a:spLocks xmlns:a="http://schemas.openxmlformats.org/drawingml/2006/main" noGrp="1"/>
          </p:cNvSpPr>
          <p:nvPr/>
        </p:nvSpPr>
        <p:spPr>
          <a:xfrm xmlns:a="http://schemas.openxmlformats.org/drawingml/2006/main">
            <a:off x="666750" y="400050"/>
            <a:ext cx="9810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625" b="1">
                <a:solidFill>
                  <a:srgbClr val="172B25"/>
                </a:solidFill>
                <a:latin typeface="Helvetica Neue"/>
                <a:ea typeface="Helvetica Neue"/>
                <a:cs typeface="Helvetica Neue"/>
              </a:defRPr>
            </a:pPr>
            <a:r>
              <a:rPr sz="2625" b="1">
                <a:solidFill>
                  <a:srgbClr val="172B25"/>
                </a:solidFill>
                <a:latin typeface="Helvetica Neue"/>
                <a:ea typeface="Helvetica Neue"/>
                <a:cs typeface="Helvetica Neue"/>
              </a:rPr>
              <a:t>System goal and operating boundary</a:t>
            </a:r>
          </a:p>
        </p:txBody>
      </p:sp>
      <p:sp>
        <p:nvSpPr>
          <p:cNvPr id="2" name="">
            <a:extLst xmlns:a="http://schemas.openxmlformats.org/drawingml/2006/main">
              <a:ext uri="{FF2B5EF4-FFF2-40B4-BE49-F238E27FC236}">
                <a16:creationId xmlns:a16="http://schemas.microsoft.com/office/drawing/2014/main" id="{AD59D645-411E-4D4F-9CB9-BF61E7B989A9}"/>
              </a:ext>
            </a:extLst>
          </p:cNvPr>
          <p:cNvSpPr>
            <a:spLocks xmlns:a="http://schemas.openxmlformats.org/drawingml/2006/main" noGrp="1"/>
          </p:cNvSpPr>
          <p:nvPr/>
        </p:nvSpPr>
        <p:spPr>
          <a:xfrm xmlns:a="http://schemas.openxmlformats.org/drawingml/2006/main">
            <a:off x="11144250" y="476250"/>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a:solidFill>
                  <a:srgbClr val="176B57"/>
                </a:solidFill>
                <a:latin typeface="Helvetica Neue"/>
                <a:ea typeface="Helvetica Neue"/>
                <a:cs typeface="Helvetica Neue"/>
              </a:defRPr>
            </a:pPr>
            <a:r>
              <a:rPr sz="1200" b="1">
                <a:solidFill>
                  <a:srgbClr val="176B57"/>
                </a:solidFill>
                <a:latin typeface="Helvetica Neue"/>
                <a:ea typeface="Helvetica Neue"/>
                <a:cs typeface="Helvetica Neue"/>
              </a:rPr>
              <a:t>03</a:t>
            </a:r>
          </a:p>
        </p:txBody>
      </p:sp>
      <p:sp>
        <p:nvSpPr>
          <p:cNvPr id="3" name="">
            <a:extLst xmlns:a="http://schemas.openxmlformats.org/drawingml/2006/main">
              <a:ext uri="{FF2B5EF4-FFF2-40B4-BE49-F238E27FC236}">
                <a16:creationId xmlns:a16="http://schemas.microsoft.com/office/drawing/2014/main" id="{7066C8F3-7EC7-4906-916E-22BBD5D707D9}"/>
              </a:ext>
            </a:extLst>
          </p:cNvPr>
          <p:cNvSpPr>
            <a:spLocks xmlns:a="http://schemas.openxmlformats.org/drawingml/2006/main" noGrp="1"/>
          </p:cNvSpPr>
          <p:nvPr/>
        </p:nvSpPr>
        <p:spPr>
          <a:xfrm xmlns:a="http://schemas.openxmlformats.org/drawingml/2006/main">
            <a:off x="666750" y="1104900"/>
            <a:ext cx="10858500" cy="38100"/>
          </a:xfrm>
          <a:prstGeom xmlns:a="http://schemas.openxmlformats.org/drawingml/2006/main" prst="rect">
            <a:avLst/>
          </a:prstGeom>
          <a:solidFill xmlns:a="http://schemas.openxmlformats.org/drawingml/2006/main">
            <a:srgbClr val="176B57"/>
          </a:solidFill>
          <a:ln xmlns:a="http://schemas.openxmlformats.org/drawingml/2006/main" w="0">
            <a:solidFill>
              <a:srgbClr val="176B57"/>
            </a:solidFill>
          </a:ln>
        </p:spPr>
      </p:sp>
      <p:sp>
        <p:nvSpPr>
          <p:cNvPr id="4" name="">
            <a:extLst xmlns:a="http://schemas.openxmlformats.org/drawingml/2006/main">
              <a:ext uri="{FF2B5EF4-FFF2-40B4-BE49-F238E27FC236}">
                <a16:creationId xmlns:a16="http://schemas.microsoft.com/office/drawing/2014/main" id="{CC55B03B-D856-43B0-8703-C2E1CEE814C9}"/>
              </a:ext>
            </a:extLst>
          </p:cNvPr>
          <p:cNvSpPr>
            <a:spLocks xmlns:a="http://schemas.openxmlformats.org/drawingml/2006/main" noGrp="1"/>
          </p:cNvSpPr>
          <p:nvPr/>
        </p:nvSpPr>
        <p:spPr>
          <a:xfrm xmlns:a="http://schemas.openxmlformats.org/drawingml/2006/main">
            <a:off x="714375" y="1428750"/>
            <a:ext cx="5715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325" b="1">
                <a:solidFill>
                  <a:srgbClr val="176B57"/>
                </a:solidFill>
                <a:latin typeface="Helvetica Neue"/>
                <a:ea typeface="Helvetica Neue"/>
                <a:cs typeface="Helvetica Neue"/>
              </a:defRPr>
            </a:pPr>
            <a:r>
              <a:rPr sz="2325" b="1">
                <a:solidFill>
                  <a:srgbClr val="176B57"/>
                </a:solidFill>
                <a:latin typeface="Helvetica Neue"/>
                <a:ea typeface="Helvetica Neue"/>
                <a:cs typeface="Helvetica Neue"/>
              </a:rPr>
              <a:t>One weekly brief across five domains</a:t>
            </a:r>
          </a:p>
        </p:txBody>
      </p:sp>
      <p:sp>
        <p:nvSpPr>
          <p:cNvPr id="5" name="">
            <a:extLst xmlns:a="http://schemas.openxmlformats.org/drawingml/2006/main">
              <a:ext uri="{FF2B5EF4-FFF2-40B4-BE49-F238E27FC236}">
                <a16:creationId xmlns:a16="http://schemas.microsoft.com/office/drawing/2014/main" id="{960092D0-0DF1-48AA-940C-A5396F2BAC8C}"/>
              </a:ext>
            </a:extLst>
          </p:cNvPr>
          <p:cNvSpPr>
            <a:spLocks xmlns:a="http://schemas.openxmlformats.org/drawingml/2006/main" noGrp="1"/>
          </p:cNvSpPr>
          <p:nvPr/>
        </p:nvSpPr>
        <p:spPr>
          <a:xfrm xmlns:a="http://schemas.openxmlformats.org/drawingml/2006/main">
            <a:off x="742950" y="2266950"/>
            <a:ext cx="3143250" cy="971550"/>
          </a:xfrm>
          <a:prstGeom xmlns:a="http://schemas.openxmlformats.org/drawingml/2006/main" prst="roundRect">
            <a:avLst>
              <a:gd name="adj" fmla="val 7843"/>
            </a:avLst>
          </a:prstGeom>
          <a:solidFill xmlns:a="http://schemas.openxmlformats.org/drawingml/2006/main">
            <a:srgbClr val="FFFFFF"/>
          </a:solidFill>
          <a:ln xmlns:a="http://schemas.openxmlformats.org/drawingml/2006/main" w="9525">
            <a:solidFill>
              <a:srgbClr val="BDD0C7"/>
            </a:solidFill>
          </a:ln>
        </p:spPr>
      </p:sp>
      <p:sp>
        <p:nvSpPr>
          <p:cNvPr id="6" name="">
            <a:extLst xmlns:a="http://schemas.openxmlformats.org/drawingml/2006/main">
              <a:ext uri="{FF2B5EF4-FFF2-40B4-BE49-F238E27FC236}">
                <a16:creationId xmlns:a16="http://schemas.microsoft.com/office/drawing/2014/main" id="{6C48A743-57D4-49CC-A71B-879F5396B079}"/>
              </a:ext>
            </a:extLst>
          </p:cNvPr>
          <p:cNvSpPr>
            <a:spLocks xmlns:a="http://schemas.openxmlformats.org/drawingml/2006/main" noGrp="1"/>
          </p:cNvSpPr>
          <p:nvPr/>
        </p:nvSpPr>
        <p:spPr>
          <a:xfrm xmlns:a="http://schemas.openxmlformats.org/drawingml/2006/main">
            <a:off x="914400" y="2400300"/>
            <a:ext cx="2800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406"/>
          </a:bodyPr>
          <a:lstStyle xmlns:a="http://schemas.openxmlformats.org/drawingml/2006/main"/>
          <a:p xmlns:a="http://schemas.openxmlformats.org/drawingml/2006/main">
            <a:pPr>
              <a:defRPr sz="1725" b="1">
                <a:solidFill>
                  <a:srgbClr val="172B25"/>
                </a:solidFill>
                <a:latin typeface="Helvetica Neue"/>
                <a:ea typeface="Helvetica Neue"/>
                <a:cs typeface="Helvetica Neue"/>
              </a:defRPr>
            </a:pPr>
            <a:r>
              <a:rPr sz="1725" b="1">
                <a:solidFill>
                  <a:srgbClr val="172B25"/>
                </a:solidFill>
                <a:latin typeface="Helvetica Neue"/>
                <a:ea typeface="Helvetica Neue"/>
                <a:cs typeface="Helvetica Neue"/>
              </a:rPr>
              <a:t>Kids</a:t>
            </a:r>
          </a:p>
        </p:txBody>
      </p:sp>
      <p:sp>
        <p:nvSpPr>
          <p:cNvPr id="7" name="">
            <a:extLst xmlns:a="http://schemas.openxmlformats.org/drawingml/2006/main">
              <a:ext uri="{FF2B5EF4-FFF2-40B4-BE49-F238E27FC236}">
                <a16:creationId xmlns:a16="http://schemas.microsoft.com/office/drawing/2014/main" id="{7570D45C-2B32-4529-9602-B0835FC2F164}"/>
              </a:ext>
            </a:extLst>
          </p:cNvPr>
          <p:cNvSpPr>
            <a:spLocks xmlns:a="http://schemas.openxmlformats.org/drawingml/2006/main" noGrp="1"/>
          </p:cNvSpPr>
          <p:nvPr/>
        </p:nvSpPr>
        <p:spPr>
          <a:xfrm xmlns:a="http://schemas.openxmlformats.org/drawingml/2006/main">
            <a:off x="914400" y="2771775"/>
            <a:ext cx="2800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p xmlns:a="http://schemas.openxmlformats.org/drawingml/2006/main">
            <a:pPr>
              <a:defRPr sz="1275" b="0">
                <a:solidFill>
                  <a:srgbClr val="61706A"/>
                </a:solidFill>
                <a:latin typeface="Helvetica Neue"/>
                <a:ea typeface="Helvetica Neue"/>
                <a:cs typeface="Helvetica Neue"/>
              </a:defRPr>
            </a:pPr>
            <a:r>
              <a:rPr sz="1275" b="0">
                <a:solidFill>
                  <a:srgbClr val="61706A"/>
                </a:solidFill>
                <a:latin typeface="Helvetica Neue"/>
                <a:ea typeface="Helvetica Neue"/>
                <a:cs typeface="Helvetica Neue"/>
              </a:rPr>
              <a:t>conflicts and drivers</a:t>
            </a:r>
          </a:p>
        </p:txBody>
      </p:sp>
      <p:sp>
        <p:nvSpPr>
          <p:cNvPr id="8" name="">
            <a:extLst xmlns:a="http://schemas.openxmlformats.org/drawingml/2006/main">
              <a:ext uri="{FF2B5EF4-FFF2-40B4-BE49-F238E27FC236}">
                <a16:creationId xmlns:a16="http://schemas.microsoft.com/office/drawing/2014/main" id="{FCD2A586-868D-4EF1-B427-25733171D786}"/>
              </a:ext>
            </a:extLst>
          </p:cNvPr>
          <p:cNvSpPr>
            <a:spLocks xmlns:a="http://schemas.openxmlformats.org/drawingml/2006/main" noGrp="1"/>
          </p:cNvSpPr>
          <p:nvPr/>
        </p:nvSpPr>
        <p:spPr>
          <a:xfrm xmlns:a="http://schemas.openxmlformats.org/drawingml/2006/main">
            <a:off x="4362450" y="2266950"/>
            <a:ext cx="3143250" cy="971550"/>
          </a:xfrm>
          <a:prstGeom xmlns:a="http://schemas.openxmlformats.org/drawingml/2006/main" prst="roundRect">
            <a:avLst>
              <a:gd name="adj" fmla="val 7843"/>
            </a:avLst>
          </a:prstGeom>
          <a:solidFill xmlns:a="http://schemas.openxmlformats.org/drawingml/2006/main">
            <a:srgbClr val="FFFFFF"/>
          </a:solidFill>
          <a:ln xmlns:a="http://schemas.openxmlformats.org/drawingml/2006/main" w="9525">
            <a:solidFill>
              <a:srgbClr val="BDD0C7"/>
            </a:solidFill>
          </a:ln>
        </p:spPr>
      </p:sp>
      <p:sp>
        <p:nvSpPr>
          <p:cNvPr id="9" name="">
            <a:extLst xmlns:a="http://schemas.openxmlformats.org/drawingml/2006/main">
              <a:ext uri="{FF2B5EF4-FFF2-40B4-BE49-F238E27FC236}">
                <a16:creationId xmlns:a16="http://schemas.microsoft.com/office/drawing/2014/main" id="{23AE28A3-E2C2-43DB-84CC-809874ECAA6D}"/>
              </a:ext>
            </a:extLst>
          </p:cNvPr>
          <p:cNvSpPr>
            <a:spLocks xmlns:a="http://schemas.openxmlformats.org/drawingml/2006/main" noGrp="1"/>
          </p:cNvSpPr>
          <p:nvPr/>
        </p:nvSpPr>
        <p:spPr>
          <a:xfrm xmlns:a="http://schemas.openxmlformats.org/drawingml/2006/main">
            <a:off x="4533900" y="2400300"/>
            <a:ext cx="2800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406"/>
          </a:bodyPr>
          <a:lstStyle xmlns:a="http://schemas.openxmlformats.org/drawingml/2006/main"/>
          <a:p xmlns:a="http://schemas.openxmlformats.org/drawingml/2006/main">
            <a:pPr>
              <a:defRPr sz="1725" b="1">
                <a:solidFill>
                  <a:srgbClr val="172B25"/>
                </a:solidFill>
                <a:latin typeface="Helvetica Neue"/>
                <a:ea typeface="Helvetica Neue"/>
                <a:cs typeface="Helvetica Neue"/>
              </a:defRPr>
            </a:pPr>
            <a:r>
              <a:rPr sz="1725" b="1">
                <a:solidFill>
                  <a:srgbClr val="172B25"/>
                </a:solidFill>
                <a:latin typeface="Helvetica Neue"/>
                <a:ea typeface="Helvetica Neue"/>
                <a:cs typeface="Helvetica Neue"/>
              </a:rPr>
              <a:t>Church</a:t>
            </a:r>
          </a:p>
        </p:txBody>
      </p:sp>
      <p:sp>
        <p:nvSpPr>
          <p:cNvPr id="10" name="">
            <a:extLst xmlns:a="http://schemas.openxmlformats.org/drawingml/2006/main">
              <a:ext uri="{FF2B5EF4-FFF2-40B4-BE49-F238E27FC236}">
                <a16:creationId xmlns:a16="http://schemas.microsoft.com/office/drawing/2014/main" id="{FBA36E34-D4ED-4E28-A4C0-441FF99F2671}"/>
              </a:ext>
            </a:extLst>
          </p:cNvPr>
          <p:cNvSpPr>
            <a:spLocks xmlns:a="http://schemas.openxmlformats.org/drawingml/2006/main" noGrp="1"/>
          </p:cNvSpPr>
          <p:nvPr/>
        </p:nvSpPr>
        <p:spPr>
          <a:xfrm xmlns:a="http://schemas.openxmlformats.org/drawingml/2006/main">
            <a:off x="4533900" y="2771775"/>
            <a:ext cx="2800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p xmlns:a="http://schemas.openxmlformats.org/drawingml/2006/main">
            <a:pPr>
              <a:defRPr sz="1275" b="0">
                <a:solidFill>
                  <a:srgbClr val="61706A"/>
                </a:solidFill>
                <a:latin typeface="Helvetica Neue"/>
                <a:ea typeface="Helvetica Neue"/>
                <a:cs typeface="Helvetica Neue"/>
              </a:defRPr>
            </a:pPr>
            <a:r>
              <a:rPr sz="1275" b="0">
                <a:solidFill>
                  <a:srgbClr val="61706A"/>
                </a:solidFill>
                <a:latin typeface="Helvetica Neue"/>
                <a:ea typeface="Helvetica Neue"/>
                <a:cs typeface="Helvetica Neue"/>
              </a:rPr>
              <a:t>drafts and assignments</a:t>
            </a:r>
          </a:p>
        </p:txBody>
      </p:sp>
      <p:sp>
        <p:nvSpPr>
          <p:cNvPr id="11" name="">
            <a:extLst xmlns:a="http://schemas.openxmlformats.org/drawingml/2006/main">
              <a:ext uri="{FF2B5EF4-FFF2-40B4-BE49-F238E27FC236}">
                <a16:creationId xmlns:a16="http://schemas.microsoft.com/office/drawing/2014/main" id="{F945E043-2117-4EF0-9207-967744CD1E90}"/>
              </a:ext>
            </a:extLst>
          </p:cNvPr>
          <p:cNvSpPr>
            <a:spLocks xmlns:a="http://schemas.openxmlformats.org/drawingml/2006/main" noGrp="1"/>
          </p:cNvSpPr>
          <p:nvPr/>
        </p:nvSpPr>
        <p:spPr>
          <a:xfrm xmlns:a="http://schemas.openxmlformats.org/drawingml/2006/main">
            <a:off x="7981950" y="2266950"/>
            <a:ext cx="3143250" cy="971550"/>
          </a:xfrm>
          <a:prstGeom xmlns:a="http://schemas.openxmlformats.org/drawingml/2006/main" prst="roundRect">
            <a:avLst>
              <a:gd name="adj" fmla="val 7843"/>
            </a:avLst>
          </a:prstGeom>
          <a:solidFill xmlns:a="http://schemas.openxmlformats.org/drawingml/2006/main">
            <a:srgbClr val="FFFFFF"/>
          </a:solidFill>
          <a:ln xmlns:a="http://schemas.openxmlformats.org/drawingml/2006/main" w="9525">
            <a:solidFill>
              <a:srgbClr val="BDD0C7"/>
            </a:solidFill>
          </a:ln>
        </p:spPr>
      </p:sp>
      <p:sp>
        <p:nvSpPr>
          <p:cNvPr id="12" name="">
            <a:extLst xmlns:a="http://schemas.openxmlformats.org/drawingml/2006/main">
              <a:ext uri="{FF2B5EF4-FFF2-40B4-BE49-F238E27FC236}">
                <a16:creationId xmlns:a16="http://schemas.microsoft.com/office/drawing/2014/main" id="{F8BCA87E-26DE-43EC-BCDF-DB3347E60027}"/>
              </a:ext>
            </a:extLst>
          </p:cNvPr>
          <p:cNvSpPr>
            <a:spLocks xmlns:a="http://schemas.openxmlformats.org/drawingml/2006/main" noGrp="1"/>
          </p:cNvSpPr>
          <p:nvPr/>
        </p:nvSpPr>
        <p:spPr>
          <a:xfrm xmlns:a="http://schemas.openxmlformats.org/drawingml/2006/main">
            <a:off x="8153400" y="2400300"/>
            <a:ext cx="2800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406"/>
          </a:bodyPr>
          <a:lstStyle xmlns:a="http://schemas.openxmlformats.org/drawingml/2006/main"/>
          <a:p xmlns:a="http://schemas.openxmlformats.org/drawingml/2006/main">
            <a:pPr>
              <a:defRPr sz="1725" b="1">
                <a:solidFill>
                  <a:srgbClr val="172B25"/>
                </a:solidFill>
                <a:latin typeface="Helvetica Neue"/>
                <a:ea typeface="Helvetica Neue"/>
                <a:cs typeface="Helvetica Neue"/>
              </a:defRPr>
            </a:pPr>
            <a:r>
              <a:rPr sz="1725" b="1">
                <a:solidFill>
                  <a:srgbClr val="172B25"/>
                </a:solidFill>
                <a:latin typeface="Helvetica Neue"/>
                <a:ea typeface="Helvetica Neue"/>
                <a:cs typeface="Helvetica Neue"/>
              </a:rPr>
              <a:t>Groceries</a:t>
            </a:r>
          </a:p>
        </p:txBody>
      </p:sp>
      <p:sp>
        <p:nvSpPr>
          <p:cNvPr id="13" name="">
            <a:extLst xmlns:a="http://schemas.openxmlformats.org/drawingml/2006/main">
              <a:ext uri="{FF2B5EF4-FFF2-40B4-BE49-F238E27FC236}">
                <a16:creationId xmlns:a16="http://schemas.microsoft.com/office/drawing/2014/main" id="{C1CAC48E-3FED-4A87-BB07-B2BB9F17E268}"/>
              </a:ext>
            </a:extLst>
          </p:cNvPr>
          <p:cNvSpPr>
            <a:spLocks xmlns:a="http://schemas.openxmlformats.org/drawingml/2006/main" noGrp="1"/>
          </p:cNvSpPr>
          <p:nvPr/>
        </p:nvSpPr>
        <p:spPr>
          <a:xfrm xmlns:a="http://schemas.openxmlformats.org/drawingml/2006/main">
            <a:off x="8153400" y="2771775"/>
            <a:ext cx="2800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p xmlns:a="http://schemas.openxmlformats.org/drawingml/2006/main">
            <a:pPr>
              <a:defRPr sz="1275" b="0">
                <a:solidFill>
                  <a:srgbClr val="61706A"/>
                </a:solidFill>
                <a:latin typeface="Helvetica Neue"/>
                <a:ea typeface="Helvetica Neue"/>
                <a:cs typeface="Helvetica Neue"/>
              </a:defRPr>
            </a:pPr>
            <a:r>
              <a:rPr sz="1275" b="0">
                <a:solidFill>
                  <a:srgbClr val="61706A"/>
                </a:solidFill>
                <a:latin typeface="Helvetica Neue"/>
                <a:ea typeface="Helvetica Neue"/>
                <a:cs typeface="Helvetica Neue"/>
              </a:rPr>
              <a:t>week-scoped list</a:t>
            </a:r>
          </a:p>
        </p:txBody>
      </p:sp>
      <p:sp>
        <p:nvSpPr>
          <p:cNvPr id="14" name="">
            <a:extLst xmlns:a="http://schemas.openxmlformats.org/drawingml/2006/main">
              <a:ext uri="{FF2B5EF4-FFF2-40B4-BE49-F238E27FC236}">
                <a16:creationId xmlns:a16="http://schemas.microsoft.com/office/drawing/2014/main" id="{ADFA9918-911B-4298-8C66-CECB4489C898}"/>
              </a:ext>
            </a:extLst>
          </p:cNvPr>
          <p:cNvSpPr>
            <a:spLocks xmlns:a="http://schemas.openxmlformats.org/drawingml/2006/main" noGrp="1"/>
          </p:cNvSpPr>
          <p:nvPr/>
        </p:nvSpPr>
        <p:spPr>
          <a:xfrm xmlns:a="http://schemas.openxmlformats.org/drawingml/2006/main">
            <a:off x="742950" y="3648075"/>
            <a:ext cx="3143250" cy="971550"/>
          </a:xfrm>
          <a:prstGeom xmlns:a="http://schemas.openxmlformats.org/drawingml/2006/main" prst="roundRect">
            <a:avLst>
              <a:gd name="adj" fmla="val 7843"/>
            </a:avLst>
          </a:prstGeom>
          <a:solidFill xmlns:a="http://schemas.openxmlformats.org/drawingml/2006/main">
            <a:srgbClr val="FFFFFF"/>
          </a:solidFill>
          <a:ln xmlns:a="http://schemas.openxmlformats.org/drawingml/2006/main" w="9525">
            <a:solidFill>
              <a:srgbClr val="BDD0C7"/>
            </a:solidFill>
          </a:ln>
        </p:spPr>
      </p:sp>
      <p:sp>
        <p:nvSpPr>
          <p:cNvPr id="15" name="">
            <a:extLst xmlns:a="http://schemas.openxmlformats.org/drawingml/2006/main">
              <a:ext uri="{FF2B5EF4-FFF2-40B4-BE49-F238E27FC236}">
                <a16:creationId xmlns:a16="http://schemas.microsoft.com/office/drawing/2014/main" id="{E5DD55D1-62D7-4585-B835-DF749D07A88C}"/>
              </a:ext>
            </a:extLst>
          </p:cNvPr>
          <p:cNvSpPr>
            <a:spLocks xmlns:a="http://schemas.openxmlformats.org/drawingml/2006/main" noGrp="1"/>
          </p:cNvSpPr>
          <p:nvPr/>
        </p:nvSpPr>
        <p:spPr>
          <a:xfrm xmlns:a="http://schemas.openxmlformats.org/drawingml/2006/main">
            <a:off x="914400" y="3781425"/>
            <a:ext cx="2800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406"/>
          </a:bodyPr>
          <a:lstStyle xmlns:a="http://schemas.openxmlformats.org/drawingml/2006/main"/>
          <a:p xmlns:a="http://schemas.openxmlformats.org/drawingml/2006/main">
            <a:pPr>
              <a:defRPr sz="1725" b="1">
                <a:solidFill>
                  <a:srgbClr val="172B25"/>
                </a:solidFill>
                <a:latin typeface="Helvetica Neue"/>
                <a:ea typeface="Helvetica Neue"/>
                <a:cs typeface="Helvetica Neue"/>
              </a:defRPr>
            </a:pPr>
            <a:r>
              <a:rPr sz="1725" b="1">
                <a:solidFill>
                  <a:srgbClr val="172B25"/>
                </a:solidFill>
                <a:latin typeface="Helvetica Neue"/>
                <a:ea typeface="Helvetica Neue"/>
                <a:cs typeface="Helvetica Neue"/>
              </a:rPr>
              <a:t>Travel</a:t>
            </a:r>
          </a:p>
        </p:txBody>
      </p:sp>
      <p:sp>
        <p:nvSpPr>
          <p:cNvPr id="16" name="">
            <a:extLst xmlns:a="http://schemas.openxmlformats.org/drawingml/2006/main">
              <a:ext uri="{FF2B5EF4-FFF2-40B4-BE49-F238E27FC236}">
                <a16:creationId xmlns:a16="http://schemas.microsoft.com/office/drawing/2014/main" id="{FDC3E366-1559-4C4F-8660-F039AFDA6939}"/>
              </a:ext>
            </a:extLst>
          </p:cNvPr>
          <p:cNvSpPr>
            <a:spLocks xmlns:a="http://schemas.openxmlformats.org/drawingml/2006/main" noGrp="1"/>
          </p:cNvSpPr>
          <p:nvPr/>
        </p:nvSpPr>
        <p:spPr>
          <a:xfrm xmlns:a="http://schemas.openxmlformats.org/drawingml/2006/main">
            <a:off x="914400" y="4152900"/>
            <a:ext cx="2800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p xmlns:a="http://schemas.openxmlformats.org/drawingml/2006/main">
            <a:pPr>
              <a:defRPr sz="1275" b="0">
                <a:solidFill>
                  <a:srgbClr val="61706A"/>
                </a:solidFill>
                <a:latin typeface="Helvetica Neue"/>
                <a:ea typeface="Helvetica Neue"/>
                <a:cs typeface="Helvetica Neue"/>
              </a:defRPr>
            </a:pPr>
            <a:r>
              <a:rPr sz="1275" b="0">
                <a:solidFill>
                  <a:srgbClr val="61706A"/>
                </a:solidFill>
                <a:latin typeface="Helvetica Neue"/>
                <a:ea typeface="Helvetica Neue"/>
                <a:cs typeface="Helvetica Neue"/>
              </a:rPr>
              <a:t>planning lifecycle</a:t>
            </a:r>
          </a:p>
        </p:txBody>
      </p:sp>
      <p:sp>
        <p:nvSpPr>
          <p:cNvPr id="17" name="">
            <a:extLst xmlns:a="http://schemas.openxmlformats.org/drawingml/2006/main">
              <a:ext uri="{FF2B5EF4-FFF2-40B4-BE49-F238E27FC236}">
                <a16:creationId xmlns:a16="http://schemas.microsoft.com/office/drawing/2014/main" id="{FCAA21A0-9368-4F1C-9724-407EE9FAA77F}"/>
              </a:ext>
            </a:extLst>
          </p:cNvPr>
          <p:cNvSpPr>
            <a:spLocks xmlns:a="http://schemas.openxmlformats.org/drawingml/2006/main" noGrp="1"/>
          </p:cNvSpPr>
          <p:nvPr/>
        </p:nvSpPr>
        <p:spPr>
          <a:xfrm xmlns:a="http://schemas.openxmlformats.org/drawingml/2006/main">
            <a:off x="4362450" y="3648075"/>
            <a:ext cx="3143250" cy="971550"/>
          </a:xfrm>
          <a:prstGeom xmlns:a="http://schemas.openxmlformats.org/drawingml/2006/main" prst="roundRect">
            <a:avLst>
              <a:gd name="adj" fmla="val 7843"/>
            </a:avLst>
          </a:prstGeom>
          <a:solidFill xmlns:a="http://schemas.openxmlformats.org/drawingml/2006/main">
            <a:srgbClr val="DCEDE6"/>
          </a:solidFill>
          <a:ln xmlns:a="http://schemas.openxmlformats.org/drawingml/2006/main" w="9525">
            <a:solidFill>
              <a:srgbClr val="BDD0C7"/>
            </a:solidFill>
          </a:ln>
        </p:spPr>
      </p:sp>
      <p:sp>
        <p:nvSpPr>
          <p:cNvPr id="18" name="">
            <a:extLst xmlns:a="http://schemas.openxmlformats.org/drawingml/2006/main">
              <a:ext uri="{FF2B5EF4-FFF2-40B4-BE49-F238E27FC236}">
                <a16:creationId xmlns:a16="http://schemas.microsoft.com/office/drawing/2014/main" id="{53B43F14-F1EF-4BEF-8F55-F9DCC3326A25}"/>
              </a:ext>
            </a:extLst>
          </p:cNvPr>
          <p:cNvSpPr>
            <a:spLocks xmlns:a="http://schemas.openxmlformats.org/drawingml/2006/main" noGrp="1"/>
          </p:cNvSpPr>
          <p:nvPr/>
        </p:nvSpPr>
        <p:spPr>
          <a:xfrm xmlns:a="http://schemas.openxmlformats.org/drawingml/2006/main">
            <a:off x="4533900" y="3781425"/>
            <a:ext cx="2800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406"/>
          </a:bodyPr>
          <a:lstStyle xmlns:a="http://schemas.openxmlformats.org/drawingml/2006/main"/>
          <a:p xmlns:a="http://schemas.openxmlformats.org/drawingml/2006/main">
            <a:pPr>
              <a:defRPr sz="1725" b="1">
                <a:solidFill>
                  <a:srgbClr val="172B25"/>
                </a:solidFill>
                <a:latin typeface="Helvetica Neue"/>
                <a:ea typeface="Helvetica Neue"/>
                <a:cs typeface="Helvetica Neue"/>
              </a:defRPr>
            </a:pPr>
            <a:r>
              <a:rPr sz="1725" b="1">
                <a:solidFill>
                  <a:srgbClr val="172B25"/>
                </a:solidFill>
                <a:latin typeface="Helvetica Neue"/>
                <a:ea typeface="Helvetica Neue"/>
                <a:cs typeface="Helvetica Neue"/>
              </a:rPr>
              <a:t>Maintenance</a:t>
            </a:r>
          </a:p>
        </p:txBody>
      </p:sp>
      <p:sp>
        <p:nvSpPr>
          <p:cNvPr id="19" name="">
            <a:extLst xmlns:a="http://schemas.openxmlformats.org/drawingml/2006/main">
              <a:ext uri="{FF2B5EF4-FFF2-40B4-BE49-F238E27FC236}">
                <a16:creationId xmlns:a16="http://schemas.microsoft.com/office/drawing/2014/main" id="{4E69AE03-B32D-441E-8816-545E8BD4AAA9}"/>
              </a:ext>
            </a:extLst>
          </p:cNvPr>
          <p:cNvSpPr>
            <a:spLocks xmlns:a="http://schemas.openxmlformats.org/drawingml/2006/main" noGrp="1"/>
          </p:cNvSpPr>
          <p:nvPr/>
        </p:nvSpPr>
        <p:spPr>
          <a:xfrm xmlns:a="http://schemas.openxmlformats.org/drawingml/2006/main">
            <a:off x="4533900" y="4152900"/>
            <a:ext cx="2800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p xmlns:a="http://schemas.openxmlformats.org/drawingml/2006/main">
            <a:pPr>
              <a:defRPr sz="1275" b="0">
                <a:solidFill>
                  <a:srgbClr val="61706A"/>
                </a:solidFill>
                <a:latin typeface="Helvetica Neue"/>
                <a:ea typeface="Helvetica Neue"/>
                <a:cs typeface="Helvetica Neue"/>
              </a:defRPr>
            </a:pPr>
            <a:r>
              <a:rPr sz="1275" b="0">
                <a:solidFill>
                  <a:srgbClr val="61706A"/>
                </a:solidFill>
                <a:latin typeface="Helvetica Neue"/>
                <a:ea typeface="Helvetica Neue"/>
                <a:cs typeface="Helvetica Neue"/>
              </a:rPr>
              <a:t>owned due dates</a:t>
            </a:r>
          </a:p>
        </p:txBody>
      </p:sp>
      <p:sp>
        <p:nvSpPr>
          <p:cNvPr id="20" name="">
            <a:extLst xmlns:a="http://schemas.openxmlformats.org/drawingml/2006/main">
              <a:ext uri="{FF2B5EF4-FFF2-40B4-BE49-F238E27FC236}">
                <a16:creationId xmlns:a16="http://schemas.microsoft.com/office/drawing/2014/main" id="{5BB72CF5-83B5-48BE-82B4-82B75AB813FB}"/>
              </a:ext>
            </a:extLst>
          </p:cNvPr>
          <p:cNvSpPr>
            <a:spLocks xmlns:a="http://schemas.openxmlformats.org/drawingml/2006/main" noGrp="1"/>
          </p:cNvSpPr>
          <p:nvPr/>
        </p:nvSpPr>
        <p:spPr>
          <a:xfrm xmlns:a="http://schemas.openxmlformats.org/drawingml/2006/main">
            <a:off x="742950" y="5314950"/>
            <a:ext cx="1038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b="1">
                <a:solidFill>
                  <a:srgbClr val="E97962"/>
                </a:solidFill>
                <a:latin typeface="Helvetica Neue"/>
                <a:ea typeface="Helvetica Neue"/>
                <a:cs typeface="Helvetica Neue"/>
              </a:defRPr>
            </a:pPr>
            <a:r>
              <a:rPr sz="1650" b="1">
                <a:solidFill>
                  <a:srgbClr val="E97962"/>
                </a:solidFill>
                <a:latin typeface="Helvetica Neue"/>
                <a:ea typeface="Helvetica Neue"/>
                <a:cs typeface="Helvetica Neue"/>
              </a:rPr>
              <a:t>No purchases, bookings, contractor contact, or external messages without an exact approval</a:t>
            </a:r>
          </a:p>
        </p:txBody>
      </p:sp>
    </p:spTree>
    <p:extLst>
      <p:ext uri="{BB962C8B-B14F-4D97-AF65-F5344CB8AC3E}">
        <p14:creationId xmlns:p14="http://schemas.microsoft.com/office/powerpoint/2010/main" val="1415287632"/>
      </p:ext>
    </p:extLst>
  </p:cSld>
</p:sld>
</file>

<file path=ppt/slides/slide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8E9CA86D-F017-4424-A9CE-1B6BB14DD533}"/>
              </a:ext>
            </a:extLst>
          </p:cNvPr>
          <p:cNvSpPr>
            <a:spLocks xmlns:a="http://schemas.openxmlformats.org/drawingml/2006/main" noGrp="1"/>
          </p:cNvSpPr>
          <p:nvPr/>
        </p:nvSpPr>
        <p:spPr>
          <a:xfrm xmlns:a="http://schemas.openxmlformats.org/drawingml/2006/main">
            <a:off x="666750" y="400050"/>
            <a:ext cx="9810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625" b="1">
                <a:solidFill>
                  <a:srgbClr val="172B25"/>
                </a:solidFill>
                <a:latin typeface="Helvetica Neue"/>
                <a:ea typeface="Helvetica Neue"/>
                <a:cs typeface="Helvetica Neue"/>
              </a:defRPr>
            </a:pPr>
            <a:r>
              <a:rPr sz="2625" b="1">
                <a:solidFill>
                  <a:srgbClr val="172B25"/>
                </a:solidFill>
                <a:latin typeface="Helvetica Neue"/>
                <a:ea typeface="Helvetica Neue"/>
                <a:cs typeface="Helvetica Neue"/>
              </a:rPr>
              <a:t>Architecture and major components</a:t>
            </a:r>
          </a:p>
        </p:txBody>
      </p:sp>
      <p:sp>
        <p:nvSpPr>
          <p:cNvPr id="2" name="">
            <a:extLst xmlns:a="http://schemas.openxmlformats.org/drawingml/2006/main">
              <a:ext uri="{FF2B5EF4-FFF2-40B4-BE49-F238E27FC236}">
                <a16:creationId xmlns:a16="http://schemas.microsoft.com/office/drawing/2014/main" id="{49F5597F-8D5A-4EF1-8418-9EBADDE7DB85}"/>
              </a:ext>
            </a:extLst>
          </p:cNvPr>
          <p:cNvSpPr>
            <a:spLocks xmlns:a="http://schemas.openxmlformats.org/drawingml/2006/main" noGrp="1"/>
          </p:cNvSpPr>
          <p:nvPr/>
        </p:nvSpPr>
        <p:spPr>
          <a:xfrm xmlns:a="http://schemas.openxmlformats.org/drawingml/2006/main">
            <a:off x="11144250" y="476250"/>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a:solidFill>
                  <a:srgbClr val="176B57"/>
                </a:solidFill>
                <a:latin typeface="Helvetica Neue"/>
                <a:ea typeface="Helvetica Neue"/>
                <a:cs typeface="Helvetica Neue"/>
              </a:defRPr>
            </a:pPr>
            <a:r>
              <a:rPr sz="1200" b="1">
                <a:solidFill>
                  <a:srgbClr val="176B57"/>
                </a:solidFill>
                <a:latin typeface="Helvetica Neue"/>
                <a:ea typeface="Helvetica Neue"/>
                <a:cs typeface="Helvetica Neue"/>
              </a:rPr>
              <a:t>04</a:t>
            </a:r>
          </a:p>
        </p:txBody>
      </p:sp>
      <p:sp>
        <p:nvSpPr>
          <p:cNvPr id="3" name="">
            <a:extLst xmlns:a="http://schemas.openxmlformats.org/drawingml/2006/main">
              <a:ext uri="{FF2B5EF4-FFF2-40B4-BE49-F238E27FC236}">
                <a16:creationId xmlns:a16="http://schemas.microsoft.com/office/drawing/2014/main" id="{1A450513-056C-48ED-BD08-A654AFEA9987}"/>
              </a:ext>
            </a:extLst>
          </p:cNvPr>
          <p:cNvSpPr>
            <a:spLocks xmlns:a="http://schemas.openxmlformats.org/drawingml/2006/main" noGrp="1"/>
          </p:cNvSpPr>
          <p:nvPr/>
        </p:nvSpPr>
        <p:spPr>
          <a:xfrm xmlns:a="http://schemas.openxmlformats.org/drawingml/2006/main">
            <a:off x="666750" y="1104900"/>
            <a:ext cx="10858500" cy="38100"/>
          </a:xfrm>
          <a:prstGeom xmlns:a="http://schemas.openxmlformats.org/drawingml/2006/main" prst="rect">
            <a:avLst/>
          </a:prstGeom>
          <a:solidFill xmlns:a="http://schemas.openxmlformats.org/drawingml/2006/main">
            <a:srgbClr val="176B57"/>
          </a:solidFill>
          <a:ln xmlns:a="http://schemas.openxmlformats.org/drawingml/2006/main" w="0">
            <a:solidFill>
              <a:srgbClr val="176B57"/>
            </a:solidFill>
          </a:ln>
        </p:spPr>
      </p:sp>
      <p:sp>
        <p:nvSpPr>
          <p:cNvPr id="4" name="">
            <a:extLst xmlns:a="http://schemas.openxmlformats.org/drawingml/2006/main">
              <a:ext uri="{FF2B5EF4-FFF2-40B4-BE49-F238E27FC236}">
                <a16:creationId xmlns:a16="http://schemas.microsoft.com/office/drawing/2014/main" id="{EE7FCAC7-001E-412F-87AA-747D3BA5B2F8}"/>
              </a:ext>
            </a:extLst>
          </p:cNvPr>
          <p:cNvSpPr>
            <a:spLocks xmlns:a="http://schemas.openxmlformats.org/drawingml/2006/main" noGrp="1"/>
          </p:cNvSpPr>
          <p:nvPr/>
        </p:nvSpPr>
        <p:spPr>
          <a:xfrm xmlns:a="http://schemas.openxmlformats.org/drawingml/2006/main">
            <a:off x="666750" y="1666875"/>
            <a:ext cx="2333625" cy="3333750"/>
          </a:xfrm>
          <a:prstGeom xmlns:a="http://schemas.openxmlformats.org/drawingml/2006/main" prst="roundRect">
            <a:avLst>
              <a:gd name="adj" fmla="val 3265"/>
            </a:avLst>
          </a:prstGeom>
          <a:solidFill xmlns:a="http://schemas.openxmlformats.org/drawingml/2006/main">
            <a:srgbClr val="FFFFFF"/>
          </a:solidFill>
          <a:ln xmlns:a="http://schemas.openxmlformats.org/drawingml/2006/main" w="9525">
            <a:solidFill>
              <a:srgbClr val="BDD0C7"/>
            </a:solidFill>
          </a:ln>
        </p:spPr>
      </p:sp>
      <p:sp>
        <p:nvSpPr>
          <p:cNvPr id="5" name="">
            <a:extLst xmlns:a="http://schemas.openxmlformats.org/drawingml/2006/main">
              <a:ext uri="{FF2B5EF4-FFF2-40B4-BE49-F238E27FC236}">
                <a16:creationId xmlns:a16="http://schemas.microsoft.com/office/drawing/2014/main" id="{F6EAD783-1C58-40B9-9D25-B2B79985C722}"/>
              </a:ext>
            </a:extLst>
          </p:cNvPr>
          <p:cNvSpPr>
            <a:spLocks xmlns:a="http://schemas.openxmlformats.org/drawingml/2006/main" noGrp="1"/>
          </p:cNvSpPr>
          <p:nvPr/>
        </p:nvSpPr>
        <p:spPr>
          <a:xfrm xmlns:a="http://schemas.openxmlformats.org/drawingml/2006/main">
            <a:off x="857250" y="1857375"/>
            <a:ext cx="1952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725" b="1">
                <a:solidFill>
                  <a:srgbClr val="176B57"/>
                </a:solidFill>
                <a:latin typeface="Helvetica Neue"/>
                <a:ea typeface="Helvetica Neue"/>
                <a:cs typeface="Helvetica Neue"/>
              </a:defRPr>
            </a:pPr>
            <a:r>
              <a:rPr sz="1725" b="1">
                <a:solidFill>
                  <a:srgbClr val="176B57"/>
                </a:solidFill>
                <a:latin typeface="Helvetica Neue"/>
                <a:ea typeface="Helvetica Neue"/>
                <a:cs typeface="Helvetica Neue"/>
              </a:rPr>
              <a:t>Sources</a:t>
            </a:r>
          </a:p>
        </p:txBody>
      </p:sp>
      <p:sp>
        <p:nvSpPr>
          <p:cNvPr id="6" name="">
            <a:extLst xmlns:a="http://schemas.openxmlformats.org/drawingml/2006/main">
              <a:ext uri="{FF2B5EF4-FFF2-40B4-BE49-F238E27FC236}">
                <a16:creationId xmlns:a16="http://schemas.microsoft.com/office/drawing/2014/main" id="{91F88F68-2186-45E8-ABE6-B42F05215742}"/>
              </a:ext>
            </a:extLst>
          </p:cNvPr>
          <p:cNvSpPr>
            <a:spLocks xmlns:a="http://schemas.openxmlformats.org/drawingml/2006/main" noGrp="1"/>
          </p:cNvSpPr>
          <p:nvPr/>
        </p:nvSpPr>
        <p:spPr>
          <a:xfrm xmlns:a="http://schemas.openxmlformats.org/drawingml/2006/main">
            <a:off x="933450" y="2571750"/>
            <a:ext cx="180975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b="1">
                <a:solidFill>
                  <a:srgbClr val="172B25"/>
                </a:solidFill>
                <a:latin typeface="Helvetica Neue"/>
                <a:ea typeface="Helvetica Neue"/>
                <a:cs typeface="Helvetica Neue"/>
              </a:defRPr>
            </a:pPr>
            <a:r>
              <a:rPr sz="1650" b="1">
                <a:solidFill>
                  <a:srgbClr val="172B25"/>
                </a:solidFill>
                <a:latin typeface="Helvetica Neue"/>
                <a:ea typeface="Helvetica Neue"/>
                <a:cs typeface="Helvetica Neue"/>
              </a:rPr>
              <a:t>ICS feeds</a:t>
            </a:r>
          </a:p>
          <a:p xmlns:a="http://schemas.openxmlformats.org/drawingml/2006/main">
            <a:pPr>
              <a:defRPr sz="1650" b="1">
                <a:solidFill>
                  <a:srgbClr val="172B25"/>
                </a:solidFill>
                <a:latin typeface="Helvetica Neue"/>
                <a:ea typeface="Helvetica Neue"/>
                <a:cs typeface="Helvetica Neue"/>
              </a:defRPr>
            </a:pPr>
            <a:r>
              <a:rPr sz="1650" b="1">
                <a:solidFill>
                  <a:srgbClr val="172B25"/>
                </a:solidFill>
                <a:latin typeface="Helvetica Neue"/>
                <a:ea typeface="Helvetica Neue"/>
                <a:cs typeface="Helvetica Neue"/>
              </a:rPr>
              <a:t>Google Sheets</a:t>
            </a:r>
          </a:p>
          <a:p xmlns:a="http://schemas.openxmlformats.org/drawingml/2006/main">
            <a:pPr>
              <a:defRPr sz="1650" b="1">
                <a:solidFill>
                  <a:srgbClr val="172B25"/>
                </a:solidFill>
                <a:latin typeface="Helvetica Neue"/>
                <a:ea typeface="Helvetica Neue"/>
                <a:cs typeface="Helvetica Neue"/>
              </a:defRPr>
            </a:pPr>
            <a:r>
              <a:rPr sz="1650" b="1">
                <a:solidFill>
                  <a:srgbClr val="172B25"/>
                </a:solidFill>
                <a:latin typeface="Helvetica Neue"/>
                <a:ea typeface="Helvetica Neue"/>
                <a:cs typeface="Helvetica Neue"/>
              </a:rPr>
              <a:t>Gmail</a:t>
            </a:r>
          </a:p>
          <a:p xmlns:a="http://schemas.openxmlformats.org/drawingml/2006/main">
            <a:pPr>
              <a:defRPr sz="1650" b="1">
                <a:solidFill>
                  <a:srgbClr val="172B25"/>
                </a:solidFill>
                <a:latin typeface="Helvetica Neue"/>
                <a:ea typeface="Helvetica Neue"/>
                <a:cs typeface="Helvetica Neue"/>
              </a:defRPr>
            </a:pPr>
            <a:r>
              <a:rPr sz="1650" b="1">
                <a:solidFill>
                  <a:srgbClr val="172B25"/>
                </a:solidFill>
                <a:latin typeface="Helvetica Neue"/>
                <a:ea typeface="Helvetica Neue"/>
                <a:cs typeface="Helvetica Neue"/>
              </a:rPr>
              <a:t>Manual input</a:t>
            </a:r>
          </a:p>
        </p:txBody>
      </p:sp>
      <p:sp>
        <p:nvSpPr>
          <p:cNvPr id="7" name="">
            <a:extLst xmlns:a="http://schemas.openxmlformats.org/drawingml/2006/main">
              <a:ext uri="{FF2B5EF4-FFF2-40B4-BE49-F238E27FC236}">
                <a16:creationId xmlns:a16="http://schemas.microsoft.com/office/drawing/2014/main" id="{BEA1CBF6-2B9D-4643-B076-EF80B9CFF056}"/>
              </a:ext>
            </a:extLst>
          </p:cNvPr>
          <p:cNvSpPr>
            <a:spLocks xmlns:a="http://schemas.openxmlformats.org/drawingml/2006/main" noGrp="1"/>
          </p:cNvSpPr>
          <p:nvPr/>
        </p:nvSpPr>
        <p:spPr>
          <a:xfrm xmlns:a="http://schemas.openxmlformats.org/drawingml/2006/main">
            <a:off x="3019425" y="2857500"/>
            <a:ext cx="333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454"/>
          </a:bodyPr>
          <a:lstStyle xmlns:a="http://schemas.openxmlformats.org/drawingml/2006/main"/>
          <a:p xmlns:a="http://schemas.openxmlformats.org/drawingml/2006/main">
            <a:pPr>
              <a:defRPr sz="3300" b="1">
                <a:solidFill>
                  <a:srgbClr val="E97962"/>
                </a:solidFill>
                <a:latin typeface="Helvetica Neue"/>
                <a:ea typeface="Helvetica Neue"/>
                <a:cs typeface="Helvetica Neue"/>
              </a:defRPr>
            </a:pPr>
            <a:r>
              <a:rPr sz="3300" b="1">
                <a:solidFill>
                  <a:srgbClr val="E97962"/>
                </a:solidFill>
                <a:latin typeface="Helvetica Neue"/>
                <a:ea typeface="Helvetica Neue"/>
                <a:cs typeface="Helvetica Neue"/>
              </a:rPr>
              <a:t>›</a:t>
            </a:r>
          </a:p>
        </p:txBody>
      </p:sp>
      <p:sp>
        <p:nvSpPr>
          <p:cNvPr id="8" name="">
            <a:extLst xmlns:a="http://schemas.openxmlformats.org/drawingml/2006/main">
              <a:ext uri="{FF2B5EF4-FFF2-40B4-BE49-F238E27FC236}">
                <a16:creationId xmlns:a16="http://schemas.microsoft.com/office/drawing/2014/main" id="{5840623F-B61E-4F90-9E00-216394326631}"/>
              </a:ext>
            </a:extLst>
          </p:cNvPr>
          <p:cNvSpPr>
            <a:spLocks xmlns:a="http://schemas.openxmlformats.org/drawingml/2006/main" noGrp="1"/>
          </p:cNvSpPr>
          <p:nvPr/>
        </p:nvSpPr>
        <p:spPr>
          <a:xfrm xmlns:a="http://schemas.openxmlformats.org/drawingml/2006/main">
            <a:off x="3095625" y="1666875"/>
            <a:ext cx="2333625" cy="3333750"/>
          </a:xfrm>
          <a:prstGeom xmlns:a="http://schemas.openxmlformats.org/drawingml/2006/main" prst="roundRect">
            <a:avLst>
              <a:gd name="adj" fmla="val 3265"/>
            </a:avLst>
          </a:prstGeom>
          <a:solidFill xmlns:a="http://schemas.openxmlformats.org/drawingml/2006/main">
            <a:srgbClr val="DCEDE6"/>
          </a:solidFill>
          <a:ln xmlns:a="http://schemas.openxmlformats.org/drawingml/2006/main" w="9525">
            <a:solidFill>
              <a:srgbClr val="BDD0C7"/>
            </a:solidFill>
          </a:ln>
        </p:spPr>
      </p:sp>
      <p:sp>
        <p:nvSpPr>
          <p:cNvPr id="9" name="">
            <a:extLst xmlns:a="http://schemas.openxmlformats.org/drawingml/2006/main">
              <a:ext uri="{FF2B5EF4-FFF2-40B4-BE49-F238E27FC236}">
                <a16:creationId xmlns:a16="http://schemas.microsoft.com/office/drawing/2014/main" id="{297E7DF5-4D15-4F80-A06C-F21597F2C7D2}"/>
              </a:ext>
            </a:extLst>
          </p:cNvPr>
          <p:cNvSpPr>
            <a:spLocks xmlns:a="http://schemas.openxmlformats.org/drawingml/2006/main" noGrp="1"/>
          </p:cNvSpPr>
          <p:nvPr/>
        </p:nvSpPr>
        <p:spPr>
          <a:xfrm xmlns:a="http://schemas.openxmlformats.org/drawingml/2006/main">
            <a:off x="3286125" y="1857375"/>
            <a:ext cx="1952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902"/>
          </a:bodyPr>
          <a:lstStyle xmlns:a="http://schemas.openxmlformats.org/drawingml/2006/main"/>
          <a:p xmlns:a="http://schemas.openxmlformats.org/drawingml/2006/main">
            <a:pPr>
              <a:defRPr sz="1725" b="1">
                <a:solidFill>
                  <a:srgbClr val="176B57"/>
                </a:solidFill>
                <a:latin typeface="Helvetica Neue"/>
                <a:ea typeface="Helvetica Neue"/>
                <a:cs typeface="Helvetica Neue"/>
              </a:defRPr>
            </a:pPr>
            <a:r>
              <a:rPr sz="1725" b="1">
                <a:solidFill>
                  <a:srgbClr val="176B57"/>
                </a:solidFill>
                <a:latin typeface="Helvetica Neue"/>
                <a:ea typeface="Helvetica Neue"/>
                <a:cs typeface="Helvetica Neue"/>
              </a:rPr>
              <a:t>Deterministic core</a:t>
            </a:r>
          </a:p>
        </p:txBody>
      </p:sp>
      <p:sp>
        <p:nvSpPr>
          <p:cNvPr id="10" name="">
            <a:extLst xmlns:a="http://schemas.openxmlformats.org/drawingml/2006/main">
              <a:ext uri="{FF2B5EF4-FFF2-40B4-BE49-F238E27FC236}">
                <a16:creationId xmlns:a16="http://schemas.microsoft.com/office/drawing/2014/main" id="{1EEADB0A-FD90-4B45-A25C-421D55C742E8}"/>
              </a:ext>
            </a:extLst>
          </p:cNvPr>
          <p:cNvSpPr>
            <a:spLocks xmlns:a="http://schemas.openxmlformats.org/drawingml/2006/main" noGrp="1"/>
          </p:cNvSpPr>
          <p:nvPr/>
        </p:nvSpPr>
        <p:spPr>
          <a:xfrm xmlns:a="http://schemas.openxmlformats.org/drawingml/2006/main">
            <a:off x="3362325" y="2571750"/>
            <a:ext cx="180975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b="1">
                <a:solidFill>
                  <a:srgbClr val="172B25"/>
                </a:solidFill>
                <a:latin typeface="Helvetica Neue"/>
                <a:ea typeface="Helvetica Neue"/>
                <a:cs typeface="Helvetica Neue"/>
              </a:defRPr>
            </a:pPr>
            <a:r>
              <a:rPr sz="1650" b="1">
                <a:solidFill>
                  <a:srgbClr val="172B25"/>
                </a:solidFill>
                <a:latin typeface="Helvetica Neue"/>
                <a:ea typeface="Helvetica Neue"/>
                <a:cs typeface="Helvetica Neue"/>
              </a:rPr>
              <a:t>Normalization</a:t>
            </a:r>
          </a:p>
          <a:p xmlns:a="http://schemas.openxmlformats.org/drawingml/2006/main">
            <a:pPr>
              <a:defRPr sz="1650" b="1">
                <a:solidFill>
                  <a:srgbClr val="172B25"/>
                </a:solidFill>
                <a:latin typeface="Helvetica Neue"/>
                <a:ea typeface="Helvetica Neue"/>
                <a:cs typeface="Helvetica Neue"/>
              </a:defRPr>
            </a:pPr>
            <a:r>
              <a:rPr sz="1650" b="1">
                <a:solidFill>
                  <a:srgbClr val="172B25"/>
                </a:solidFill>
                <a:latin typeface="Helvetica Neue"/>
                <a:ea typeface="Helvetica Neue"/>
                <a:cs typeface="Helvetica Neue"/>
              </a:rPr>
              <a:t>SQLite memory</a:t>
            </a:r>
          </a:p>
          <a:p xmlns:a="http://schemas.openxmlformats.org/drawingml/2006/main">
            <a:pPr>
              <a:defRPr sz="1650" b="1">
                <a:solidFill>
                  <a:srgbClr val="172B25"/>
                </a:solidFill>
                <a:latin typeface="Helvetica Neue"/>
                <a:ea typeface="Helvetica Neue"/>
                <a:cs typeface="Helvetica Neue"/>
              </a:defRPr>
            </a:pPr>
            <a:r>
              <a:rPr sz="1650" b="1">
                <a:solidFill>
                  <a:srgbClr val="172B25"/>
                </a:solidFill>
                <a:latin typeface="Helvetica Neue"/>
                <a:ea typeface="Helvetica Neue"/>
                <a:cs typeface="Helvetica Neue"/>
              </a:rPr>
              <a:t>Retrieval filters</a:t>
            </a:r>
          </a:p>
          <a:p xmlns:a="http://schemas.openxmlformats.org/drawingml/2006/main">
            <a:pPr>
              <a:defRPr sz="1650" b="1">
                <a:solidFill>
                  <a:srgbClr val="172B25"/>
                </a:solidFill>
                <a:latin typeface="Helvetica Neue"/>
                <a:ea typeface="Helvetica Neue"/>
                <a:cs typeface="Helvetica Neue"/>
              </a:defRPr>
            </a:pPr>
            <a:r>
              <a:rPr sz="1650" b="1">
                <a:solidFill>
                  <a:srgbClr val="172B25"/>
                </a:solidFill>
                <a:latin typeface="Helvetica Neue"/>
                <a:ea typeface="Helvetica Neue"/>
                <a:cs typeface="Helvetica Neue"/>
              </a:rPr>
              <a:t>Policy checks</a:t>
            </a:r>
          </a:p>
        </p:txBody>
      </p:sp>
      <p:sp>
        <p:nvSpPr>
          <p:cNvPr id="11" name="">
            <a:extLst xmlns:a="http://schemas.openxmlformats.org/drawingml/2006/main">
              <a:ext uri="{FF2B5EF4-FFF2-40B4-BE49-F238E27FC236}">
                <a16:creationId xmlns:a16="http://schemas.microsoft.com/office/drawing/2014/main" id="{CA96C538-5ABF-4B07-9DA1-1008B3DD916C}"/>
              </a:ext>
            </a:extLst>
          </p:cNvPr>
          <p:cNvSpPr>
            <a:spLocks xmlns:a="http://schemas.openxmlformats.org/drawingml/2006/main" noGrp="1"/>
          </p:cNvSpPr>
          <p:nvPr/>
        </p:nvSpPr>
        <p:spPr>
          <a:xfrm xmlns:a="http://schemas.openxmlformats.org/drawingml/2006/main">
            <a:off x="5448300" y="2857500"/>
            <a:ext cx="333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454"/>
          </a:bodyPr>
          <a:lstStyle xmlns:a="http://schemas.openxmlformats.org/drawingml/2006/main"/>
          <a:p xmlns:a="http://schemas.openxmlformats.org/drawingml/2006/main">
            <a:pPr>
              <a:defRPr sz="3300" b="1">
                <a:solidFill>
                  <a:srgbClr val="E97962"/>
                </a:solidFill>
                <a:latin typeface="Helvetica Neue"/>
                <a:ea typeface="Helvetica Neue"/>
                <a:cs typeface="Helvetica Neue"/>
              </a:defRPr>
            </a:pPr>
            <a:r>
              <a:rPr sz="3300" b="1">
                <a:solidFill>
                  <a:srgbClr val="E97962"/>
                </a:solidFill>
                <a:latin typeface="Helvetica Neue"/>
                <a:ea typeface="Helvetica Neue"/>
                <a:cs typeface="Helvetica Neue"/>
              </a:rPr>
              <a:t>›</a:t>
            </a:r>
          </a:p>
        </p:txBody>
      </p:sp>
      <p:sp>
        <p:nvSpPr>
          <p:cNvPr id="12" name="">
            <a:extLst xmlns:a="http://schemas.openxmlformats.org/drawingml/2006/main">
              <a:ext uri="{FF2B5EF4-FFF2-40B4-BE49-F238E27FC236}">
                <a16:creationId xmlns:a16="http://schemas.microsoft.com/office/drawing/2014/main" id="{E6C7E3C3-F836-4BCB-93CC-CEAE7BB2D733}"/>
              </a:ext>
            </a:extLst>
          </p:cNvPr>
          <p:cNvSpPr>
            <a:spLocks xmlns:a="http://schemas.openxmlformats.org/drawingml/2006/main" noGrp="1"/>
          </p:cNvSpPr>
          <p:nvPr/>
        </p:nvSpPr>
        <p:spPr>
          <a:xfrm xmlns:a="http://schemas.openxmlformats.org/drawingml/2006/main">
            <a:off x="5810250" y="1666875"/>
            <a:ext cx="2333625" cy="3333750"/>
          </a:xfrm>
          <a:prstGeom xmlns:a="http://schemas.openxmlformats.org/drawingml/2006/main" prst="roundRect">
            <a:avLst>
              <a:gd name="adj" fmla="val 3265"/>
            </a:avLst>
          </a:prstGeom>
          <a:solidFill xmlns:a="http://schemas.openxmlformats.org/drawingml/2006/main">
            <a:srgbClr val="FFFFFF"/>
          </a:solidFill>
          <a:ln xmlns:a="http://schemas.openxmlformats.org/drawingml/2006/main" w="9525">
            <a:solidFill>
              <a:srgbClr val="BDD0C7"/>
            </a:solidFill>
          </a:ln>
        </p:spPr>
      </p:sp>
      <p:sp>
        <p:nvSpPr>
          <p:cNvPr id="13" name="">
            <a:extLst xmlns:a="http://schemas.openxmlformats.org/drawingml/2006/main">
              <a:ext uri="{FF2B5EF4-FFF2-40B4-BE49-F238E27FC236}">
                <a16:creationId xmlns:a16="http://schemas.microsoft.com/office/drawing/2014/main" id="{45B25A8B-F8E1-48C9-9E91-D911E06B7ABF}"/>
              </a:ext>
            </a:extLst>
          </p:cNvPr>
          <p:cNvSpPr>
            <a:spLocks xmlns:a="http://schemas.openxmlformats.org/drawingml/2006/main" noGrp="1"/>
          </p:cNvSpPr>
          <p:nvPr/>
        </p:nvSpPr>
        <p:spPr>
          <a:xfrm xmlns:a="http://schemas.openxmlformats.org/drawingml/2006/main">
            <a:off x="6000750" y="1857375"/>
            <a:ext cx="1952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725" b="1">
                <a:solidFill>
                  <a:srgbClr val="176B57"/>
                </a:solidFill>
                <a:latin typeface="Helvetica Neue"/>
                <a:ea typeface="Helvetica Neue"/>
                <a:cs typeface="Helvetica Neue"/>
              </a:defRPr>
            </a:pPr>
            <a:r>
              <a:rPr sz="1725" b="1">
                <a:solidFill>
                  <a:srgbClr val="176B57"/>
                </a:solidFill>
                <a:latin typeface="Helvetica Neue"/>
                <a:ea typeface="Helvetica Neue"/>
                <a:cs typeface="Helvetica Neue"/>
              </a:rPr>
              <a:t>Agent workflow</a:t>
            </a:r>
          </a:p>
        </p:txBody>
      </p:sp>
      <p:sp>
        <p:nvSpPr>
          <p:cNvPr id="14" name="">
            <a:extLst xmlns:a="http://schemas.openxmlformats.org/drawingml/2006/main">
              <a:ext uri="{FF2B5EF4-FFF2-40B4-BE49-F238E27FC236}">
                <a16:creationId xmlns:a16="http://schemas.microsoft.com/office/drawing/2014/main" id="{35649F6A-82B8-42E6-B60A-0C8EA4277727}"/>
              </a:ext>
            </a:extLst>
          </p:cNvPr>
          <p:cNvSpPr>
            <a:spLocks xmlns:a="http://schemas.openxmlformats.org/drawingml/2006/main" noGrp="1"/>
          </p:cNvSpPr>
          <p:nvPr/>
        </p:nvSpPr>
        <p:spPr>
          <a:xfrm xmlns:a="http://schemas.openxmlformats.org/drawingml/2006/main">
            <a:off x="6076950" y="2571750"/>
            <a:ext cx="180975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b="1">
                <a:solidFill>
                  <a:srgbClr val="172B25"/>
                </a:solidFill>
                <a:latin typeface="Helvetica Neue"/>
                <a:ea typeface="Helvetica Neue"/>
                <a:cs typeface="Helvetica Neue"/>
              </a:defRPr>
            </a:pPr>
            <a:r>
              <a:rPr sz="1650" b="1">
                <a:solidFill>
                  <a:srgbClr val="172B25"/>
                </a:solidFill>
                <a:latin typeface="Helvetica Neue"/>
                <a:ea typeface="Helvetica Neue"/>
                <a:cs typeface="Helvetica Neue"/>
              </a:rPr>
              <a:t>Supervisor</a:t>
            </a:r>
          </a:p>
          <a:p xmlns:a="http://schemas.openxmlformats.org/drawingml/2006/main">
            <a:pPr>
              <a:defRPr sz="1650" b="1">
                <a:solidFill>
                  <a:srgbClr val="172B25"/>
                </a:solidFill>
                <a:latin typeface="Helvetica Neue"/>
                <a:ea typeface="Helvetica Neue"/>
                <a:cs typeface="Helvetica Neue"/>
              </a:defRPr>
            </a:pPr>
            <a:r>
              <a:rPr sz="1650" b="1">
                <a:solidFill>
                  <a:srgbClr val="172B25"/>
                </a:solidFill>
                <a:latin typeface="Helvetica Neue"/>
                <a:ea typeface="Helvetica Neue"/>
                <a:cs typeface="Helvetica Neue"/>
              </a:rPr>
              <a:t>Schedule</a:t>
            </a:r>
          </a:p>
          <a:p xmlns:a="http://schemas.openxmlformats.org/drawingml/2006/main">
            <a:pPr>
              <a:defRPr sz="1650" b="1">
                <a:solidFill>
                  <a:srgbClr val="172B25"/>
                </a:solidFill>
                <a:latin typeface="Helvetica Neue"/>
                <a:ea typeface="Helvetica Neue"/>
                <a:cs typeface="Helvetica Neue"/>
              </a:defRPr>
            </a:pPr>
            <a:r>
              <a:rPr sz="1650" b="1">
                <a:solidFill>
                  <a:srgbClr val="172B25"/>
                </a:solidFill>
                <a:latin typeface="Helvetica Neue"/>
                <a:ea typeface="Helvetica Neue"/>
                <a:cs typeface="Helvetica Neue"/>
              </a:rPr>
              <a:t>Research</a:t>
            </a:r>
          </a:p>
          <a:p xmlns:a="http://schemas.openxmlformats.org/drawingml/2006/main">
            <a:pPr>
              <a:defRPr sz="1650" b="1">
                <a:solidFill>
                  <a:srgbClr val="172B25"/>
                </a:solidFill>
                <a:latin typeface="Helvetica Neue"/>
                <a:ea typeface="Helvetica Neue"/>
                <a:cs typeface="Helvetica Neue"/>
              </a:defRPr>
            </a:pPr>
            <a:r>
              <a:rPr sz="1650" b="1">
                <a:solidFill>
                  <a:srgbClr val="172B25"/>
                </a:solidFill>
                <a:latin typeface="Helvetica Neue"/>
                <a:ea typeface="Helvetica Neue"/>
                <a:cs typeface="Helvetica Neue"/>
              </a:rPr>
              <a:t>Planner</a:t>
            </a:r>
          </a:p>
          <a:p xmlns:a="http://schemas.openxmlformats.org/drawingml/2006/main">
            <a:pPr>
              <a:defRPr sz="1650" b="1">
                <a:solidFill>
                  <a:srgbClr val="172B25"/>
                </a:solidFill>
                <a:latin typeface="Helvetica Neue"/>
                <a:ea typeface="Helvetica Neue"/>
                <a:cs typeface="Helvetica Neue"/>
              </a:defRPr>
            </a:pPr>
            <a:r>
              <a:rPr sz="1650" b="1">
                <a:solidFill>
                  <a:srgbClr val="172B25"/>
                </a:solidFill>
                <a:latin typeface="Helvetica Neue"/>
                <a:ea typeface="Helvetica Neue"/>
                <a:cs typeface="Helvetica Neue"/>
              </a:rPr>
              <a:t>Critic</a:t>
            </a:r>
          </a:p>
        </p:txBody>
      </p:sp>
      <p:sp>
        <p:nvSpPr>
          <p:cNvPr id="15" name="">
            <a:extLst xmlns:a="http://schemas.openxmlformats.org/drawingml/2006/main">
              <a:ext uri="{FF2B5EF4-FFF2-40B4-BE49-F238E27FC236}">
                <a16:creationId xmlns:a16="http://schemas.microsoft.com/office/drawing/2014/main" id="{C4B46689-1B35-44FF-9B26-68F744CF1518}"/>
              </a:ext>
            </a:extLst>
          </p:cNvPr>
          <p:cNvSpPr>
            <a:spLocks xmlns:a="http://schemas.openxmlformats.org/drawingml/2006/main" noGrp="1"/>
          </p:cNvSpPr>
          <p:nvPr/>
        </p:nvSpPr>
        <p:spPr>
          <a:xfrm xmlns:a="http://schemas.openxmlformats.org/drawingml/2006/main">
            <a:off x="8162925" y="2857500"/>
            <a:ext cx="333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454"/>
          </a:bodyPr>
          <a:lstStyle xmlns:a="http://schemas.openxmlformats.org/drawingml/2006/main"/>
          <a:p xmlns:a="http://schemas.openxmlformats.org/drawingml/2006/main">
            <a:pPr>
              <a:defRPr sz="3300" b="1">
                <a:solidFill>
                  <a:srgbClr val="E97962"/>
                </a:solidFill>
                <a:latin typeface="Helvetica Neue"/>
                <a:ea typeface="Helvetica Neue"/>
                <a:cs typeface="Helvetica Neue"/>
              </a:defRPr>
            </a:pPr>
            <a:r>
              <a:rPr sz="3300" b="1">
                <a:solidFill>
                  <a:srgbClr val="E97962"/>
                </a:solidFill>
                <a:latin typeface="Helvetica Neue"/>
                <a:ea typeface="Helvetica Neue"/>
                <a:cs typeface="Helvetica Neue"/>
              </a:rPr>
              <a:t>›</a:t>
            </a:r>
          </a:p>
        </p:txBody>
      </p:sp>
      <p:sp>
        <p:nvSpPr>
          <p:cNvPr id="16" name="">
            <a:extLst xmlns:a="http://schemas.openxmlformats.org/drawingml/2006/main">
              <a:ext uri="{FF2B5EF4-FFF2-40B4-BE49-F238E27FC236}">
                <a16:creationId xmlns:a16="http://schemas.microsoft.com/office/drawing/2014/main" id="{DEC50FFE-2C74-46C3-BB6F-46325E96AF51}"/>
              </a:ext>
            </a:extLst>
          </p:cNvPr>
          <p:cNvSpPr>
            <a:spLocks xmlns:a="http://schemas.openxmlformats.org/drawingml/2006/main" noGrp="1"/>
          </p:cNvSpPr>
          <p:nvPr/>
        </p:nvSpPr>
        <p:spPr>
          <a:xfrm xmlns:a="http://schemas.openxmlformats.org/drawingml/2006/main">
            <a:off x="8524875" y="1666875"/>
            <a:ext cx="2333625" cy="3333750"/>
          </a:xfrm>
          <a:prstGeom xmlns:a="http://schemas.openxmlformats.org/drawingml/2006/main" prst="roundRect">
            <a:avLst>
              <a:gd name="adj" fmla="val 3265"/>
            </a:avLst>
          </a:prstGeom>
          <a:solidFill xmlns:a="http://schemas.openxmlformats.org/drawingml/2006/main">
            <a:srgbClr val="DCEDE6"/>
          </a:solidFill>
          <a:ln xmlns:a="http://schemas.openxmlformats.org/drawingml/2006/main" w="9525">
            <a:solidFill>
              <a:srgbClr val="BDD0C7"/>
            </a:solidFill>
          </a:ln>
        </p:spPr>
      </p:sp>
      <p:sp>
        <p:nvSpPr>
          <p:cNvPr id="17" name="">
            <a:extLst xmlns:a="http://schemas.openxmlformats.org/drawingml/2006/main">
              <a:ext uri="{FF2B5EF4-FFF2-40B4-BE49-F238E27FC236}">
                <a16:creationId xmlns:a16="http://schemas.microsoft.com/office/drawing/2014/main" id="{2A9E553A-04AF-4DDD-889D-541FDA138E1A}"/>
              </a:ext>
            </a:extLst>
          </p:cNvPr>
          <p:cNvSpPr>
            <a:spLocks xmlns:a="http://schemas.openxmlformats.org/drawingml/2006/main" noGrp="1"/>
          </p:cNvSpPr>
          <p:nvPr/>
        </p:nvSpPr>
        <p:spPr>
          <a:xfrm xmlns:a="http://schemas.openxmlformats.org/drawingml/2006/main">
            <a:off x="8715375" y="1857375"/>
            <a:ext cx="1952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272"/>
          </a:bodyPr>
          <a:lstStyle xmlns:a="http://schemas.openxmlformats.org/drawingml/2006/main"/>
          <a:p xmlns:a="http://schemas.openxmlformats.org/drawingml/2006/main">
            <a:pPr>
              <a:defRPr sz="1725" b="1">
                <a:solidFill>
                  <a:srgbClr val="176B57"/>
                </a:solidFill>
                <a:latin typeface="Helvetica Neue"/>
                <a:ea typeface="Helvetica Neue"/>
                <a:cs typeface="Helvetica Neue"/>
              </a:defRPr>
            </a:pPr>
            <a:r>
              <a:rPr sz="1725" b="1">
                <a:solidFill>
                  <a:srgbClr val="176B57"/>
                </a:solidFill>
                <a:latin typeface="Helvetica Neue"/>
                <a:ea typeface="Helvetica Neue"/>
                <a:cs typeface="Helvetica Neue"/>
              </a:rPr>
              <a:t>Controlled actions</a:t>
            </a:r>
          </a:p>
        </p:txBody>
      </p:sp>
      <p:sp>
        <p:nvSpPr>
          <p:cNvPr id="18" name="">
            <a:extLst xmlns:a="http://schemas.openxmlformats.org/drawingml/2006/main">
              <a:ext uri="{FF2B5EF4-FFF2-40B4-BE49-F238E27FC236}">
                <a16:creationId xmlns:a16="http://schemas.microsoft.com/office/drawing/2014/main" id="{18147BEF-9D4A-4248-B54C-E7149485100E}"/>
              </a:ext>
            </a:extLst>
          </p:cNvPr>
          <p:cNvSpPr>
            <a:spLocks xmlns:a="http://schemas.openxmlformats.org/drawingml/2006/main" noGrp="1"/>
          </p:cNvSpPr>
          <p:nvPr/>
        </p:nvSpPr>
        <p:spPr>
          <a:xfrm xmlns:a="http://schemas.openxmlformats.org/drawingml/2006/main">
            <a:off x="8791575" y="2571750"/>
            <a:ext cx="180975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b="1">
                <a:solidFill>
                  <a:srgbClr val="172B25"/>
                </a:solidFill>
                <a:latin typeface="Helvetica Neue"/>
                <a:ea typeface="Helvetica Neue"/>
                <a:cs typeface="Helvetica Neue"/>
              </a:defRPr>
            </a:pPr>
            <a:r>
              <a:rPr sz="1650" b="1">
                <a:solidFill>
                  <a:srgbClr val="172B25"/>
                </a:solidFill>
                <a:latin typeface="Helvetica Neue"/>
                <a:ea typeface="Helvetica Neue"/>
                <a:cs typeface="Helvetica Neue"/>
              </a:rPr>
              <a:t>Apps Script</a:t>
            </a:r>
          </a:p>
          <a:p xmlns:a="http://schemas.openxmlformats.org/drawingml/2006/main">
            <a:pPr>
              <a:defRPr sz="1650" b="1">
                <a:solidFill>
                  <a:srgbClr val="172B25"/>
                </a:solidFill>
                <a:latin typeface="Helvetica Neue"/>
                <a:ea typeface="Helvetica Neue"/>
                <a:cs typeface="Helvetica Neue"/>
              </a:defRPr>
            </a:pPr>
            <a:r>
              <a:rPr sz="1650" b="1">
                <a:solidFill>
                  <a:srgbClr val="172B25"/>
                </a:solidFill>
                <a:latin typeface="Helvetica Neue"/>
                <a:ea typeface="Helvetica Neue"/>
                <a:cs typeface="Helvetica Neue"/>
              </a:rPr>
              <a:t>Google Calendar</a:t>
            </a:r>
          </a:p>
          <a:p xmlns:a="http://schemas.openxmlformats.org/drawingml/2006/main">
            <a:pPr>
              <a:defRPr sz="1650" b="1">
                <a:solidFill>
                  <a:srgbClr val="172B25"/>
                </a:solidFill>
                <a:latin typeface="Helvetica Neue"/>
                <a:ea typeface="Helvetica Neue"/>
                <a:cs typeface="Helvetica Neue"/>
              </a:defRPr>
            </a:pPr>
            <a:r>
              <a:rPr sz="1650" b="1">
                <a:solidFill>
                  <a:srgbClr val="172B25"/>
                </a:solidFill>
                <a:latin typeface="Helvetica Neue"/>
                <a:ea typeface="Helvetica Neue"/>
                <a:cs typeface="Helvetica Neue"/>
              </a:rPr>
              <a:t>LINE API</a:t>
            </a:r>
          </a:p>
          <a:p xmlns:a="http://schemas.openxmlformats.org/drawingml/2006/main">
            <a:pPr>
              <a:defRPr sz="1650" b="1">
                <a:solidFill>
                  <a:srgbClr val="172B25"/>
                </a:solidFill>
                <a:latin typeface="Helvetica Neue"/>
                <a:ea typeface="Helvetica Neue"/>
                <a:cs typeface="Helvetica Neue"/>
              </a:defRPr>
            </a:pPr>
            <a:r>
              <a:rPr sz="1650" b="1">
                <a:solidFill>
                  <a:srgbClr val="172B25"/>
                </a:solidFill>
                <a:latin typeface="Helvetica Neue"/>
                <a:ea typeface="Helvetica Neue"/>
                <a:cs typeface="Helvetica Neue"/>
              </a:rPr>
              <a:t>Audit record</a:t>
            </a:r>
          </a:p>
        </p:txBody>
      </p:sp>
      <p:sp>
        <p:nvSpPr>
          <p:cNvPr id="19" name="">
            <a:extLst xmlns:a="http://schemas.openxmlformats.org/drawingml/2006/main">
              <a:ext uri="{FF2B5EF4-FFF2-40B4-BE49-F238E27FC236}">
                <a16:creationId xmlns:a16="http://schemas.microsoft.com/office/drawing/2014/main" id="{75E9F948-6257-4FCE-84A6-63FD75FB303F}"/>
              </a:ext>
            </a:extLst>
          </p:cNvPr>
          <p:cNvSpPr>
            <a:spLocks xmlns:a="http://schemas.openxmlformats.org/drawingml/2006/main" noGrp="1"/>
          </p:cNvSpPr>
          <p:nvPr/>
        </p:nvSpPr>
        <p:spPr>
          <a:xfrm xmlns:a="http://schemas.openxmlformats.org/drawingml/2006/main">
            <a:off x="1476375" y="5381625"/>
            <a:ext cx="9239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725" b="1">
                <a:solidFill>
                  <a:srgbClr val="172B25"/>
                </a:solidFill>
                <a:latin typeface="Helvetica Neue"/>
                <a:ea typeface="Helvetica Neue"/>
                <a:cs typeface="Helvetica Neue"/>
              </a:defRPr>
            </a:pPr>
            <a:r>
              <a:rPr sz="1725" b="1">
                <a:solidFill>
                  <a:srgbClr val="172B25"/>
                </a:solidFill>
                <a:latin typeface="Helvetica Neue"/>
                <a:ea typeface="Helvetica Neue"/>
                <a:cs typeface="Helvetica Neue"/>
              </a:rPr>
              <a:t>Streamlit provides the operating console and visible run trace</a:t>
            </a:r>
          </a:p>
        </p:txBody>
      </p:sp>
    </p:spTree>
    <p:extLst>
      <p:ext uri="{BB962C8B-B14F-4D97-AF65-F5344CB8AC3E}">
        <p14:creationId xmlns:p14="http://schemas.microsoft.com/office/powerpoint/2010/main" val="338773732"/>
      </p:ext>
    </p:extLst>
  </p:cSld>
</p:sld>
</file>

<file path=ppt/slides/slide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8787F6A1-DC4A-434D-A4D3-723E44693F92}"/>
              </a:ext>
            </a:extLst>
          </p:cNvPr>
          <p:cNvSpPr>
            <a:spLocks xmlns:a="http://schemas.openxmlformats.org/drawingml/2006/main" noGrp="1"/>
          </p:cNvSpPr>
          <p:nvPr/>
        </p:nvSpPr>
        <p:spPr>
          <a:xfrm xmlns:a="http://schemas.openxmlformats.org/drawingml/2006/main">
            <a:off x="666750" y="400050"/>
            <a:ext cx="9810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625" b="1">
                <a:solidFill>
                  <a:srgbClr val="172B25"/>
                </a:solidFill>
                <a:latin typeface="Helvetica Neue"/>
                <a:ea typeface="Helvetica Neue"/>
                <a:cs typeface="Helvetica Neue"/>
              </a:defRPr>
            </a:pPr>
            <a:r>
              <a:rPr sz="2625" b="1">
                <a:solidFill>
                  <a:srgbClr val="172B25"/>
                </a:solidFill>
                <a:latin typeface="Helvetica Neue"/>
                <a:ea typeface="Helvetica Neue"/>
                <a:cs typeface="Helvetica Neue"/>
              </a:rPr>
              <a:t>Human-in-the-loop action flow</a:t>
            </a:r>
          </a:p>
        </p:txBody>
      </p:sp>
      <p:sp>
        <p:nvSpPr>
          <p:cNvPr id="2" name="">
            <a:extLst xmlns:a="http://schemas.openxmlformats.org/drawingml/2006/main">
              <a:ext uri="{FF2B5EF4-FFF2-40B4-BE49-F238E27FC236}">
                <a16:creationId xmlns:a16="http://schemas.microsoft.com/office/drawing/2014/main" id="{FCE3F040-F950-4B3D-91BA-FA026881A912}"/>
              </a:ext>
            </a:extLst>
          </p:cNvPr>
          <p:cNvSpPr>
            <a:spLocks xmlns:a="http://schemas.openxmlformats.org/drawingml/2006/main" noGrp="1"/>
          </p:cNvSpPr>
          <p:nvPr/>
        </p:nvSpPr>
        <p:spPr>
          <a:xfrm xmlns:a="http://schemas.openxmlformats.org/drawingml/2006/main">
            <a:off x="11144250" y="476250"/>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a:solidFill>
                  <a:srgbClr val="176B57"/>
                </a:solidFill>
                <a:latin typeface="Helvetica Neue"/>
                <a:ea typeface="Helvetica Neue"/>
                <a:cs typeface="Helvetica Neue"/>
              </a:defRPr>
            </a:pPr>
            <a:r>
              <a:rPr sz="1200" b="1">
                <a:solidFill>
                  <a:srgbClr val="176B57"/>
                </a:solidFill>
                <a:latin typeface="Helvetica Neue"/>
                <a:ea typeface="Helvetica Neue"/>
                <a:cs typeface="Helvetica Neue"/>
              </a:rPr>
              <a:t>05</a:t>
            </a:r>
          </a:p>
        </p:txBody>
      </p:sp>
      <p:sp>
        <p:nvSpPr>
          <p:cNvPr id="3" name="">
            <a:extLst xmlns:a="http://schemas.openxmlformats.org/drawingml/2006/main">
              <a:ext uri="{FF2B5EF4-FFF2-40B4-BE49-F238E27FC236}">
                <a16:creationId xmlns:a16="http://schemas.microsoft.com/office/drawing/2014/main" id="{CF956CAE-8552-4B96-BBA3-58EBA5BDAD15}"/>
              </a:ext>
            </a:extLst>
          </p:cNvPr>
          <p:cNvSpPr>
            <a:spLocks xmlns:a="http://schemas.openxmlformats.org/drawingml/2006/main" noGrp="1"/>
          </p:cNvSpPr>
          <p:nvPr/>
        </p:nvSpPr>
        <p:spPr>
          <a:xfrm xmlns:a="http://schemas.openxmlformats.org/drawingml/2006/main">
            <a:off x="666750" y="1104900"/>
            <a:ext cx="10858500" cy="38100"/>
          </a:xfrm>
          <a:prstGeom xmlns:a="http://schemas.openxmlformats.org/drawingml/2006/main" prst="rect">
            <a:avLst/>
          </a:prstGeom>
          <a:solidFill xmlns:a="http://schemas.openxmlformats.org/drawingml/2006/main">
            <a:srgbClr val="176B57"/>
          </a:solidFill>
          <a:ln xmlns:a="http://schemas.openxmlformats.org/drawingml/2006/main" w="0">
            <a:solidFill>
              <a:srgbClr val="176B57"/>
            </a:solidFill>
          </a:ln>
        </p:spPr>
      </p:sp>
      <p:sp>
        <p:nvSpPr>
          <p:cNvPr id="4" name="">
            <a:extLst xmlns:a="http://schemas.openxmlformats.org/drawingml/2006/main">
              <a:ext uri="{FF2B5EF4-FFF2-40B4-BE49-F238E27FC236}">
                <a16:creationId xmlns:a16="http://schemas.microsoft.com/office/drawing/2014/main" id="{32CAAD9C-0313-48B8-9889-37E26D7FF8EA}"/>
              </a:ext>
            </a:extLst>
          </p:cNvPr>
          <p:cNvSpPr>
            <a:spLocks xmlns:a="http://schemas.openxmlformats.org/drawingml/2006/main" noGrp="1"/>
          </p:cNvSpPr>
          <p:nvPr/>
        </p:nvSpPr>
        <p:spPr>
          <a:xfrm xmlns:a="http://schemas.openxmlformats.org/drawingml/2006/main">
            <a:off x="590550" y="1981200"/>
            <a:ext cx="2000250" cy="219075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9525">
            <a:solidFill>
              <a:srgbClr val="BDD0C7"/>
            </a:solidFill>
          </a:ln>
        </p:spPr>
      </p:sp>
      <p:sp>
        <p:nvSpPr>
          <p:cNvPr id="5" name="">
            <a:extLst xmlns:a="http://schemas.openxmlformats.org/drawingml/2006/main">
              <a:ext uri="{FF2B5EF4-FFF2-40B4-BE49-F238E27FC236}">
                <a16:creationId xmlns:a16="http://schemas.microsoft.com/office/drawing/2014/main" id="{34D274B8-AB04-4D2A-AA90-B0097D203BBE}"/>
              </a:ext>
            </a:extLst>
          </p:cNvPr>
          <p:cNvSpPr>
            <a:spLocks xmlns:a="http://schemas.openxmlformats.org/drawingml/2006/main" noGrp="1"/>
          </p:cNvSpPr>
          <p:nvPr/>
        </p:nvSpPr>
        <p:spPr>
          <a:xfrm xmlns:a="http://schemas.openxmlformats.org/drawingml/2006/main">
            <a:off x="1209675" y="2162175"/>
            <a:ext cx="762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850" b="1">
                <a:solidFill>
                  <a:srgbClr val="E97962"/>
                </a:solidFill>
                <a:latin typeface="Helvetica Neue"/>
                <a:ea typeface="Helvetica Neue"/>
                <a:cs typeface="Helvetica Neue"/>
              </a:defRPr>
            </a:pPr>
            <a:r>
              <a:rPr sz="2850" b="1">
                <a:solidFill>
                  <a:srgbClr val="E97962"/>
                </a:solidFill>
                <a:latin typeface="Helvetica Neue"/>
                <a:ea typeface="Helvetica Neue"/>
                <a:cs typeface="Helvetica Neue"/>
              </a:rPr>
              <a:t>1</a:t>
            </a:r>
          </a:p>
        </p:txBody>
      </p:sp>
      <p:sp>
        <p:nvSpPr>
          <p:cNvPr id="6" name="">
            <a:extLst xmlns:a="http://schemas.openxmlformats.org/drawingml/2006/main">
              <a:ext uri="{FF2B5EF4-FFF2-40B4-BE49-F238E27FC236}">
                <a16:creationId xmlns:a16="http://schemas.microsoft.com/office/drawing/2014/main" id="{34C25E3D-CF15-407A-A737-E267AB5E75B9}"/>
              </a:ext>
            </a:extLst>
          </p:cNvPr>
          <p:cNvSpPr>
            <a:spLocks xmlns:a="http://schemas.openxmlformats.org/drawingml/2006/main" noGrp="1"/>
          </p:cNvSpPr>
          <p:nvPr/>
        </p:nvSpPr>
        <p:spPr>
          <a:xfrm xmlns:a="http://schemas.openxmlformats.org/drawingml/2006/main">
            <a:off x="762000" y="2895600"/>
            <a:ext cx="1657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b="1">
                <a:solidFill>
                  <a:srgbClr val="172B25"/>
                </a:solidFill>
                <a:latin typeface="Helvetica Neue"/>
                <a:ea typeface="Helvetica Neue"/>
                <a:cs typeface="Helvetica Neue"/>
              </a:defRPr>
            </a:pPr>
            <a:r>
              <a:rPr sz="1650" b="1">
                <a:solidFill>
                  <a:srgbClr val="172B25"/>
                </a:solidFill>
                <a:latin typeface="Helvetica Neue"/>
                <a:ea typeface="Helvetica Neue"/>
                <a:cs typeface="Helvetica Neue"/>
              </a:rPr>
              <a:t>Draft</a:t>
            </a:r>
          </a:p>
        </p:txBody>
      </p:sp>
      <p:sp>
        <p:nvSpPr>
          <p:cNvPr id="7" name="">
            <a:extLst xmlns:a="http://schemas.openxmlformats.org/drawingml/2006/main">
              <a:ext uri="{FF2B5EF4-FFF2-40B4-BE49-F238E27FC236}">
                <a16:creationId xmlns:a16="http://schemas.microsoft.com/office/drawing/2014/main" id="{7A828136-0FB0-4316-B3CD-31AB96B5F651}"/>
              </a:ext>
            </a:extLst>
          </p:cNvPr>
          <p:cNvSpPr>
            <a:spLocks xmlns:a="http://schemas.openxmlformats.org/drawingml/2006/main" noGrp="1"/>
          </p:cNvSpPr>
          <p:nvPr/>
        </p:nvSpPr>
        <p:spPr>
          <a:xfrm xmlns:a="http://schemas.openxmlformats.org/drawingml/2006/main">
            <a:off x="762000" y="3352800"/>
            <a:ext cx="1657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0">
                <a:solidFill>
                  <a:srgbClr val="61706A"/>
                </a:solidFill>
                <a:latin typeface="Helvetica Neue"/>
                <a:ea typeface="Helvetica Neue"/>
                <a:cs typeface="Helvetica Neue"/>
              </a:defRPr>
            </a:pPr>
            <a:r>
              <a:rPr sz="1200" b="0">
                <a:solidFill>
                  <a:srgbClr val="61706A"/>
                </a:solidFill>
                <a:latin typeface="Helvetica Neue"/>
                <a:ea typeface="Helvetica Neue"/>
                <a:cs typeface="Helvetica Neue"/>
              </a:rPr>
              <a:t>System prepares content</a:t>
            </a:r>
          </a:p>
        </p:txBody>
      </p:sp>
      <p:sp>
        <p:nvSpPr>
          <p:cNvPr id="8" name="">
            <a:extLst xmlns:a="http://schemas.openxmlformats.org/drawingml/2006/main">
              <a:ext uri="{FF2B5EF4-FFF2-40B4-BE49-F238E27FC236}">
                <a16:creationId xmlns:a16="http://schemas.microsoft.com/office/drawing/2014/main" id="{AEA4E2DB-F0D1-4823-87CD-55E9DB78C9DB}"/>
              </a:ext>
            </a:extLst>
          </p:cNvPr>
          <p:cNvSpPr>
            <a:spLocks xmlns:a="http://schemas.openxmlformats.org/drawingml/2006/main" noGrp="1"/>
          </p:cNvSpPr>
          <p:nvPr/>
        </p:nvSpPr>
        <p:spPr>
          <a:xfrm xmlns:a="http://schemas.openxmlformats.org/drawingml/2006/main">
            <a:off x="2905125" y="1981200"/>
            <a:ext cx="2000250" cy="219075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9525">
            <a:solidFill>
              <a:srgbClr val="BDD0C7"/>
            </a:solidFill>
          </a:ln>
        </p:spPr>
      </p:sp>
      <p:sp>
        <p:nvSpPr>
          <p:cNvPr id="9" name="">
            <a:extLst xmlns:a="http://schemas.openxmlformats.org/drawingml/2006/main">
              <a:ext uri="{FF2B5EF4-FFF2-40B4-BE49-F238E27FC236}">
                <a16:creationId xmlns:a16="http://schemas.microsoft.com/office/drawing/2014/main" id="{65724430-53DF-4DFE-B654-B6B51618AD1E}"/>
              </a:ext>
            </a:extLst>
          </p:cNvPr>
          <p:cNvSpPr>
            <a:spLocks xmlns:a="http://schemas.openxmlformats.org/drawingml/2006/main" noGrp="1"/>
          </p:cNvSpPr>
          <p:nvPr/>
        </p:nvSpPr>
        <p:spPr>
          <a:xfrm xmlns:a="http://schemas.openxmlformats.org/drawingml/2006/main">
            <a:off x="3524250" y="2162175"/>
            <a:ext cx="762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850" b="1">
                <a:solidFill>
                  <a:srgbClr val="E97962"/>
                </a:solidFill>
                <a:latin typeface="Helvetica Neue"/>
                <a:ea typeface="Helvetica Neue"/>
                <a:cs typeface="Helvetica Neue"/>
              </a:defRPr>
            </a:pPr>
            <a:r>
              <a:rPr sz="2850" b="1">
                <a:solidFill>
                  <a:srgbClr val="E97962"/>
                </a:solidFill>
                <a:latin typeface="Helvetica Neue"/>
                <a:ea typeface="Helvetica Neue"/>
                <a:cs typeface="Helvetica Neue"/>
              </a:rPr>
              <a:t>2</a:t>
            </a:r>
          </a:p>
        </p:txBody>
      </p:sp>
      <p:sp>
        <p:nvSpPr>
          <p:cNvPr id="10" name="">
            <a:extLst xmlns:a="http://schemas.openxmlformats.org/drawingml/2006/main">
              <a:ext uri="{FF2B5EF4-FFF2-40B4-BE49-F238E27FC236}">
                <a16:creationId xmlns:a16="http://schemas.microsoft.com/office/drawing/2014/main" id="{F6D075B2-BBEE-4FF0-8021-379CDF1E8CC0}"/>
              </a:ext>
            </a:extLst>
          </p:cNvPr>
          <p:cNvSpPr>
            <a:spLocks xmlns:a="http://schemas.openxmlformats.org/drawingml/2006/main" noGrp="1"/>
          </p:cNvSpPr>
          <p:nvPr/>
        </p:nvSpPr>
        <p:spPr>
          <a:xfrm xmlns:a="http://schemas.openxmlformats.org/drawingml/2006/main">
            <a:off x="3076575" y="2895600"/>
            <a:ext cx="1657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b="1">
                <a:solidFill>
                  <a:srgbClr val="172B25"/>
                </a:solidFill>
                <a:latin typeface="Helvetica Neue"/>
                <a:ea typeface="Helvetica Neue"/>
                <a:cs typeface="Helvetica Neue"/>
              </a:defRPr>
            </a:pPr>
            <a:r>
              <a:rPr sz="1650" b="1">
                <a:solidFill>
                  <a:srgbClr val="172B25"/>
                </a:solidFill>
                <a:latin typeface="Helvetica Neue"/>
                <a:ea typeface="Helvetica Neue"/>
                <a:cs typeface="Helvetica Neue"/>
              </a:rPr>
              <a:t>Preview</a:t>
            </a:r>
          </a:p>
        </p:txBody>
      </p:sp>
      <p:sp>
        <p:nvSpPr>
          <p:cNvPr id="11" name="">
            <a:extLst xmlns:a="http://schemas.openxmlformats.org/drawingml/2006/main">
              <a:ext uri="{FF2B5EF4-FFF2-40B4-BE49-F238E27FC236}">
                <a16:creationId xmlns:a16="http://schemas.microsoft.com/office/drawing/2014/main" id="{8EF35C9B-DD0D-4224-AEC0-87BF74D279E9}"/>
              </a:ext>
            </a:extLst>
          </p:cNvPr>
          <p:cNvSpPr>
            <a:spLocks xmlns:a="http://schemas.openxmlformats.org/drawingml/2006/main" noGrp="1"/>
          </p:cNvSpPr>
          <p:nvPr/>
        </p:nvSpPr>
        <p:spPr>
          <a:xfrm xmlns:a="http://schemas.openxmlformats.org/drawingml/2006/main">
            <a:off x="3076575" y="3352800"/>
            <a:ext cx="1657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0">
                <a:solidFill>
                  <a:srgbClr val="61706A"/>
                </a:solidFill>
                <a:latin typeface="Helvetica Neue"/>
                <a:ea typeface="Helvetica Neue"/>
                <a:cs typeface="Helvetica Neue"/>
              </a:defRPr>
            </a:pPr>
            <a:r>
              <a:rPr sz="1200" b="0">
                <a:solidFill>
                  <a:srgbClr val="61706A"/>
                </a:solidFill>
                <a:latin typeface="Helvetica Neue"/>
                <a:ea typeface="Helvetica Neue"/>
                <a:cs typeface="Helvetica Neue"/>
              </a:rPr>
              <a:t>User checks facts</a:t>
            </a:r>
          </a:p>
        </p:txBody>
      </p:sp>
      <p:sp>
        <p:nvSpPr>
          <p:cNvPr id="12" name="">
            <a:extLst xmlns:a="http://schemas.openxmlformats.org/drawingml/2006/main">
              <a:ext uri="{FF2B5EF4-FFF2-40B4-BE49-F238E27FC236}">
                <a16:creationId xmlns:a16="http://schemas.microsoft.com/office/drawing/2014/main" id="{6F9E4CB5-1752-428E-B20D-BE5EA1E17EF5}"/>
              </a:ext>
            </a:extLst>
          </p:cNvPr>
          <p:cNvSpPr>
            <a:spLocks xmlns:a="http://schemas.openxmlformats.org/drawingml/2006/main" noGrp="1"/>
          </p:cNvSpPr>
          <p:nvPr/>
        </p:nvSpPr>
        <p:spPr>
          <a:xfrm xmlns:a="http://schemas.openxmlformats.org/drawingml/2006/main">
            <a:off x="5219700" y="1981200"/>
            <a:ext cx="2000250" cy="2190750"/>
          </a:xfrm>
          <a:prstGeom xmlns:a="http://schemas.openxmlformats.org/drawingml/2006/main" prst="roundRect">
            <a:avLst>
              <a:gd name="adj" fmla="val 3810"/>
            </a:avLst>
          </a:prstGeom>
          <a:solidFill xmlns:a="http://schemas.openxmlformats.org/drawingml/2006/main">
            <a:srgbClr val="DCEDE6"/>
          </a:solidFill>
          <a:ln xmlns:a="http://schemas.openxmlformats.org/drawingml/2006/main" w="9525">
            <a:solidFill>
              <a:srgbClr val="BDD0C7"/>
            </a:solidFill>
          </a:ln>
        </p:spPr>
      </p:sp>
      <p:sp>
        <p:nvSpPr>
          <p:cNvPr id="13" name="">
            <a:extLst xmlns:a="http://schemas.openxmlformats.org/drawingml/2006/main">
              <a:ext uri="{FF2B5EF4-FFF2-40B4-BE49-F238E27FC236}">
                <a16:creationId xmlns:a16="http://schemas.microsoft.com/office/drawing/2014/main" id="{8DD21B3C-4CDC-465D-9C22-8F85C99C8ED5}"/>
              </a:ext>
            </a:extLst>
          </p:cNvPr>
          <p:cNvSpPr>
            <a:spLocks xmlns:a="http://schemas.openxmlformats.org/drawingml/2006/main" noGrp="1"/>
          </p:cNvSpPr>
          <p:nvPr/>
        </p:nvSpPr>
        <p:spPr>
          <a:xfrm xmlns:a="http://schemas.openxmlformats.org/drawingml/2006/main">
            <a:off x="5838825" y="2162175"/>
            <a:ext cx="762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850" b="1">
                <a:solidFill>
                  <a:srgbClr val="176B57"/>
                </a:solidFill>
                <a:latin typeface="Helvetica Neue"/>
                <a:ea typeface="Helvetica Neue"/>
                <a:cs typeface="Helvetica Neue"/>
              </a:defRPr>
            </a:pPr>
            <a:r>
              <a:rPr sz="2850" b="1">
                <a:solidFill>
                  <a:srgbClr val="176B57"/>
                </a:solidFill>
                <a:latin typeface="Helvetica Neue"/>
                <a:ea typeface="Helvetica Neue"/>
                <a:cs typeface="Helvetica Neue"/>
              </a:rPr>
              <a:t>3</a:t>
            </a:r>
          </a:p>
        </p:txBody>
      </p:sp>
      <p:sp>
        <p:nvSpPr>
          <p:cNvPr id="14" name="">
            <a:extLst xmlns:a="http://schemas.openxmlformats.org/drawingml/2006/main">
              <a:ext uri="{FF2B5EF4-FFF2-40B4-BE49-F238E27FC236}">
                <a16:creationId xmlns:a16="http://schemas.microsoft.com/office/drawing/2014/main" id="{B6D608F8-4ECF-4DEE-909C-C5DDF45FD94A}"/>
              </a:ext>
            </a:extLst>
          </p:cNvPr>
          <p:cNvSpPr>
            <a:spLocks xmlns:a="http://schemas.openxmlformats.org/drawingml/2006/main" noGrp="1"/>
          </p:cNvSpPr>
          <p:nvPr/>
        </p:nvSpPr>
        <p:spPr>
          <a:xfrm xmlns:a="http://schemas.openxmlformats.org/drawingml/2006/main">
            <a:off x="5391150" y="2895600"/>
            <a:ext cx="1657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b="1">
                <a:solidFill>
                  <a:srgbClr val="172B25"/>
                </a:solidFill>
                <a:latin typeface="Helvetica Neue"/>
                <a:ea typeface="Helvetica Neue"/>
                <a:cs typeface="Helvetica Neue"/>
              </a:defRPr>
            </a:pPr>
            <a:r>
              <a:rPr sz="1650" b="1">
                <a:solidFill>
                  <a:srgbClr val="172B25"/>
                </a:solidFill>
                <a:latin typeface="Helvetica Neue"/>
                <a:ea typeface="Helvetica Neue"/>
                <a:cs typeface="Helvetica Neue"/>
              </a:rPr>
              <a:t>Approve</a:t>
            </a:r>
          </a:p>
        </p:txBody>
      </p:sp>
      <p:sp>
        <p:nvSpPr>
          <p:cNvPr id="15" name="">
            <a:extLst xmlns:a="http://schemas.openxmlformats.org/drawingml/2006/main">
              <a:ext uri="{FF2B5EF4-FFF2-40B4-BE49-F238E27FC236}">
                <a16:creationId xmlns:a16="http://schemas.microsoft.com/office/drawing/2014/main" id="{E25E2E77-2996-4512-B23C-1D026C7A811B}"/>
              </a:ext>
            </a:extLst>
          </p:cNvPr>
          <p:cNvSpPr>
            <a:spLocks xmlns:a="http://schemas.openxmlformats.org/drawingml/2006/main" noGrp="1"/>
          </p:cNvSpPr>
          <p:nvPr/>
        </p:nvSpPr>
        <p:spPr>
          <a:xfrm xmlns:a="http://schemas.openxmlformats.org/drawingml/2006/main">
            <a:off x="5391150" y="3352800"/>
            <a:ext cx="1657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0">
                <a:solidFill>
                  <a:srgbClr val="61706A"/>
                </a:solidFill>
                <a:latin typeface="Helvetica Neue"/>
                <a:ea typeface="Helvetica Neue"/>
                <a:cs typeface="Helvetica Neue"/>
              </a:defRPr>
            </a:pPr>
            <a:r>
              <a:rPr sz="1200" b="0">
                <a:solidFill>
                  <a:srgbClr val="61706A"/>
                </a:solidFill>
                <a:latin typeface="Helvetica Neue"/>
                <a:ea typeface="Helvetica Neue"/>
                <a:cs typeface="Helvetica Neue"/>
              </a:rPr>
              <a:t>Exact tool and payload</a:t>
            </a:r>
          </a:p>
        </p:txBody>
      </p:sp>
      <p:sp>
        <p:nvSpPr>
          <p:cNvPr id="16" name="">
            <a:extLst xmlns:a="http://schemas.openxmlformats.org/drawingml/2006/main">
              <a:ext uri="{FF2B5EF4-FFF2-40B4-BE49-F238E27FC236}">
                <a16:creationId xmlns:a16="http://schemas.microsoft.com/office/drawing/2014/main" id="{AEDBDEB8-6BB3-427D-9421-55CD91D3F309}"/>
              </a:ext>
            </a:extLst>
          </p:cNvPr>
          <p:cNvSpPr>
            <a:spLocks xmlns:a="http://schemas.openxmlformats.org/drawingml/2006/main" noGrp="1"/>
          </p:cNvSpPr>
          <p:nvPr/>
        </p:nvSpPr>
        <p:spPr>
          <a:xfrm xmlns:a="http://schemas.openxmlformats.org/drawingml/2006/main">
            <a:off x="7534275" y="1981200"/>
            <a:ext cx="2000250" cy="219075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9525">
            <a:solidFill>
              <a:srgbClr val="BDD0C7"/>
            </a:solidFill>
          </a:ln>
        </p:spPr>
      </p:sp>
      <p:sp>
        <p:nvSpPr>
          <p:cNvPr id="17" name="">
            <a:extLst xmlns:a="http://schemas.openxmlformats.org/drawingml/2006/main">
              <a:ext uri="{FF2B5EF4-FFF2-40B4-BE49-F238E27FC236}">
                <a16:creationId xmlns:a16="http://schemas.microsoft.com/office/drawing/2014/main" id="{5DB8813F-0BA9-4338-9B3D-0470AA102307}"/>
              </a:ext>
            </a:extLst>
          </p:cNvPr>
          <p:cNvSpPr>
            <a:spLocks xmlns:a="http://schemas.openxmlformats.org/drawingml/2006/main" noGrp="1"/>
          </p:cNvSpPr>
          <p:nvPr/>
        </p:nvSpPr>
        <p:spPr>
          <a:xfrm xmlns:a="http://schemas.openxmlformats.org/drawingml/2006/main">
            <a:off x="8153400" y="2162175"/>
            <a:ext cx="762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850" b="1">
                <a:solidFill>
                  <a:srgbClr val="E97962"/>
                </a:solidFill>
                <a:latin typeface="Helvetica Neue"/>
                <a:ea typeface="Helvetica Neue"/>
                <a:cs typeface="Helvetica Neue"/>
              </a:defRPr>
            </a:pPr>
            <a:r>
              <a:rPr sz="2850" b="1">
                <a:solidFill>
                  <a:srgbClr val="E97962"/>
                </a:solidFill>
                <a:latin typeface="Helvetica Neue"/>
                <a:ea typeface="Helvetica Neue"/>
                <a:cs typeface="Helvetica Neue"/>
              </a:rPr>
              <a:t>4</a:t>
            </a:r>
          </a:p>
        </p:txBody>
      </p:sp>
      <p:sp>
        <p:nvSpPr>
          <p:cNvPr id="18" name="">
            <a:extLst xmlns:a="http://schemas.openxmlformats.org/drawingml/2006/main">
              <a:ext uri="{FF2B5EF4-FFF2-40B4-BE49-F238E27FC236}">
                <a16:creationId xmlns:a16="http://schemas.microsoft.com/office/drawing/2014/main" id="{17BE850C-C30B-403F-A307-6579DA5D1874}"/>
              </a:ext>
            </a:extLst>
          </p:cNvPr>
          <p:cNvSpPr>
            <a:spLocks xmlns:a="http://schemas.openxmlformats.org/drawingml/2006/main" noGrp="1"/>
          </p:cNvSpPr>
          <p:nvPr/>
        </p:nvSpPr>
        <p:spPr>
          <a:xfrm xmlns:a="http://schemas.openxmlformats.org/drawingml/2006/main">
            <a:off x="7705725" y="2895600"/>
            <a:ext cx="1657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b="1">
                <a:solidFill>
                  <a:srgbClr val="172B25"/>
                </a:solidFill>
                <a:latin typeface="Helvetica Neue"/>
                <a:ea typeface="Helvetica Neue"/>
                <a:cs typeface="Helvetica Neue"/>
              </a:defRPr>
            </a:pPr>
            <a:r>
              <a:rPr sz="1650" b="1">
                <a:solidFill>
                  <a:srgbClr val="172B25"/>
                </a:solidFill>
                <a:latin typeface="Helvetica Neue"/>
                <a:ea typeface="Helvetica Neue"/>
                <a:cs typeface="Helvetica Neue"/>
              </a:rPr>
              <a:t>Execute</a:t>
            </a:r>
          </a:p>
        </p:txBody>
      </p:sp>
      <p:sp>
        <p:nvSpPr>
          <p:cNvPr id="19" name="">
            <a:extLst xmlns:a="http://schemas.openxmlformats.org/drawingml/2006/main">
              <a:ext uri="{FF2B5EF4-FFF2-40B4-BE49-F238E27FC236}">
                <a16:creationId xmlns:a16="http://schemas.microsoft.com/office/drawing/2014/main" id="{A68DDDE3-8E10-419C-9654-C775A8D074B5}"/>
              </a:ext>
            </a:extLst>
          </p:cNvPr>
          <p:cNvSpPr>
            <a:spLocks xmlns:a="http://schemas.openxmlformats.org/drawingml/2006/main" noGrp="1"/>
          </p:cNvSpPr>
          <p:nvPr/>
        </p:nvSpPr>
        <p:spPr>
          <a:xfrm xmlns:a="http://schemas.openxmlformats.org/drawingml/2006/main">
            <a:off x="7705725" y="3352800"/>
            <a:ext cx="1657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0">
                <a:solidFill>
                  <a:srgbClr val="61706A"/>
                </a:solidFill>
                <a:latin typeface="Helvetica Neue"/>
                <a:ea typeface="Helvetica Neue"/>
                <a:cs typeface="Helvetica Neue"/>
              </a:defRPr>
            </a:pPr>
            <a:r>
              <a:rPr sz="1200" b="0">
                <a:solidFill>
                  <a:srgbClr val="61706A"/>
                </a:solidFill>
                <a:latin typeface="Helvetica Neue"/>
                <a:ea typeface="Helvetica Neue"/>
                <a:cs typeface="Helvetica Neue"/>
              </a:rPr>
              <a:t>Adapter sends or syncs</a:t>
            </a:r>
          </a:p>
        </p:txBody>
      </p:sp>
      <p:sp>
        <p:nvSpPr>
          <p:cNvPr id="20" name="">
            <a:extLst xmlns:a="http://schemas.openxmlformats.org/drawingml/2006/main">
              <a:ext uri="{FF2B5EF4-FFF2-40B4-BE49-F238E27FC236}">
                <a16:creationId xmlns:a16="http://schemas.microsoft.com/office/drawing/2014/main" id="{D997D68C-B8C4-469C-914B-976D23537C2A}"/>
              </a:ext>
            </a:extLst>
          </p:cNvPr>
          <p:cNvSpPr>
            <a:spLocks xmlns:a="http://schemas.openxmlformats.org/drawingml/2006/main" noGrp="1"/>
          </p:cNvSpPr>
          <p:nvPr/>
        </p:nvSpPr>
        <p:spPr>
          <a:xfrm xmlns:a="http://schemas.openxmlformats.org/drawingml/2006/main">
            <a:off x="9848850" y="1981200"/>
            <a:ext cx="2000250" cy="219075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9525">
            <a:solidFill>
              <a:srgbClr val="BDD0C7"/>
            </a:solidFill>
          </a:ln>
        </p:spPr>
      </p:sp>
      <p:sp>
        <p:nvSpPr>
          <p:cNvPr id="21" name="">
            <a:extLst xmlns:a="http://schemas.openxmlformats.org/drawingml/2006/main">
              <a:ext uri="{FF2B5EF4-FFF2-40B4-BE49-F238E27FC236}">
                <a16:creationId xmlns:a16="http://schemas.microsoft.com/office/drawing/2014/main" id="{3BE61685-48D8-40E5-8A47-B978532A27F6}"/>
              </a:ext>
            </a:extLst>
          </p:cNvPr>
          <p:cNvSpPr>
            <a:spLocks xmlns:a="http://schemas.openxmlformats.org/drawingml/2006/main" noGrp="1"/>
          </p:cNvSpPr>
          <p:nvPr/>
        </p:nvSpPr>
        <p:spPr>
          <a:xfrm xmlns:a="http://schemas.openxmlformats.org/drawingml/2006/main">
            <a:off x="10467975" y="2162175"/>
            <a:ext cx="762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850" b="1">
                <a:solidFill>
                  <a:srgbClr val="E97962"/>
                </a:solidFill>
                <a:latin typeface="Helvetica Neue"/>
                <a:ea typeface="Helvetica Neue"/>
                <a:cs typeface="Helvetica Neue"/>
              </a:defRPr>
            </a:pPr>
            <a:r>
              <a:rPr sz="2850" b="1">
                <a:solidFill>
                  <a:srgbClr val="E97962"/>
                </a:solidFill>
                <a:latin typeface="Helvetica Neue"/>
                <a:ea typeface="Helvetica Neue"/>
                <a:cs typeface="Helvetica Neue"/>
              </a:rPr>
              <a:t>5</a:t>
            </a:r>
          </a:p>
        </p:txBody>
      </p:sp>
      <p:sp>
        <p:nvSpPr>
          <p:cNvPr id="22" name="">
            <a:extLst xmlns:a="http://schemas.openxmlformats.org/drawingml/2006/main">
              <a:ext uri="{FF2B5EF4-FFF2-40B4-BE49-F238E27FC236}">
                <a16:creationId xmlns:a16="http://schemas.microsoft.com/office/drawing/2014/main" id="{B140277B-41DA-4FC2-9C05-EB31F138B478}"/>
              </a:ext>
            </a:extLst>
          </p:cNvPr>
          <p:cNvSpPr>
            <a:spLocks xmlns:a="http://schemas.openxmlformats.org/drawingml/2006/main" noGrp="1"/>
          </p:cNvSpPr>
          <p:nvPr/>
        </p:nvSpPr>
        <p:spPr>
          <a:xfrm xmlns:a="http://schemas.openxmlformats.org/drawingml/2006/main">
            <a:off x="10020300" y="2895600"/>
            <a:ext cx="1657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b="1">
                <a:solidFill>
                  <a:srgbClr val="172B25"/>
                </a:solidFill>
                <a:latin typeface="Helvetica Neue"/>
                <a:ea typeface="Helvetica Neue"/>
                <a:cs typeface="Helvetica Neue"/>
              </a:defRPr>
            </a:pPr>
            <a:r>
              <a:rPr sz="1650" b="1">
                <a:solidFill>
                  <a:srgbClr val="172B25"/>
                </a:solidFill>
                <a:latin typeface="Helvetica Neue"/>
                <a:ea typeface="Helvetica Neue"/>
                <a:cs typeface="Helvetica Neue"/>
              </a:rPr>
              <a:t>Record</a:t>
            </a:r>
          </a:p>
        </p:txBody>
      </p:sp>
      <p:sp>
        <p:nvSpPr>
          <p:cNvPr id="23" name="">
            <a:extLst xmlns:a="http://schemas.openxmlformats.org/drawingml/2006/main">
              <a:ext uri="{FF2B5EF4-FFF2-40B4-BE49-F238E27FC236}">
                <a16:creationId xmlns:a16="http://schemas.microsoft.com/office/drawing/2014/main" id="{C996F852-FC6C-4EF7-AE2F-049B660882FF}"/>
              </a:ext>
            </a:extLst>
          </p:cNvPr>
          <p:cNvSpPr>
            <a:spLocks xmlns:a="http://schemas.openxmlformats.org/drawingml/2006/main" noGrp="1"/>
          </p:cNvSpPr>
          <p:nvPr/>
        </p:nvSpPr>
        <p:spPr>
          <a:xfrm xmlns:a="http://schemas.openxmlformats.org/drawingml/2006/main">
            <a:off x="10020300" y="3352800"/>
            <a:ext cx="1657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0">
                <a:solidFill>
                  <a:srgbClr val="61706A"/>
                </a:solidFill>
                <a:latin typeface="Helvetica Neue"/>
                <a:ea typeface="Helvetica Neue"/>
                <a:cs typeface="Helvetica Neue"/>
              </a:defRPr>
            </a:pPr>
            <a:r>
              <a:rPr sz="1200" b="0">
                <a:solidFill>
                  <a:srgbClr val="61706A"/>
                </a:solidFill>
                <a:latin typeface="Helvetica Neue"/>
                <a:ea typeface="Helvetica Neue"/>
                <a:cs typeface="Helvetica Neue"/>
              </a:rPr>
              <a:t>Outcome enters audit log</a:t>
            </a:r>
          </a:p>
        </p:txBody>
      </p:sp>
      <p:sp>
        <p:nvSpPr>
          <p:cNvPr id="24" name="">
            <a:extLst xmlns:a="http://schemas.openxmlformats.org/drawingml/2006/main">
              <a:ext uri="{FF2B5EF4-FFF2-40B4-BE49-F238E27FC236}">
                <a16:creationId xmlns:a16="http://schemas.microsoft.com/office/drawing/2014/main" id="{08BC76B2-4089-4ACA-88CA-F8904734B0E6}"/>
              </a:ext>
            </a:extLst>
          </p:cNvPr>
          <p:cNvSpPr>
            <a:spLocks xmlns:a="http://schemas.openxmlformats.org/drawingml/2006/main" noGrp="1"/>
          </p:cNvSpPr>
          <p:nvPr/>
        </p:nvSpPr>
        <p:spPr>
          <a:xfrm xmlns:a="http://schemas.openxmlformats.org/drawingml/2006/main">
            <a:off x="1047750" y="4762500"/>
            <a:ext cx="10096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E97962"/>
                </a:solidFill>
                <a:latin typeface="Helvetica Neue"/>
                <a:ea typeface="Helvetica Neue"/>
                <a:cs typeface="Helvetica Neue"/>
              </a:defRPr>
            </a:pPr>
            <a:r>
              <a:rPr sz="1800" b="1">
                <a:solidFill>
                  <a:srgbClr val="E97962"/>
                </a:solidFill>
                <a:latin typeface="Helvetica Neue"/>
                <a:ea typeface="Helvetica Neue"/>
                <a:cs typeface="Helvetica Neue"/>
              </a:rPr>
              <a:t>Missing credentials, destinations, approval, or scheduled time causes a closed failure</a:t>
            </a:r>
          </a:p>
        </p:txBody>
      </p:sp>
    </p:spTree>
    <p:extLst>
      <p:ext uri="{BB962C8B-B14F-4D97-AF65-F5344CB8AC3E}">
        <p14:creationId xmlns:p14="http://schemas.microsoft.com/office/powerpoint/2010/main" val="282763681"/>
      </p:ext>
    </p:extLst>
  </p:cSld>
</p:sld>
</file>

<file path=ppt/slides/slide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0B76375D-16EA-49BD-8ECF-504809940B81}"/>
              </a:ext>
            </a:extLst>
          </p:cNvPr>
          <p:cNvSpPr>
            <a:spLocks xmlns:a="http://schemas.openxmlformats.org/drawingml/2006/main" noGrp="1"/>
          </p:cNvSpPr>
          <p:nvPr/>
        </p:nvSpPr>
        <p:spPr>
          <a:xfrm xmlns:a="http://schemas.openxmlformats.org/drawingml/2006/main">
            <a:off x="666750" y="400050"/>
            <a:ext cx="9810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625" b="1">
                <a:solidFill>
                  <a:srgbClr val="172B25"/>
                </a:solidFill>
                <a:latin typeface="Helvetica Neue"/>
                <a:ea typeface="Helvetica Neue"/>
                <a:cs typeface="Helvetica Neue"/>
              </a:defRPr>
            </a:pPr>
            <a:r>
              <a:rPr sz="2625" b="1">
                <a:solidFill>
                  <a:srgbClr val="172B25"/>
                </a:solidFill>
                <a:latin typeface="Helvetica Neue"/>
                <a:ea typeface="Helvetica Neue"/>
                <a:cs typeface="Helvetica Neue"/>
              </a:rPr>
              <a:t>Key design decisions</a:t>
            </a:r>
          </a:p>
        </p:txBody>
      </p:sp>
      <p:sp>
        <p:nvSpPr>
          <p:cNvPr id="2" name="">
            <a:extLst xmlns:a="http://schemas.openxmlformats.org/drawingml/2006/main">
              <a:ext uri="{FF2B5EF4-FFF2-40B4-BE49-F238E27FC236}">
                <a16:creationId xmlns:a16="http://schemas.microsoft.com/office/drawing/2014/main" id="{2852DD71-2909-4566-86FA-5A72E3D6A960}"/>
              </a:ext>
            </a:extLst>
          </p:cNvPr>
          <p:cNvSpPr>
            <a:spLocks xmlns:a="http://schemas.openxmlformats.org/drawingml/2006/main" noGrp="1"/>
          </p:cNvSpPr>
          <p:nvPr/>
        </p:nvSpPr>
        <p:spPr>
          <a:xfrm xmlns:a="http://schemas.openxmlformats.org/drawingml/2006/main">
            <a:off x="11144250" y="476250"/>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a:solidFill>
                  <a:srgbClr val="176B57"/>
                </a:solidFill>
                <a:latin typeface="Helvetica Neue"/>
                <a:ea typeface="Helvetica Neue"/>
                <a:cs typeface="Helvetica Neue"/>
              </a:defRPr>
            </a:pPr>
            <a:r>
              <a:rPr sz="1200" b="1">
                <a:solidFill>
                  <a:srgbClr val="176B57"/>
                </a:solidFill>
                <a:latin typeface="Helvetica Neue"/>
                <a:ea typeface="Helvetica Neue"/>
                <a:cs typeface="Helvetica Neue"/>
              </a:rPr>
              <a:t>06</a:t>
            </a:r>
          </a:p>
        </p:txBody>
      </p:sp>
      <p:sp>
        <p:nvSpPr>
          <p:cNvPr id="3" name="">
            <a:extLst xmlns:a="http://schemas.openxmlformats.org/drawingml/2006/main">
              <a:ext uri="{FF2B5EF4-FFF2-40B4-BE49-F238E27FC236}">
                <a16:creationId xmlns:a16="http://schemas.microsoft.com/office/drawing/2014/main" id="{C2AD1C4F-3134-4919-AA49-CFAC9595CFF2}"/>
              </a:ext>
            </a:extLst>
          </p:cNvPr>
          <p:cNvSpPr>
            <a:spLocks xmlns:a="http://schemas.openxmlformats.org/drawingml/2006/main" noGrp="1"/>
          </p:cNvSpPr>
          <p:nvPr/>
        </p:nvSpPr>
        <p:spPr>
          <a:xfrm xmlns:a="http://schemas.openxmlformats.org/drawingml/2006/main">
            <a:off x="666750" y="1104900"/>
            <a:ext cx="10858500" cy="38100"/>
          </a:xfrm>
          <a:prstGeom xmlns:a="http://schemas.openxmlformats.org/drawingml/2006/main" prst="rect">
            <a:avLst/>
          </a:prstGeom>
          <a:solidFill xmlns:a="http://schemas.openxmlformats.org/drawingml/2006/main">
            <a:srgbClr val="176B57"/>
          </a:solidFill>
          <a:ln xmlns:a="http://schemas.openxmlformats.org/drawingml/2006/main" w="0">
            <a:solidFill>
              <a:srgbClr val="176B57"/>
            </a:solidFill>
          </a:ln>
        </p:spPr>
      </p:sp>
      <p:sp>
        <p:nvSpPr>
          <p:cNvPr id="4" name="">
            <a:extLst xmlns:a="http://schemas.openxmlformats.org/drawingml/2006/main">
              <a:ext uri="{FF2B5EF4-FFF2-40B4-BE49-F238E27FC236}">
                <a16:creationId xmlns:a16="http://schemas.microsoft.com/office/drawing/2014/main" id="{817CA1BD-41F9-4900-8CCF-FA46236EE73F}"/>
              </a:ext>
            </a:extLst>
          </p:cNvPr>
          <p:cNvSpPr>
            <a:spLocks xmlns:a="http://schemas.openxmlformats.org/drawingml/2006/main" noGrp="1"/>
          </p:cNvSpPr>
          <p:nvPr/>
        </p:nvSpPr>
        <p:spPr>
          <a:xfrm xmlns:a="http://schemas.openxmlformats.org/drawingml/2006/main">
            <a:off x="762000" y="1428750"/>
            <a:ext cx="3381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1">
                <a:solidFill>
                  <a:srgbClr val="176B57"/>
                </a:solidFill>
                <a:latin typeface="Helvetica Neue"/>
                <a:ea typeface="Helvetica Neue"/>
                <a:cs typeface="Helvetica Neue"/>
              </a:defRPr>
            </a:pPr>
            <a:r>
              <a:rPr sz="1500" b="1">
                <a:solidFill>
                  <a:srgbClr val="176B57"/>
                </a:solidFill>
                <a:latin typeface="Helvetica Neue"/>
                <a:ea typeface="Helvetica Neue"/>
                <a:cs typeface="Helvetica Neue"/>
              </a:rPr>
              <a:t>Sheets as church SSOT</a:t>
            </a:r>
          </a:p>
        </p:txBody>
      </p:sp>
      <p:sp>
        <p:nvSpPr>
          <p:cNvPr id="5" name="">
            <a:extLst xmlns:a="http://schemas.openxmlformats.org/drawingml/2006/main">
              <a:ext uri="{FF2B5EF4-FFF2-40B4-BE49-F238E27FC236}">
                <a16:creationId xmlns:a16="http://schemas.microsoft.com/office/drawing/2014/main" id="{042BE6D9-C083-4D96-AE11-80114EB65C39}"/>
              </a:ext>
            </a:extLst>
          </p:cNvPr>
          <p:cNvSpPr>
            <a:spLocks xmlns:a="http://schemas.openxmlformats.org/drawingml/2006/main" noGrp="1"/>
          </p:cNvSpPr>
          <p:nvPr/>
        </p:nvSpPr>
        <p:spPr>
          <a:xfrm xmlns:a="http://schemas.openxmlformats.org/drawingml/2006/main">
            <a:off x="4429125" y="1428750"/>
            <a:ext cx="676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172B25"/>
                </a:solidFill>
                <a:latin typeface="Helvetica Neue"/>
                <a:ea typeface="Helvetica Neue"/>
                <a:cs typeface="Helvetica Neue"/>
              </a:defRPr>
            </a:pPr>
            <a:r>
              <a:rPr sz="1350" b="0">
                <a:solidFill>
                  <a:srgbClr val="172B25"/>
                </a:solidFill>
                <a:latin typeface="Helvetica Neue"/>
                <a:ea typeface="Helvetica Neue"/>
                <a:cs typeface="Helvetica Neue"/>
              </a:rPr>
              <a:t>Frequent helper changes stay editable and calendar sync remains derived</a:t>
            </a:r>
          </a:p>
        </p:txBody>
      </p:sp>
      <p:sp>
        <p:nvSpPr>
          <p:cNvPr id="6" name="">
            <a:extLst xmlns:a="http://schemas.openxmlformats.org/drawingml/2006/main">
              <a:ext uri="{FF2B5EF4-FFF2-40B4-BE49-F238E27FC236}">
                <a16:creationId xmlns:a16="http://schemas.microsoft.com/office/drawing/2014/main" id="{D175FA49-50E9-442D-8202-CDFA4659E7E1}"/>
              </a:ext>
            </a:extLst>
          </p:cNvPr>
          <p:cNvSpPr>
            <a:spLocks xmlns:a="http://schemas.openxmlformats.org/drawingml/2006/main" noGrp="1"/>
          </p:cNvSpPr>
          <p:nvPr/>
        </p:nvSpPr>
        <p:spPr>
          <a:xfrm xmlns:a="http://schemas.openxmlformats.org/drawingml/2006/main">
            <a:off x="762000" y="2152650"/>
            <a:ext cx="10429875" cy="19050"/>
          </a:xfrm>
          <a:prstGeom xmlns:a="http://schemas.openxmlformats.org/drawingml/2006/main" prst="rect">
            <a:avLst/>
          </a:prstGeom>
          <a:solidFill xmlns:a="http://schemas.openxmlformats.org/drawingml/2006/main">
            <a:srgbClr val="BDD0C7"/>
          </a:solidFill>
          <a:ln xmlns:a="http://schemas.openxmlformats.org/drawingml/2006/main" w="0">
            <a:solidFill>
              <a:srgbClr val="BDD0C7"/>
            </a:solidFill>
          </a:ln>
        </p:spPr>
      </p:sp>
      <p:sp>
        <p:nvSpPr>
          <p:cNvPr id="7" name="">
            <a:extLst xmlns:a="http://schemas.openxmlformats.org/drawingml/2006/main">
              <a:ext uri="{FF2B5EF4-FFF2-40B4-BE49-F238E27FC236}">
                <a16:creationId xmlns:a16="http://schemas.microsoft.com/office/drawing/2014/main" id="{4B2DA43F-052F-432D-A3C4-540EB412AFE6}"/>
              </a:ext>
            </a:extLst>
          </p:cNvPr>
          <p:cNvSpPr>
            <a:spLocks xmlns:a="http://schemas.openxmlformats.org/drawingml/2006/main" noGrp="1"/>
          </p:cNvSpPr>
          <p:nvPr/>
        </p:nvSpPr>
        <p:spPr>
          <a:xfrm xmlns:a="http://schemas.openxmlformats.org/drawingml/2006/main">
            <a:off x="762000" y="2324100"/>
            <a:ext cx="3381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1">
                <a:solidFill>
                  <a:srgbClr val="176B57"/>
                </a:solidFill>
                <a:latin typeface="Helvetica Neue"/>
                <a:ea typeface="Helvetica Neue"/>
                <a:cs typeface="Helvetica Neue"/>
              </a:defRPr>
            </a:pPr>
            <a:r>
              <a:rPr sz="1500" b="1">
                <a:solidFill>
                  <a:srgbClr val="176B57"/>
                </a:solidFill>
                <a:latin typeface="Helvetica Neue"/>
                <a:ea typeface="Helvetica Neue"/>
                <a:cs typeface="Helvetica Neue"/>
              </a:rPr>
              <a:t>Typed contracts plus deterministic rules</a:t>
            </a:r>
          </a:p>
        </p:txBody>
      </p:sp>
      <p:sp>
        <p:nvSpPr>
          <p:cNvPr id="8" name="">
            <a:extLst xmlns:a="http://schemas.openxmlformats.org/drawingml/2006/main">
              <a:ext uri="{FF2B5EF4-FFF2-40B4-BE49-F238E27FC236}">
                <a16:creationId xmlns:a16="http://schemas.microsoft.com/office/drawing/2014/main" id="{69C36253-68DE-4EDF-B95B-756372FA8DB5}"/>
              </a:ext>
            </a:extLst>
          </p:cNvPr>
          <p:cNvSpPr>
            <a:spLocks xmlns:a="http://schemas.openxmlformats.org/drawingml/2006/main" noGrp="1"/>
          </p:cNvSpPr>
          <p:nvPr/>
        </p:nvSpPr>
        <p:spPr>
          <a:xfrm xmlns:a="http://schemas.openxmlformats.org/drawingml/2006/main">
            <a:off x="4429125" y="2324100"/>
            <a:ext cx="676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172B25"/>
                </a:solidFill>
                <a:latin typeface="Helvetica Neue"/>
                <a:ea typeface="Helvetica Neue"/>
                <a:cs typeface="Helvetica Neue"/>
              </a:defRPr>
            </a:pPr>
            <a:r>
              <a:rPr sz="1350" b="0">
                <a:solidFill>
                  <a:srgbClr val="172B25"/>
                </a:solidFill>
                <a:latin typeface="Helvetica Neue"/>
                <a:ea typeface="Helvetica Neue"/>
                <a:cs typeface="Helvetica Neue"/>
              </a:rPr>
              <a:t>Pydantic validates state while Python owns exact dates, permissions, and constraints</a:t>
            </a:r>
          </a:p>
        </p:txBody>
      </p:sp>
      <p:sp>
        <p:nvSpPr>
          <p:cNvPr id="9" name="">
            <a:extLst xmlns:a="http://schemas.openxmlformats.org/drawingml/2006/main">
              <a:ext uri="{FF2B5EF4-FFF2-40B4-BE49-F238E27FC236}">
                <a16:creationId xmlns:a16="http://schemas.microsoft.com/office/drawing/2014/main" id="{30B233FD-18EF-4E5A-803C-ED89016C687A}"/>
              </a:ext>
            </a:extLst>
          </p:cNvPr>
          <p:cNvSpPr>
            <a:spLocks xmlns:a="http://schemas.openxmlformats.org/drawingml/2006/main" noGrp="1"/>
          </p:cNvSpPr>
          <p:nvPr/>
        </p:nvSpPr>
        <p:spPr>
          <a:xfrm xmlns:a="http://schemas.openxmlformats.org/drawingml/2006/main">
            <a:off x="762000" y="3048000"/>
            <a:ext cx="10429875" cy="19050"/>
          </a:xfrm>
          <a:prstGeom xmlns:a="http://schemas.openxmlformats.org/drawingml/2006/main" prst="rect">
            <a:avLst/>
          </a:prstGeom>
          <a:solidFill xmlns:a="http://schemas.openxmlformats.org/drawingml/2006/main">
            <a:srgbClr val="BDD0C7"/>
          </a:solidFill>
          <a:ln xmlns:a="http://schemas.openxmlformats.org/drawingml/2006/main" w="0">
            <a:solidFill>
              <a:srgbClr val="BDD0C7"/>
            </a:solidFill>
          </a:ln>
        </p:spPr>
      </p:sp>
      <p:sp>
        <p:nvSpPr>
          <p:cNvPr id="10" name="">
            <a:extLst xmlns:a="http://schemas.openxmlformats.org/drawingml/2006/main">
              <a:ext uri="{FF2B5EF4-FFF2-40B4-BE49-F238E27FC236}">
                <a16:creationId xmlns:a16="http://schemas.microsoft.com/office/drawing/2014/main" id="{445B4F29-C91E-4553-811B-DDE2E41CC534}"/>
              </a:ext>
            </a:extLst>
          </p:cNvPr>
          <p:cNvSpPr>
            <a:spLocks xmlns:a="http://schemas.openxmlformats.org/drawingml/2006/main" noGrp="1"/>
          </p:cNvSpPr>
          <p:nvPr/>
        </p:nvSpPr>
        <p:spPr>
          <a:xfrm xmlns:a="http://schemas.openxmlformats.org/drawingml/2006/main">
            <a:off x="762000" y="3219450"/>
            <a:ext cx="3381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1">
                <a:solidFill>
                  <a:srgbClr val="176B57"/>
                </a:solidFill>
                <a:latin typeface="Helvetica Neue"/>
                <a:ea typeface="Helvetica Neue"/>
                <a:cs typeface="Helvetica Neue"/>
              </a:defRPr>
            </a:pPr>
            <a:r>
              <a:rPr sz="1500" b="1">
                <a:solidFill>
                  <a:srgbClr val="176B57"/>
                </a:solidFill>
                <a:latin typeface="Helvetica Neue"/>
                <a:ea typeface="Helvetica Neue"/>
                <a:cs typeface="Helvetica Neue"/>
              </a:rPr>
              <a:t>Local-first SQLite memory</a:t>
            </a:r>
          </a:p>
        </p:txBody>
      </p:sp>
      <p:sp>
        <p:nvSpPr>
          <p:cNvPr id="11" name="">
            <a:extLst xmlns:a="http://schemas.openxmlformats.org/drawingml/2006/main">
              <a:ext uri="{FF2B5EF4-FFF2-40B4-BE49-F238E27FC236}">
                <a16:creationId xmlns:a16="http://schemas.microsoft.com/office/drawing/2014/main" id="{1A857CC6-0472-4BAD-81E7-FEA8CF1C76AD}"/>
              </a:ext>
            </a:extLst>
          </p:cNvPr>
          <p:cNvSpPr>
            <a:spLocks xmlns:a="http://schemas.openxmlformats.org/drawingml/2006/main" noGrp="1"/>
          </p:cNvSpPr>
          <p:nvPr/>
        </p:nvSpPr>
        <p:spPr>
          <a:xfrm xmlns:a="http://schemas.openxmlformats.org/drawingml/2006/main">
            <a:off x="4429125" y="3219450"/>
            <a:ext cx="676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172B25"/>
                </a:solidFill>
                <a:latin typeface="Helvetica Neue"/>
                <a:ea typeface="Helvetica Neue"/>
                <a:cs typeface="Helvetica Neue"/>
              </a:defRPr>
            </a:pPr>
            <a:r>
              <a:rPr sz="1350" b="0">
                <a:solidFill>
                  <a:srgbClr val="172B25"/>
                </a:solidFill>
                <a:latin typeface="Helvetica Neue"/>
                <a:ea typeface="Helvetica Neue"/>
                <a:cs typeface="Helvetica Neue"/>
              </a:rPr>
              <a:t>The demo runs offline and stores approvals, traces, and domain lifecycles</a:t>
            </a:r>
          </a:p>
        </p:txBody>
      </p:sp>
      <p:sp>
        <p:nvSpPr>
          <p:cNvPr id="12" name="">
            <a:extLst xmlns:a="http://schemas.openxmlformats.org/drawingml/2006/main">
              <a:ext uri="{FF2B5EF4-FFF2-40B4-BE49-F238E27FC236}">
                <a16:creationId xmlns:a16="http://schemas.microsoft.com/office/drawing/2014/main" id="{F42E98C2-EBE4-40FA-8021-73EF720D5C31}"/>
              </a:ext>
            </a:extLst>
          </p:cNvPr>
          <p:cNvSpPr>
            <a:spLocks xmlns:a="http://schemas.openxmlformats.org/drawingml/2006/main" noGrp="1"/>
          </p:cNvSpPr>
          <p:nvPr/>
        </p:nvSpPr>
        <p:spPr>
          <a:xfrm xmlns:a="http://schemas.openxmlformats.org/drawingml/2006/main">
            <a:off x="762000" y="3943350"/>
            <a:ext cx="10429875" cy="19050"/>
          </a:xfrm>
          <a:prstGeom xmlns:a="http://schemas.openxmlformats.org/drawingml/2006/main" prst="rect">
            <a:avLst/>
          </a:prstGeom>
          <a:solidFill xmlns:a="http://schemas.openxmlformats.org/drawingml/2006/main">
            <a:srgbClr val="BDD0C7"/>
          </a:solidFill>
          <a:ln xmlns:a="http://schemas.openxmlformats.org/drawingml/2006/main" w="0">
            <a:solidFill>
              <a:srgbClr val="BDD0C7"/>
            </a:solidFill>
          </a:ln>
        </p:spPr>
      </p:sp>
      <p:sp>
        <p:nvSpPr>
          <p:cNvPr id="13" name="">
            <a:extLst xmlns:a="http://schemas.openxmlformats.org/drawingml/2006/main">
              <a:ext uri="{FF2B5EF4-FFF2-40B4-BE49-F238E27FC236}">
                <a16:creationId xmlns:a16="http://schemas.microsoft.com/office/drawing/2014/main" id="{894EE2E1-4239-4900-A4B0-C649EEB99064}"/>
              </a:ext>
            </a:extLst>
          </p:cNvPr>
          <p:cNvSpPr>
            <a:spLocks xmlns:a="http://schemas.openxmlformats.org/drawingml/2006/main" noGrp="1"/>
          </p:cNvSpPr>
          <p:nvPr/>
        </p:nvSpPr>
        <p:spPr>
          <a:xfrm xmlns:a="http://schemas.openxmlformats.org/drawingml/2006/main">
            <a:off x="762000" y="4114800"/>
            <a:ext cx="3381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1">
                <a:solidFill>
                  <a:srgbClr val="176B57"/>
                </a:solidFill>
                <a:latin typeface="Helvetica Neue"/>
                <a:ea typeface="Helvetica Neue"/>
                <a:cs typeface="Helvetica Neue"/>
              </a:defRPr>
            </a:pPr>
            <a:r>
              <a:rPr sz="1500" b="1">
                <a:solidFill>
                  <a:srgbClr val="176B57"/>
                </a:solidFill>
                <a:latin typeface="Helvetica Neue"/>
                <a:ea typeface="Helvetica Neue"/>
                <a:cs typeface="Helvetica Neue"/>
              </a:rPr>
              <a:t>One model harness</a:t>
            </a:r>
          </a:p>
        </p:txBody>
      </p:sp>
      <p:sp>
        <p:nvSpPr>
          <p:cNvPr id="14" name="">
            <a:extLst xmlns:a="http://schemas.openxmlformats.org/drawingml/2006/main">
              <a:ext uri="{FF2B5EF4-FFF2-40B4-BE49-F238E27FC236}">
                <a16:creationId xmlns:a16="http://schemas.microsoft.com/office/drawing/2014/main" id="{98F10B1B-F9D2-4E18-A250-7ABE0E01FAEE}"/>
              </a:ext>
            </a:extLst>
          </p:cNvPr>
          <p:cNvSpPr>
            <a:spLocks xmlns:a="http://schemas.openxmlformats.org/drawingml/2006/main" noGrp="1"/>
          </p:cNvSpPr>
          <p:nvPr/>
        </p:nvSpPr>
        <p:spPr>
          <a:xfrm xmlns:a="http://schemas.openxmlformats.org/drawingml/2006/main">
            <a:off x="4429125" y="4114800"/>
            <a:ext cx="676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172B25"/>
                </a:solidFill>
                <a:latin typeface="Helvetica Neue"/>
                <a:ea typeface="Helvetica Neue"/>
                <a:cs typeface="Helvetica Neue"/>
              </a:defRPr>
            </a:pPr>
            <a:r>
              <a:rPr sz="1350" b="0">
                <a:solidFill>
                  <a:srgbClr val="172B25"/>
                </a:solidFill>
                <a:latin typeface="Helvetica Neue"/>
                <a:ea typeface="Helvetica Neue"/>
                <a:cs typeface="Helvetica Neue"/>
              </a:rPr>
              <a:t>OpenAI Agents SDK adds reasoning without overlapping LangChain or CrewAI control planes</a:t>
            </a:r>
          </a:p>
        </p:txBody>
      </p:sp>
      <p:sp>
        <p:nvSpPr>
          <p:cNvPr id="15" name="">
            <a:extLst xmlns:a="http://schemas.openxmlformats.org/drawingml/2006/main">
              <a:ext uri="{FF2B5EF4-FFF2-40B4-BE49-F238E27FC236}">
                <a16:creationId xmlns:a16="http://schemas.microsoft.com/office/drawing/2014/main" id="{C2B9C0D6-3391-4F1A-AD4D-CBD68DAA3FEA}"/>
              </a:ext>
            </a:extLst>
          </p:cNvPr>
          <p:cNvSpPr>
            <a:spLocks xmlns:a="http://schemas.openxmlformats.org/drawingml/2006/main" noGrp="1"/>
          </p:cNvSpPr>
          <p:nvPr/>
        </p:nvSpPr>
        <p:spPr>
          <a:xfrm xmlns:a="http://schemas.openxmlformats.org/drawingml/2006/main">
            <a:off x="762000" y="4838700"/>
            <a:ext cx="10429875" cy="19050"/>
          </a:xfrm>
          <a:prstGeom xmlns:a="http://schemas.openxmlformats.org/drawingml/2006/main" prst="rect">
            <a:avLst/>
          </a:prstGeom>
          <a:solidFill xmlns:a="http://schemas.openxmlformats.org/drawingml/2006/main">
            <a:srgbClr val="BDD0C7"/>
          </a:solidFill>
          <a:ln xmlns:a="http://schemas.openxmlformats.org/drawingml/2006/main" w="0">
            <a:solidFill>
              <a:srgbClr val="BDD0C7"/>
            </a:solidFill>
          </a:ln>
        </p:spPr>
      </p:sp>
      <p:sp>
        <p:nvSpPr>
          <p:cNvPr id="16" name="">
            <a:extLst xmlns:a="http://schemas.openxmlformats.org/drawingml/2006/main">
              <a:ext uri="{FF2B5EF4-FFF2-40B4-BE49-F238E27FC236}">
                <a16:creationId xmlns:a16="http://schemas.microsoft.com/office/drawing/2014/main" id="{15B1A75F-52C0-477C-ADBA-BAF1C87579FC}"/>
              </a:ext>
            </a:extLst>
          </p:cNvPr>
          <p:cNvSpPr>
            <a:spLocks xmlns:a="http://schemas.openxmlformats.org/drawingml/2006/main" noGrp="1"/>
          </p:cNvSpPr>
          <p:nvPr/>
        </p:nvSpPr>
        <p:spPr>
          <a:xfrm xmlns:a="http://schemas.openxmlformats.org/drawingml/2006/main">
            <a:off x="762000" y="5010150"/>
            <a:ext cx="3381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1">
                <a:solidFill>
                  <a:srgbClr val="176B57"/>
                </a:solidFill>
                <a:latin typeface="Helvetica Neue"/>
                <a:ea typeface="Helvetica Neue"/>
                <a:cs typeface="Helvetica Neue"/>
              </a:defRPr>
            </a:pPr>
            <a:r>
              <a:rPr sz="1500" b="1">
                <a:solidFill>
                  <a:srgbClr val="176B57"/>
                </a:solidFill>
                <a:latin typeface="Helvetica Neue"/>
                <a:ea typeface="Helvetica Neue"/>
                <a:cs typeface="Helvetica Neue"/>
              </a:rPr>
              <a:t>Synthetic demo records</a:t>
            </a:r>
          </a:p>
        </p:txBody>
      </p:sp>
      <p:sp>
        <p:nvSpPr>
          <p:cNvPr id="17" name="">
            <a:extLst xmlns:a="http://schemas.openxmlformats.org/drawingml/2006/main">
              <a:ext uri="{FF2B5EF4-FFF2-40B4-BE49-F238E27FC236}">
                <a16:creationId xmlns:a16="http://schemas.microsoft.com/office/drawing/2014/main" id="{F42BA49B-7DD4-48A7-B980-245EB732F14D}"/>
              </a:ext>
            </a:extLst>
          </p:cNvPr>
          <p:cNvSpPr>
            <a:spLocks xmlns:a="http://schemas.openxmlformats.org/drawingml/2006/main" noGrp="1"/>
          </p:cNvSpPr>
          <p:nvPr/>
        </p:nvSpPr>
        <p:spPr>
          <a:xfrm xmlns:a="http://schemas.openxmlformats.org/drawingml/2006/main">
            <a:off x="4429125" y="5010150"/>
            <a:ext cx="676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172B25"/>
                </a:solidFill>
                <a:latin typeface="Helvetica Neue"/>
                <a:ea typeface="Helvetica Neue"/>
                <a:cs typeface="Helvetica Neue"/>
              </a:defRPr>
            </a:pPr>
            <a:r>
              <a:rPr sz="1350" b="0">
                <a:solidFill>
                  <a:srgbClr val="172B25"/>
                </a:solidFill>
                <a:latin typeface="Helvetica Neue"/>
                <a:ea typeface="Helvetica Neue"/>
                <a:cs typeface="Helvetica Neue"/>
              </a:rPr>
              <a:t>A reproducible demonstration avoids publishing private household details</a:t>
            </a:r>
          </a:p>
        </p:txBody>
      </p:sp>
    </p:spTree>
    <p:extLst>
      <p:ext uri="{BB962C8B-B14F-4D97-AF65-F5344CB8AC3E}">
        <p14:creationId xmlns:p14="http://schemas.microsoft.com/office/powerpoint/2010/main" val="2024266487"/>
      </p:ext>
    </p:extLst>
  </p:cSld>
</p:sld>
</file>

<file path=ppt/slides/slide7.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B4DF3951-52BF-4340-83D2-146F651A868F}"/>
              </a:ext>
            </a:extLst>
          </p:cNvPr>
          <p:cNvSpPr>
            <a:spLocks xmlns:a="http://schemas.openxmlformats.org/drawingml/2006/main" noGrp="1"/>
          </p:cNvSpPr>
          <p:nvPr/>
        </p:nvSpPr>
        <p:spPr>
          <a:xfrm xmlns:a="http://schemas.openxmlformats.org/drawingml/2006/main">
            <a:off x="666750" y="400050"/>
            <a:ext cx="9810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625" b="1">
                <a:solidFill>
                  <a:srgbClr val="172B25"/>
                </a:solidFill>
                <a:latin typeface="Helvetica Neue"/>
                <a:ea typeface="Helvetica Neue"/>
                <a:cs typeface="Helvetica Neue"/>
              </a:defRPr>
            </a:pPr>
            <a:r>
              <a:rPr sz="2625" b="1">
                <a:solidFill>
                  <a:srgbClr val="172B25"/>
                </a:solidFill>
                <a:latin typeface="Helvetica Neue"/>
                <a:ea typeface="Helvetica Neue"/>
                <a:cs typeface="Helvetica Neue"/>
              </a:rPr>
              <a:t>Evaluation approach and results</a:t>
            </a:r>
          </a:p>
        </p:txBody>
      </p:sp>
      <p:sp>
        <p:nvSpPr>
          <p:cNvPr id="2" name="">
            <a:extLst xmlns:a="http://schemas.openxmlformats.org/drawingml/2006/main">
              <a:ext uri="{FF2B5EF4-FFF2-40B4-BE49-F238E27FC236}">
                <a16:creationId xmlns:a16="http://schemas.microsoft.com/office/drawing/2014/main" id="{8F05CF3D-712A-4807-9787-0AD2DAC91112}"/>
              </a:ext>
            </a:extLst>
          </p:cNvPr>
          <p:cNvSpPr>
            <a:spLocks xmlns:a="http://schemas.openxmlformats.org/drawingml/2006/main" noGrp="1"/>
          </p:cNvSpPr>
          <p:nvPr/>
        </p:nvSpPr>
        <p:spPr>
          <a:xfrm xmlns:a="http://schemas.openxmlformats.org/drawingml/2006/main">
            <a:off x="11144250" y="476250"/>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a:solidFill>
                  <a:srgbClr val="176B57"/>
                </a:solidFill>
                <a:latin typeface="Helvetica Neue"/>
                <a:ea typeface="Helvetica Neue"/>
                <a:cs typeface="Helvetica Neue"/>
              </a:defRPr>
            </a:pPr>
            <a:r>
              <a:rPr sz="1200" b="1">
                <a:solidFill>
                  <a:srgbClr val="176B57"/>
                </a:solidFill>
                <a:latin typeface="Helvetica Neue"/>
                <a:ea typeface="Helvetica Neue"/>
                <a:cs typeface="Helvetica Neue"/>
              </a:rPr>
              <a:t>07</a:t>
            </a:r>
          </a:p>
        </p:txBody>
      </p:sp>
      <p:sp>
        <p:nvSpPr>
          <p:cNvPr id="3" name="">
            <a:extLst xmlns:a="http://schemas.openxmlformats.org/drawingml/2006/main">
              <a:ext uri="{FF2B5EF4-FFF2-40B4-BE49-F238E27FC236}">
                <a16:creationId xmlns:a16="http://schemas.microsoft.com/office/drawing/2014/main" id="{E89A26C2-FA99-455B-9E1C-15AFFC9CA9A1}"/>
              </a:ext>
            </a:extLst>
          </p:cNvPr>
          <p:cNvSpPr>
            <a:spLocks xmlns:a="http://schemas.openxmlformats.org/drawingml/2006/main" noGrp="1"/>
          </p:cNvSpPr>
          <p:nvPr/>
        </p:nvSpPr>
        <p:spPr>
          <a:xfrm xmlns:a="http://schemas.openxmlformats.org/drawingml/2006/main">
            <a:off x="666750" y="1104900"/>
            <a:ext cx="10858500" cy="38100"/>
          </a:xfrm>
          <a:prstGeom xmlns:a="http://schemas.openxmlformats.org/drawingml/2006/main" prst="rect">
            <a:avLst/>
          </a:prstGeom>
          <a:solidFill xmlns:a="http://schemas.openxmlformats.org/drawingml/2006/main">
            <a:srgbClr val="176B57"/>
          </a:solidFill>
          <a:ln xmlns:a="http://schemas.openxmlformats.org/drawingml/2006/main" w="0">
            <a:solidFill>
              <a:srgbClr val="176B57"/>
            </a:solidFill>
          </a:ln>
        </p:spPr>
      </p:sp>
      <p:graphicFrame>
        <p:nvGraphicFramePr>
          <p:cNvPr id="18" name="Chart"/>
          <p:cNvGraphicFramePr/>
          <p:nvPr/>
        </p:nvGraphicFramePr>
        <p:xfrm>
          <a:off xmlns:a="http://schemas.openxmlformats.org/drawingml/2006/main" x="714375" y="1619250"/>
          <a:ext xmlns:a="http://schemas.openxmlformats.org/drawingml/2006/main" cx="6667500" cy="3714750"/>
        </p:xfrm>
        <a:graphic xmlns:a="http://schemas.openxmlformats.org/drawingml/2006/main">
          <a:graphicData uri="http://schemas.openxmlformats.org/drawingml/2006/chart">
            <c:chart xmlns:r="http://schemas.openxmlformats.org/officeDocument/2006/relationships" xmlns:c="http://schemas.openxmlformats.org/drawingml/2006/chart" r:id="R7a05ebf63e2c407a"/>
          </a:graphicData>
        </a:graphic>
      </p:graphicFrame>
      <p:sp>
        <p:nvSpPr>
          <p:cNvPr id="5" name="">
            <a:extLst xmlns:a="http://schemas.openxmlformats.org/drawingml/2006/main">
              <a:ext uri="{FF2B5EF4-FFF2-40B4-BE49-F238E27FC236}">
                <a16:creationId xmlns:a16="http://schemas.microsoft.com/office/drawing/2014/main" id="{027D4E3E-DDDE-42D7-A544-2897BD786250}"/>
              </a:ext>
            </a:extLst>
          </p:cNvPr>
          <p:cNvSpPr>
            <a:spLocks xmlns:a="http://schemas.openxmlformats.org/drawingml/2006/main" noGrp="1"/>
          </p:cNvSpPr>
          <p:nvPr/>
        </p:nvSpPr>
        <p:spPr>
          <a:xfrm xmlns:a="http://schemas.openxmlformats.org/drawingml/2006/main">
            <a:off x="7858125" y="1685925"/>
            <a:ext cx="3381375" cy="1000125"/>
          </a:xfrm>
          <a:prstGeom xmlns:a="http://schemas.openxmlformats.org/drawingml/2006/main" prst="roundRect">
            <a:avLst>
              <a:gd name="adj" fmla="val 7619"/>
            </a:avLst>
          </a:prstGeom>
          <a:solidFill xmlns:a="http://schemas.openxmlformats.org/drawingml/2006/main">
            <a:srgbClr val="DCEDE6"/>
          </a:solidFill>
          <a:ln xmlns:a="http://schemas.openxmlformats.org/drawingml/2006/main" w="9525">
            <a:solidFill>
              <a:srgbClr val="BDD0C7"/>
            </a:solidFill>
          </a:ln>
        </p:spPr>
      </p:sp>
      <p:sp>
        <p:nvSpPr>
          <p:cNvPr id="6" name="">
            <a:extLst xmlns:a="http://schemas.openxmlformats.org/drawingml/2006/main">
              <a:ext uri="{FF2B5EF4-FFF2-40B4-BE49-F238E27FC236}">
                <a16:creationId xmlns:a16="http://schemas.microsoft.com/office/drawing/2014/main" id="{D538B60F-EC17-4873-B586-F09FEEAF05E5}"/>
              </a:ext>
            </a:extLst>
          </p:cNvPr>
          <p:cNvSpPr>
            <a:spLocks xmlns:a="http://schemas.openxmlformats.org/drawingml/2006/main" noGrp="1"/>
          </p:cNvSpPr>
          <p:nvPr/>
        </p:nvSpPr>
        <p:spPr>
          <a:xfrm xmlns:a="http://schemas.openxmlformats.org/drawingml/2006/main">
            <a:off x="8096250" y="1809750"/>
            <a:ext cx="2905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000"/>
          </a:bodyPr>
          <a:lstStyle xmlns:a="http://schemas.openxmlformats.org/drawingml/2006/main"/>
          <a:p xmlns:a="http://schemas.openxmlformats.org/drawingml/2006/main">
            <a:pPr>
              <a:defRPr sz="2250" b="1">
                <a:solidFill>
                  <a:srgbClr val="176B57"/>
                </a:solidFill>
                <a:latin typeface="Helvetica Neue"/>
                <a:ea typeface="Helvetica Neue"/>
                <a:cs typeface="Helvetica Neue"/>
              </a:defRPr>
            </a:pPr>
            <a:r>
              <a:rPr sz="2250" b="1">
                <a:solidFill>
                  <a:srgbClr val="176B57"/>
                </a:solidFill>
                <a:latin typeface="Helvetica Neue"/>
                <a:ea typeface="Helvetica Neue"/>
                <a:cs typeface="Helvetica Neue"/>
              </a:rPr>
              <a:t>31 / 31</a:t>
            </a:r>
          </a:p>
        </p:txBody>
      </p:sp>
      <p:sp>
        <p:nvSpPr>
          <p:cNvPr id="7" name="">
            <a:extLst xmlns:a="http://schemas.openxmlformats.org/drawingml/2006/main">
              <a:ext uri="{FF2B5EF4-FFF2-40B4-BE49-F238E27FC236}">
                <a16:creationId xmlns:a16="http://schemas.microsoft.com/office/drawing/2014/main" id="{65A190D1-E80E-4BEA-9170-F95C368C9947}"/>
              </a:ext>
            </a:extLst>
          </p:cNvPr>
          <p:cNvSpPr>
            <a:spLocks xmlns:a="http://schemas.openxmlformats.org/drawingml/2006/main" noGrp="1"/>
          </p:cNvSpPr>
          <p:nvPr/>
        </p:nvSpPr>
        <p:spPr>
          <a:xfrm xmlns:a="http://schemas.openxmlformats.org/drawingml/2006/main">
            <a:off x="8096250" y="2238375"/>
            <a:ext cx="2905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490"/>
          </a:bodyPr>
          <a:lstStyle xmlns:a="http://schemas.openxmlformats.org/drawingml/2006/main"/>
          <a:p xmlns:a="http://schemas.openxmlformats.org/drawingml/2006/main">
            <a:pPr>
              <a:defRPr sz="1275" b="0">
                <a:solidFill>
                  <a:srgbClr val="61706A"/>
                </a:solidFill>
                <a:latin typeface="Helvetica Neue"/>
                <a:ea typeface="Helvetica Neue"/>
                <a:cs typeface="Helvetica Neue"/>
              </a:defRPr>
            </a:pPr>
            <a:r>
              <a:rPr sz="1275" b="0">
                <a:solidFill>
                  <a:srgbClr val="61706A"/>
                </a:solidFill>
                <a:latin typeface="Helvetica Neue"/>
                <a:ea typeface="Helvetica Neue"/>
                <a:cs typeface="Helvetica Neue"/>
              </a:rPr>
              <a:t>unit tests passed</a:t>
            </a:r>
          </a:p>
        </p:txBody>
      </p:sp>
      <p:sp>
        <p:nvSpPr>
          <p:cNvPr id="8" name="">
            <a:extLst xmlns:a="http://schemas.openxmlformats.org/drawingml/2006/main">
              <a:ext uri="{FF2B5EF4-FFF2-40B4-BE49-F238E27FC236}">
                <a16:creationId xmlns:a16="http://schemas.microsoft.com/office/drawing/2014/main" id="{08865C5A-F16E-4415-8395-DD128E50D963}"/>
              </a:ext>
            </a:extLst>
          </p:cNvPr>
          <p:cNvSpPr>
            <a:spLocks xmlns:a="http://schemas.openxmlformats.org/drawingml/2006/main" noGrp="1"/>
          </p:cNvSpPr>
          <p:nvPr/>
        </p:nvSpPr>
        <p:spPr>
          <a:xfrm xmlns:a="http://schemas.openxmlformats.org/drawingml/2006/main">
            <a:off x="7858125" y="2876550"/>
            <a:ext cx="3381375" cy="1000125"/>
          </a:xfrm>
          <a:prstGeom xmlns:a="http://schemas.openxmlformats.org/drawingml/2006/main" prst="roundRect">
            <a:avLst>
              <a:gd name="adj" fmla="val 7619"/>
            </a:avLst>
          </a:prstGeom>
          <a:solidFill xmlns:a="http://schemas.openxmlformats.org/drawingml/2006/main">
            <a:srgbClr val="FFFFFF"/>
          </a:solidFill>
          <a:ln xmlns:a="http://schemas.openxmlformats.org/drawingml/2006/main" w="9525">
            <a:solidFill>
              <a:srgbClr val="BDD0C7"/>
            </a:solidFill>
          </a:ln>
        </p:spPr>
      </p:sp>
      <p:sp>
        <p:nvSpPr>
          <p:cNvPr id="9" name="">
            <a:extLst xmlns:a="http://schemas.openxmlformats.org/drawingml/2006/main">
              <a:ext uri="{FF2B5EF4-FFF2-40B4-BE49-F238E27FC236}">
                <a16:creationId xmlns:a16="http://schemas.microsoft.com/office/drawing/2014/main" id="{196A90D8-FD1A-4980-A070-224844DD05E7}"/>
              </a:ext>
            </a:extLst>
          </p:cNvPr>
          <p:cNvSpPr>
            <a:spLocks xmlns:a="http://schemas.openxmlformats.org/drawingml/2006/main" noGrp="1"/>
          </p:cNvSpPr>
          <p:nvPr/>
        </p:nvSpPr>
        <p:spPr>
          <a:xfrm xmlns:a="http://schemas.openxmlformats.org/drawingml/2006/main">
            <a:off x="8096250" y="3000375"/>
            <a:ext cx="2905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000"/>
          </a:bodyPr>
          <a:lstStyle xmlns:a="http://schemas.openxmlformats.org/drawingml/2006/main"/>
          <a:p xmlns:a="http://schemas.openxmlformats.org/drawingml/2006/main">
            <a:pPr>
              <a:defRPr sz="2250" b="1">
                <a:solidFill>
                  <a:srgbClr val="176B57"/>
                </a:solidFill>
                <a:latin typeface="Helvetica Neue"/>
                <a:ea typeface="Helvetica Neue"/>
                <a:cs typeface="Helvetica Neue"/>
              </a:defRPr>
            </a:pPr>
            <a:r>
              <a:rPr sz="2250" b="1">
                <a:solidFill>
                  <a:srgbClr val="176B57"/>
                </a:solidFill>
                <a:latin typeface="Helvetica Neue"/>
                <a:ea typeface="Helvetica Neue"/>
                <a:cs typeface="Helvetica Neue"/>
              </a:rPr>
              <a:t>20 / 20</a:t>
            </a:r>
          </a:p>
        </p:txBody>
      </p:sp>
      <p:sp>
        <p:nvSpPr>
          <p:cNvPr id="10" name="">
            <a:extLst xmlns:a="http://schemas.openxmlformats.org/drawingml/2006/main">
              <a:ext uri="{FF2B5EF4-FFF2-40B4-BE49-F238E27FC236}">
                <a16:creationId xmlns:a16="http://schemas.microsoft.com/office/drawing/2014/main" id="{CB0DD316-11EF-49D9-8B22-6BC240A958C2}"/>
              </a:ext>
            </a:extLst>
          </p:cNvPr>
          <p:cNvSpPr>
            <a:spLocks xmlns:a="http://schemas.openxmlformats.org/drawingml/2006/main" noGrp="1"/>
          </p:cNvSpPr>
          <p:nvPr/>
        </p:nvSpPr>
        <p:spPr>
          <a:xfrm xmlns:a="http://schemas.openxmlformats.org/drawingml/2006/main">
            <a:off x="8096250" y="3429000"/>
            <a:ext cx="2905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490"/>
          </a:bodyPr>
          <a:lstStyle xmlns:a="http://schemas.openxmlformats.org/drawingml/2006/main"/>
          <a:p xmlns:a="http://schemas.openxmlformats.org/drawingml/2006/main">
            <a:pPr>
              <a:defRPr sz="1275" b="0">
                <a:solidFill>
                  <a:srgbClr val="61706A"/>
                </a:solidFill>
                <a:latin typeface="Helvetica Neue"/>
                <a:ea typeface="Helvetica Neue"/>
                <a:cs typeface="Helvetica Neue"/>
              </a:defRPr>
            </a:pPr>
            <a:r>
              <a:rPr sz="1275" b="0">
                <a:solidFill>
                  <a:srgbClr val="61706A"/>
                </a:solidFill>
                <a:latin typeface="Helvetica Neue"/>
                <a:ea typeface="Helvetica Neue"/>
                <a:cs typeface="Helvetica Neue"/>
              </a:rPr>
              <a:t>benchmark scenarios passed</a:t>
            </a:r>
          </a:p>
        </p:txBody>
      </p:sp>
      <p:sp>
        <p:nvSpPr>
          <p:cNvPr id="11" name="">
            <a:extLst xmlns:a="http://schemas.openxmlformats.org/drawingml/2006/main">
              <a:ext uri="{FF2B5EF4-FFF2-40B4-BE49-F238E27FC236}">
                <a16:creationId xmlns:a16="http://schemas.microsoft.com/office/drawing/2014/main" id="{ECC3261E-E30F-4348-9DC9-891336637380}"/>
              </a:ext>
            </a:extLst>
          </p:cNvPr>
          <p:cNvSpPr>
            <a:spLocks xmlns:a="http://schemas.openxmlformats.org/drawingml/2006/main" noGrp="1"/>
          </p:cNvSpPr>
          <p:nvPr/>
        </p:nvSpPr>
        <p:spPr>
          <a:xfrm xmlns:a="http://schemas.openxmlformats.org/drawingml/2006/main">
            <a:off x="7858125" y="4067175"/>
            <a:ext cx="3381375" cy="1000125"/>
          </a:xfrm>
          <a:prstGeom xmlns:a="http://schemas.openxmlformats.org/drawingml/2006/main" prst="roundRect">
            <a:avLst>
              <a:gd name="adj" fmla="val 7619"/>
            </a:avLst>
          </a:prstGeom>
          <a:solidFill xmlns:a="http://schemas.openxmlformats.org/drawingml/2006/main">
            <a:srgbClr val="FFFFFF"/>
          </a:solidFill>
          <a:ln xmlns:a="http://schemas.openxmlformats.org/drawingml/2006/main" w="9525">
            <a:solidFill>
              <a:srgbClr val="BDD0C7"/>
            </a:solidFill>
          </a:ln>
        </p:spPr>
      </p:sp>
      <p:sp>
        <p:nvSpPr>
          <p:cNvPr id="12" name="">
            <a:extLst xmlns:a="http://schemas.openxmlformats.org/drawingml/2006/main">
              <a:ext uri="{FF2B5EF4-FFF2-40B4-BE49-F238E27FC236}">
                <a16:creationId xmlns:a16="http://schemas.microsoft.com/office/drawing/2014/main" id="{107F3BC0-E79F-4013-80A2-EF9B4079A400}"/>
              </a:ext>
            </a:extLst>
          </p:cNvPr>
          <p:cNvSpPr>
            <a:spLocks xmlns:a="http://schemas.openxmlformats.org/drawingml/2006/main" noGrp="1"/>
          </p:cNvSpPr>
          <p:nvPr/>
        </p:nvSpPr>
        <p:spPr>
          <a:xfrm xmlns:a="http://schemas.openxmlformats.org/drawingml/2006/main">
            <a:off x="8096250" y="4191000"/>
            <a:ext cx="2905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000"/>
          </a:bodyPr>
          <a:lstStyle xmlns:a="http://schemas.openxmlformats.org/drawingml/2006/main"/>
          <a:p xmlns:a="http://schemas.openxmlformats.org/drawingml/2006/main">
            <a:pPr>
              <a:defRPr sz="2250" b="1">
                <a:solidFill>
                  <a:srgbClr val="E97962"/>
                </a:solidFill>
                <a:latin typeface="Helvetica Neue"/>
                <a:ea typeface="Helvetica Neue"/>
                <a:cs typeface="Helvetica Neue"/>
              </a:defRPr>
            </a:pPr>
            <a:r>
              <a:rPr sz="2250" b="1">
                <a:solidFill>
                  <a:srgbClr val="E97962"/>
                </a:solidFill>
                <a:latin typeface="Helvetica Neue"/>
                <a:ea typeface="Helvetica Neue"/>
                <a:cs typeface="Helvetica Neue"/>
              </a:rPr>
              <a:t>0%</a:t>
            </a:r>
          </a:p>
        </p:txBody>
      </p:sp>
      <p:sp>
        <p:nvSpPr>
          <p:cNvPr id="13" name="">
            <a:extLst xmlns:a="http://schemas.openxmlformats.org/drawingml/2006/main">
              <a:ext uri="{FF2B5EF4-FFF2-40B4-BE49-F238E27FC236}">
                <a16:creationId xmlns:a16="http://schemas.microsoft.com/office/drawing/2014/main" id="{0CE7C93E-AD0D-43F5-8670-A2A3B5130859}"/>
              </a:ext>
            </a:extLst>
          </p:cNvPr>
          <p:cNvSpPr>
            <a:spLocks xmlns:a="http://schemas.openxmlformats.org/drawingml/2006/main" noGrp="1"/>
          </p:cNvSpPr>
          <p:nvPr/>
        </p:nvSpPr>
        <p:spPr>
          <a:xfrm xmlns:a="http://schemas.openxmlformats.org/drawingml/2006/main">
            <a:off x="8096250" y="4619625"/>
            <a:ext cx="2905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490"/>
          </a:bodyPr>
          <a:lstStyle xmlns:a="http://schemas.openxmlformats.org/drawingml/2006/main"/>
          <a:p xmlns:a="http://schemas.openxmlformats.org/drawingml/2006/main">
            <a:pPr>
              <a:defRPr sz="1275" b="0">
                <a:solidFill>
                  <a:srgbClr val="61706A"/>
                </a:solidFill>
                <a:latin typeface="Helvetica Neue"/>
                <a:ea typeface="Helvetica Neue"/>
                <a:cs typeface="Helvetica Neue"/>
              </a:defRPr>
            </a:pPr>
            <a:r>
              <a:rPr sz="1275" b="0">
                <a:solidFill>
                  <a:srgbClr val="61706A"/>
                </a:solidFill>
                <a:latin typeface="Helvetica Neue"/>
                <a:ea typeface="Helvetica Neue"/>
                <a:cs typeface="Helvetica Neue"/>
              </a:rPr>
              <a:t>unsafe-action rate</a:t>
            </a:r>
          </a:p>
        </p:txBody>
      </p:sp>
      <p:sp>
        <p:nvSpPr>
          <p:cNvPr id="14" name="">
            <a:extLst xmlns:a="http://schemas.openxmlformats.org/drawingml/2006/main">
              <a:ext uri="{FF2B5EF4-FFF2-40B4-BE49-F238E27FC236}">
                <a16:creationId xmlns:a16="http://schemas.microsoft.com/office/drawing/2014/main" id="{1B64000E-98F6-491A-A71E-601B21865D61}"/>
              </a:ext>
            </a:extLst>
          </p:cNvPr>
          <p:cNvSpPr>
            <a:spLocks xmlns:a="http://schemas.openxmlformats.org/drawingml/2006/main" noGrp="1"/>
          </p:cNvSpPr>
          <p:nvPr/>
        </p:nvSpPr>
        <p:spPr>
          <a:xfrm xmlns:a="http://schemas.openxmlformats.org/drawingml/2006/main">
            <a:off x="1095375" y="56959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61706A"/>
                </a:solidFill>
                <a:latin typeface="Helvetica Neue"/>
                <a:ea typeface="Helvetica Neue"/>
                <a:cs typeface="Helvetica Neue"/>
              </a:defRPr>
            </a:pPr>
            <a:r>
              <a:rPr sz="1425" b="0">
                <a:solidFill>
                  <a:srgbClr val="61706A"/>
                </a:solidFill>
                <a:latin typeface="Helvetica Neue"/>
                <a:ea typeface="Helvetica Neue"/>
                <a:cs typeface="Helvetica Neue"/>
              </a:rPr>
              <a:t>Synthetic fixtures test correctness. A longitudinal user study is still pending.</a:t>
            </a:r>
          </a:p>
        </p:txBody>
      </p:sp>
    </p:spTree>
    <p:extLst>
      <p:ext uri="{BB962C8B-B14F-4D97-AF65-F5344CB8AC3E}">
        <p14:creationId xmlns:p14="http://schemas.microsoft.com/office/powerpoint/2010/main" val="566444435"/>
      </p:ext>
    </p:extLst>
  </p:cSld>
</p:sld>
</file>

<file path=ppt/slides/slide8.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4A2B19C-0DCA-4051-8427-28AF3B2D3F69}"/>
              </a:ext>
            </a:extLst>
          </p:cNvPr>
          <p:cNvSpPr>
            <a:spLocks xmlns:a="http://schemas.openxmlformats.org/drawingml/2006/main" noGrp="1"/>
          </p:cNvSpPr>
          <p:nvPr/>
        </p:nvSpPr>
        <p:spPr>
          <a:xfrm xmlns:a="http://schemas.openxmlformats.org/drawingml/2006/main">
            <a:off x="666750" y="400050"/>
            <a:ext cx="9810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625" b="1">
                <a:solidFill>
                  <a:srgbClr val="172B25"/>
                </a:solidFill>
                <a:latin typeface="Helvetica Neue"/>
                <a:ea typeface="Helvetica Neue"/>
                <a:cs typeface="Helvetica Neue"/>
              </a:defRPr>
            </a:pPr>
            <a:r>
              <a:rPr sz="2625" b="1">
                <a:solidFill>
                  <a:srgbClr val="172B25"/>
                </a:solidFill>
                <a:latin typeface="Helvetica Neue"/>
                <a:ea typeface="Helvetica Neue"/>
                <a:cs typeface="Helvetica Neue"/>
              </a:rPr>
              <a:t>Public repository and reproducibility</a:t>
            </a:r>
          </a:p>
        </p:txBody>
      </p:sp>
      <p:sp>
        <p:nvSpPr>
          <p:cNvPr id="2" name="">
            <a:extLst xmlns:a="http://schemas.openxmlformats.org/drawingml/2006/main">
              <a:ext uri="{FF2B5EF4-FFF2-40B4-BE49-F238E27FC236}">
                <a16:creationId xmlns:a16="http://schemas.microsoft.com/office/drawing/2014/main" id="{566C79E7-67E6-40EF-96A5-BC8E88435B56}"/>
              </a:ext>
            </a:extLst>
          </p:cNvPr>
          <p:cNvSpPr>
            <a:spLocks xmlns:a="http://schemas.openxmlformats.org/drawingml/2006/main" noGrp="1"/>
          </p:cNvSpPr>
          <p:nvPr/>
        </p:nvSpPr>
        <p:spPr>
          <a:xfrm xmlns:a="http://schemas.openxmlformats.org/drawingml/2006/main">
            <a:off x="11144250" y="476250"/>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a:solidFill>
                  <a:srgbClr val="176B57"/>
                </a:solidFill>
                <a:latin typeface="Helvetica Neue"/>
                <a:ea typeface="Helvetica Neue"/>
                <a:cs typeface="Helvetica Neue"/>
              </a:defRPr>
            </a:pPr>
            <a:r>
              <a:rPr sz="1200" b="1">
                <a:solidFill>
                  <a:srgbClr val="176B57"/>
                </a:solidFill>
                <a:latin typeface="Helvetica Neue"/>
                <a:ea typeface="Helvetica Neue"/>
                <a:cs typeface="Helvetica Neue"/>
              </a:rPr>
              <a:t>08</a:t>
            </a:r>
          </a:p>
        </p:txBody>
      </p:sp>
      <p:sp>
        <p:nvSpPr>
          <p:cNvPr id="3" name="">
            <a:extLst xmlns:a="http://schemas.openxmlformats.org/drawingml/2006/main">
              <a:ext uri="{FF2B5EF4-FFF2-40B4-BE49-F238E27FC236}">
                <a16:creationId xmlns:a16="http://schemas.microsoft.com/office/drawing/2014/main" id="{301E7A3F-A589-4859-80B4-21D99778265D}"/>
              </a:ext>
            </a:extLst>
          </p:cNvPr>
          <p:cNvSpPr>
            <a:spLocks xmlns:a="http://schemas.openxmlformats.org/drawingml/2006/main" noGrp="1"/>
          </p:cNvSpPr>
          <p:nvPr/>
        </p:nvSpPr>
        <p:spPr>
          <a:xfrm xmlns:a="http://schemas.openxmlformats.org/drawingml/2006/main">
            <a:off x="666750" y="1104900"/>
            <a:ext cx="10858500" cy="38100"/>
          </a:xfrm>
          <a:prstGeom xmlns:a="http://schemas.openxmlformats.org/drawingml/2006/main" prst="rect">
            <a:avLst/>
          </a:prstGeom>
          <a:solidFill xmlns:a="http://schemas.openxmlformats.org/drawingml/2006/main">
            <a:srgbClr val="176B57"/>
          </a:solidFill>
          <a:ln xmlns:a="http://schemas.openxmlformats.org/drawingml/2006/main" w="0">
            <a:solidFill>
              <a:srgbClr val="176B57"/>
            </a:solidFill>
          </a:ln>
        </p:spPr>
      </p:sp>
      <p:sp>
        <p:nvSpPr>
          <p:cNvPr id="4" name="">
            <a:extLst xmlns:a="http://schemas.openxmlformats.org/drawingml/2006/main">
              <a:ext uri="{FF2B5EF4-FFF2-40B4-BE49-F238E27FC236}">
                <a16:creationId xmlns:a16="http://schemas.microsoft.com/office/drawing/2014/main" id="{F91C33C4-0A13-4EBD-AFAD-1440C1AA1650}"/>
              </a:ext>
            </a:extLst>
          </p:cNvPr>
          <p:cNvSpPr>
            <a:spLocks xmlns:a="http://schemas.openxmlformats.org/drawingml/2006/main" noGrp="1"/>
          </p:cNvSpPr>
          <p:nvPr/>
        </p:nvSpPr>
        <p:spPr>
          <a:xfrm xmlns:a="http://schemas.openxmlformats.org/drawingml/2006/main">
            <a:off x="762000" y="1524000"/>
            <a:ext cx="285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1">
                <a:solidFill>
                  <a:srgbClr val="176B57"/>
                </a:solidFill>
                <a:latin typeface="Helvetica Neue"/>
                <a:ea typeface="Helvetica Neue"/>
                <a:cs typeface="Helvetica Neue"/>
              </a:defRPr>
            </a:pPr>
            <a:r>
              <a:rPr sz="1275" b="1">
                <a:solidFill>
                  <a:srgbClr val="176B57"/>
                </a:solidFill>
                <a:latin typeface="Helvetica Neue"/>
                <a:ea typeface="Helvetica Neue"/>
                <a:cs typeface="Helvetica Neue"/>
              </a:rPr>
              <a:t>Public repository</a:t>
            </a:r>
          </a:p>
        </p:txBody>
      </p:sp>
      <p:sp>
        <p:nvSpPr>
          <p:cNvPr id="5" name="">
            <a:extLst xmlns:a="http://schemas.openxmlformats.org/drawingml/2006/main">
              <a:ext uri="{FF2B5EF4-FFF2-40B4-BE49-F238E27FC236}">
                <a16:creationId xmlns:a16="http://schemas.microsoft.com/office/drawing/2014/main" id="{53BA22E3-7BD8-442D-9442-85BDFBC8E3D4}"/>
              </a:ext>
            </a:extLst>
          </p:cNvPr>
          <p:cNvSpPr>
            <a:spLocks xmlns:a="http://schemas.openxmlformats.org/drawingml/2006/main" noGrp="1"/>
          </p:cNvSpPr>
          <p:nvPr/>
        </p:nvSpPr>
        <p:spPr>
          <a:xfrm xmlns:a="http://schemas.openxmlformats.org/drawingml/2006/main">
            <a:off x="762000" y="1905000"/>
            <a:ext cx="9048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175" b="1">
                <a:solidFill>
                  <a:srgbClr val="E97962"/>
                </a:solidFill>
                <a:latin typeface="Helvetica Neue"/>
                <a:ea typeface="Helvetica Neue"/>
                <a:cs typeface="Helvetica Neue"/>
              </a:defRPr>
            </a:pPr>
            <a:r>
              <a:rPr sz="2175" b="1">
                <a:solidFill>
                  <a:srgbClr val="E97962"/>
                </a:solidFill>
                <a:latin typeface="Helvetica Neue"/>
                <a:ea typeface="Helvetica Neue"/>
                <a:cs typeface="Helvetica Neue"/>
              </a:rPr>
              <a:t>github.com/tummy-wei/HouseholdOS</a:t>
            </a:r>
          </a:p>
        </p:txBody>
      </p:sp>
      <p:sp>
        <p:nvSpPr>
          <p:cNvPr id="6" name="">
            <a:extLst xmlns:a="http://schemas.openxmlformats.org/drawingml/2006/main">
              <a:ext uri="{FF2B5EF4-FFF2-40B4-BE49-F238E27FC236}">
                <a16:creationId xmlns:a16="http://schemas.microsoft.com/office/drawing/2014/main" id="{9109FFFB-A522-4743-8A49-4E02A4DE3362}"/>
              </a:ext>
            </a:extLst>
          </p:cNvPr>
          <p:cNvSpPr>
            <a:spLocks xmlns:a="http://schemas.openxmlformats.org/drawingml/2006/main" noGrp="1"/>
          </p:cNvSpPr>
          <p:nvPr/>
        </p:nvSpPr>
        <p:spPr>
          <a:xfrm xmlns:a="http://schemas.openxmlformats.org/drawingml/2006/main">
            <a:off x="762000" y="2809875"/>
            <a:ext cx="4762500" cy="2333625"/>
          </a:xfrm>
          <a:prstGeom xmlns:a="http://schemas.openxmlformats.org/drawingml/2006/main" prst="roundRect">
            <a:avLst>
              <a:gd name="adj" fmla="val 3265"/>
            </a:avLst>
          </a:prstGeom>
          <a:solidFill xmlns:a="http://schemas.openxmlformats.org/drawingml/2006/main">
            <a:srgbClr val="FFFFFF"/>
          </a:solidFill>
          <a:ln xmlns:a="http://schemas.openxmlformats.org/drawingml/2006/main" w="9525">
            <a:solidFill>
              <a:srgbClr val="BDD0C7"/>
            </a:solidFill>
          </a:ln>
        </p:spPr>
      </p:sp>
      <p:sp>
        <p:nvSpPr>
          <p:cNvPr id="7" name="">
            <a:extLst xmlns:a="http://schemas.openxmlformats.org/drawingml/2006/main">
              <a:ext uri="{FF2B5EF4-FFF2-40B4-BE49-F238E27FC236}">
                <a16:creationId xmlns:a16="http://schemas.microsoft.com/office/drawing/2014/main" id="{84244AE0-609E-4C39-915B-0070184A0EDF}"/>
              </a:ext>
            </a:extLst>
          </p:cNvPr>
          <p:cNvSpPr>
            <a:spLocks xmlns:a="http://schemas.openxmlformats.org/drawingml/2006/main" noGrp="1"/>
          </p:cNvSpPr>
          <p:nvPr/>
        </p:nvSpPr>
        <p:spPr>
          <a:xfrm xmlns:a="http://schemas.openxmlformats.org/drawingml/2006/main">
            <a:off x="1047750" y="3067050"/>
            <a:ext cx="4191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72B25"/>
                </a:solidFill>
                <a:latin typeface="Helvetica Neue"/>
                <a:ea typeface="Helvetica Neue"/>
                <a:cs typeface="Helvetica Neue"/>
              </a:defRPr>
            </a:pPr>
            <a:r>
              <a:rPr sz="1800" b="1">
                <a:solidFill>
                  <a:srgbClr val="172B25"/>
                </a:solidFill>
                <a:latin typeface="Helvetica Neue"/>
                <a:ea typeface="Helvetica Neue"/>
                <a:cs typeface="Helvetica Neue"/>
              </a:rPr>
              <a:t>README and architecture</a:t>
            </a:r>
          </a:p>
          <a:p xmlns:a="http://schemas.openxmlformats.org/drawingml/2006/main">
            <a:pPr>
              <a:defRPr sz="1800" b="1">
                <a:solidFill>
                  <a:srgbClr val="172B25"/>
                </a:solidFill>
                <a:latin typeface="Helvetica Neue"/>
                <a:ea typeface="Helvetica Neue"/>
                <a:cs typeface="Helvetica Neue"/>
              </a:defRPr>
            </a:pPr>
            <a:r>
              <a:rPr sz="1800" b="1">
                <a:solidFill>
                  <a:srgbClr val="172B25"/>
                </a:solidFill>
                <a:latin typeface="Helvetica Neue"/>
                <a:ea typeface="Helvetica Neue"/>
                <a:cs typeface="Helvetica Neue"/>
              </a:rPr>
              <a:t>Streamlit application</a:t>
            </a:r>
          </a:p>
          <a:p xmlns:a="http://schemas.openxmlformats.org/drawingml/2006/main">
            <a:pPr>
              <a:defRPr sz="1800" b="1">
                <a:solidFill>
                  <a:srgbClr val="172B25"/>
                </a:solidFill>
                <a:latin typeface="Helvetica Neue"/>
                <a:ea typeface="Helvetica Neue"/>
                <a:cs typeface="Helvetica Neue"/>
              </a:defRPr>
            </a:pPr>
            <a:r>
              <a:rPr sz="1800" b="1">
                <a:solidFill>
                  <a:srgbClr val="172B25"/>
                </a:solidFill>
                <a:latin typeface="Helvetica Neue"/>
                <a:ea typeface="Helvetica Neue"/>
                <a:cs typeface="Helvetica Neue"/>
              </a:rPr>
              <a:t>Domain models and workflows</a:t>
            </a:r>
          </a:p>
          <a:p xmlns:a="http://schemas.openxmlformats.org/drawingml/2006/main">
            <a:pPr>
              <a:defRPr sz="1800" b="1">
                <a:solidFill>
                  <a:srgbClr val="172B25"/>
                </a:solidFill>
                <a:latin typeface="Helvetica Neue"/>
                <a:ea typeface="Helvetica Neue"/>
                <a:cs typeface="Helvetica Neue"/>
              </a:defRPr>
            </a:pPr>
            <a:r>
              <a:rPr sz="1800" b="1">
                <a:solidFill>
                  <a:srgbClr val="172B25"/>
                </a:solidFill>
                <a:latin typeface="Helvetica Neue"/>
                <a:ea typeface="Helvetica Neue"/>
                <a:cs typeface="Helvetica Neue"/>
              </a:rPr>
              <a:t>Integration adapters</a:t>
            </a:r>
          </a:p>
        </p:txBody>
      </p:sp>
      <p:sp>
        <p:nvSpPr>
          <p:cNvPr id="8" name="">
            <a:extLst xmlns:a="http://schemas.openxmlformats.org/drawingml/2006/main">
              <a:ext uri="{FF2B5EF4-FFF2-40B4-BE49-F238E27FC236}">
                <a16:creationId xmlns:a16="http://schemas.microsoft.com/office/drawing/2014/main" id="{0FE815B0-D5DE-4E9C-8BE4-DFFEAA92FAC8}"/>
              </a:ext>
            </a:extLst>
          </p:cNvPr>
          <p:cNvSpPr>
            <a:spLocks xmlns:a="http://schemas.openxmlformats.org/drawingml/2006/main" noGrp="1"/>
          </p:cNvSpPr>
          <p:nvPr/>
        </p:nvSpPr>
        <p:spPr>
          <a:xfrm xmlns:a="http://schemas.openxmlformats.org/drawingml/2006/main">
            <a:off x="6286500" y="2809875"/>
            <a:ext cx="4762500" cy="2333625"/>
          </a:xfrm>
          <a:prstGeom xmlns:a="http://schemas.openxmlformats.org/drawingml/2006/main" prst="roundRect">
            <a:avLst>
              <a:gd name="adj" fmla="val 3265"/>
            </a:avLst>
          </a:prstGeom>
          <a:solidFill xmlns:a="http://schemas.openxmlformats.org/drawingml/2006/main">
            <a:srgbClr val="DCEDE6"/>
          </a:solidFill>
          <a:ln xmlns:a="http://schemas.openxmlformats.org/drawingml/2006/main" w="9525">
            <a:solidFill>
              <a:srgbClr val="BDD0C7"/>
            </a:solidFill>
          </a:ln>
        </p:spPr>
      </p:sp>
      <p:sp>
        <p:nvSpPr>
          <p:cNvPr id="9" name="">
            <a:extLst xmlns:a="http://schemas.openxmlformats.org/drawingml/2006/main">
              <a:ext uri="{FF2B5EF4-FFF2-40B4-BE49-F238E27FC236}">
                <a16:creationId xmlns:a16="http://schemas.microsoft.com/office/drawing/2014/main" id="{C060AF5B-5473-4275-9139-4901509EA43F}"/>
              </a:ext>
            </a:extLst>
          </p:cNvPr>
          <p:cNvSpPr>
            <a:spLocks xmlns:a="http://schemas.openxmlformats.org/drawingml/2006/main" noGrp="1"/>
          </p:cNvSpPr>
          <p:nvPr/>
        </p:nvSpPr>
        <p:spPr>
          <a:xfrm xmlns:a="http://schemas.openxmlformats.org/drawingml/2006/main">
            <a:off x="6572250" y="3067050"/>
            <a:ext cx="4191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72B25"/>
                </a:solidFill>
                <a:latin typeface="Helvetica Neue"/>
                <a:ea typeface="Helvetica Neue"/>
                <a:cs typeface="Helvetica Neue"/>
              </a:defRPr>
            </a:pPr>
            <a:r>
              <a:rPr sz="1800" b="1">
                <a:solidFill>
                  <a:srgbClr val="172B25"/>
                </a:solidFill>
                <a:latin typeface="Helvetica Neue"/>
                <a:ea typeface="Helvetica Neue"/>
                <a:cs typeface="Helvetica Neue"/>
              </a:rPr>
              <a:t>31 unit tests</a:t>
            </a:r>
          </a:p>
          <a:p xmlns:a="http://schemas.openxmlformats.org/drawingml/2006/main">
            <a:pPr>
              <a:defRPr sz="1800" b="1">
                <a:solidFill>
                  <a:srgbClr val="172B25"/>
                </a:solidFill>
                <a:latin typeface="Helvetica Neue"/>
                <a:ea typeface="Helvetica Neue"/>
                <a:cs typeface="Helvetica Neue"/>
              </a:defRPr>
            </a:pPr>
            <a:r>
              <a:rPr sz="1800" b="1">
                <a:solidFill>
                  <a:srgbClr val="172B25"/>
                </a:solidFill>
                <a:latin typeface="Helvetica Neue"/>
                <a:ea typeface="Helvetica Neue"/>
                <a:cs typeface="Helvetica Neue"/>
              </a:rPr>
              <a:t>20-scenario baseline</a:t>
            </a:r>
          </a:p>
          <a:p xmlns:a="http://schemas.openxmlformats.org/drawingml/2006/main">
            <a:pPr>
              <a:defRPr sz="1800" b="1">
                <a:solidFill>
                  <a:srgbClr val="172B25"/>
                </a:solidFill>
                <a:latin typeface="Helvetica Neue"/>
                <a:ea typeface="Helvetica Neue"/>
                <a:cs typeface="Helvetica Neue"/>
              </a:defRPr>
            </a:pPr>
            <a:r>
              <a:rPr sz="1800" b="1">
                <a:solidFill>
                  <a:srgbClr val="172B25"/>
                </a:solidFill>
                <a:latin typeface="Helvetica Neue"/>
                <a:ea typeface="Helvetica Neue"/>
                <a:cs typeface="Helvetica Neue"/>
              </a:rPr>
              <a:t>Sanitized sample inputs</a:t>
            </a:r>
          </a:p>
          <a:p xmlns:a="http://schemas.openxmlformats.org/drawingml/2006/main">
            <a:pPr>
              <a:defRPr sz="1800" b="1">
                <a:solidFill>
                  <a:srgbClr val="172B25"/>
                </a:solidFill>
                <a:latin typeface="Helvetica Neue"/>
                <a:ea typeface="Helvetica Neue"/>
                <a:cs typeface="Helvetica Neue"/>
              </a:defRPr>
            </a:pPr>
            <a:r>
              <a:rPr sz="1800" b="1">
                <a:solidFill>
                  <a:srgbClr val="172B25"/>
                </a:solidFill>
                <a:latin typeface="Helvetica Neue"/>
                <a:ea typeface="Helvetica Neue"/>
                <a:cs typeface="Helvetica Neue"/>
              </a:rPr>
              <a:t>Demo and setup guides</a:t>
            </a:r>
          </a:p>
        </p:txBody>
      </p:sp>
      <p:sp>
        <p:nvSpPr>
          <p:cNvPr id="10" name="">
            <a:extLst xmlns:a="http://schemas.openxmlformats.org/drawingml/2006/main">
              <a:ext uri="{FF2B5EF4-FFF2-40B4-BE49-F238E27FC236}">
                <a16:creationId xmlns:a16="http://schemas.microsoft.com/office/drawing/2014/main" id="{C85FB54A-EB79-4E79-A299-EB6CA918F5F7}"/>
              </a:ext>
            </a:extLst>
          </p:cNvPr>
          <p:cNvSpPr>
            <a:spLocks xmlns:a="http://schemas.openxmlformats.org/drawingml/2006/main" noGrp="1"/>
          </p:cNvSpPr>
          <p:nvPr/>
        </p:nvSpPr>
        <p:spPr>
          <a:xfrm xmlns:a="http://schemas.openxmlformats.org/drawingml/2006/main">
            <a:off x="1143000" y="5553075"/>
            <a:ext cx="9906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1">
                <a:solidFill>
                  <a:srgbClr val="61706A"/>
                </a:solidFill>
                <a:latin typeface="Helvetica Neue"/>
                <a:ea typeface="Helvetica Neue"/>
                <a:cs typeface="Helvetica Neue"/>
              </a:defRPr>
            </a:pPr>
            <a:r>
              <a:rPr sz="1425" b="1">
                <a:solidFill>
                  <a:srgbClr val="61706A"/>
                </a:solidFill>
                <a:latin typeface="Helvetica Neue"/>
                <a:ea typeface="Helvetica Neue"/>
                <a:cs typeface="Helvetica Neue"/>
              </a:rPr>
              <a:t>Publish only after removing tokens, private email, addresses, and live group identifiers</a:t>
            </a:r>
          </a:p>
        </p:txBody>
      </p:sp>
    </p:spTree>
    <p:extLst>
      <p:ext uri="{BB962C8B-B14F-4D97-AF65-F5344CB8AC3E}">
        <p14:creationId xmlns:p14="http://schemas.microsoft.com/office/powerpoint/2010/main" val="41876150"/>
      </p:ext>
    </p:extLst>
  </p:cSld>
</p:sld>
</file>

<file path=ppt/slides/slide9.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FDE9FF7-42FD-4DFD-BEED-B2F9C6B20F3B}"/>
              </a:ext>
            </a:extLst>
          </p:cNvPr>
          <p:cNvSpPr>
            <a:spLocks xmlns:a="http://schemas.openxmlformats.org/drawingml/2006/main" noGrp="1"/>
          </p:cNvSpPr>
          <p:nvPr/>
        </p:nvSpPr>
        <p:spPr>
          <a:xfrm xmlns:a="http://schemas.openxmlformats.org/drawingml/2006/main">
            <a:off x="666750" y="400050"/>
            <a:ext cx="9810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625" b="1">
                <a:solidFill>
                  <a:srgbClr val="172B25"/>
                </a:solidFill>
                <a:latin typeface="Helvetica Neue"/>
                <a:ea typeface="Helvetica Neue"/>
                <a:cs typeface="Helvetica Neue"/>
              </a:defRPr>
            </a:pPr>
            <a:r>
              <a:rPr sz="2625" b="1">
                <a:solidFill>
                  <a:srgbClr val="172B25"/>
                </a:solidFill>
                <a:latin typeface="Helvetica Neue"/>
                <a:ea typeface="Helvetica Neue"/>
                <a:cs typeface="Helvetica Neue"/>
              </a:rPr>
              <a:t>Strengths, limitations, and next steps</a:t>
            </a:r>
          </a:p>
        </p:txBody>
      </p:sp>
      <p:sp>
        <p:nvSpPr>
          <p:cNvPr id="2" name="">
            <a:extLst xmlns:a="http://schemas.openxmlformats.org/drawingml/2006/main">
              <a:ext uri="{FF2B5EF4-FFF2-40B4-BE49-F238E27FC236}">
                <a16:creationId xmlns:a16="http://schemas.microsoft.com/office/drawing/2014/main" id="{B891151E-C0E8-422F-A454-1698CD9E7C0F}"/>
              </a:ext>
            </a:extLst>
          </p:cNvPr>
          <p:cNvSpPr>
            <a:spLocks xmlns:a="http://schemas.openxmlformats.org/drawingml/2006/main" noGrp="1"/>
          </p:cNvSpPr>
          <p:nvPr/>
        </p:nvSpPr>
        <p:spPr>
          <a:xfrm xmlns:a="http://schemas.openxmlformats.org/drawingml/2006/main">
            <a:off x="11144250" y="476250"/>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a:solidFill>
                  <a:srgbClr val="176B57"/>
                </a:solidFill>
                <a:latin typeface="Helvetica Neue"/>
                <a:ea typeface="Helvetica Neue"/>
                <a:cs typeface="Helvetica Neue"/>
              </a:defRPr>
            </a:pPr>
            <a:r>
              <a:rPr sz="1200" b="1">
                <a:solidFill>
                  <a:srgbClr val="176B57"/>
                </a:solidFill>
                <a:latin typeface="Helvetica Neue"/>
                <a:ea typeface="Helvetica Neue"/>
                <a:cs typeface="Helvetica Neue"/>
              </a:rPr>
              <a:t>09</a:t>
            </a:r>
          </a:p>
        </p:txBody>
      </p:sp>
      <p:sp>
        <p:nvSpPr>
          <p:cNvPr id="3" name="">
            <a:extLst xmlns:a="http://schemas.openxmlformats.org/drawingml/2006/main">
              <a:ext uri="{FF2B5EF4-FFF2-40B4-BE49-F238E27FC236}">
                <a16:creationId xmlns:a16="http://schemas.microsoft.com/office/drawing/2014/main" id="{BBBDC278-AD41-4DE7-B3DC-3E0B34370819}"/>
              </a:ext>
            </a:extLst>
          </p:cNvPr>
          <p:cNvSpPr>
            <a:spLocks xmlns:a="http://schemas.openxmlformats.org/drawingml/2006/main" noGrp="1"/>
          </p:cNvSpPr>
          <p:nvPr/>
        </p:nvSpPr>
        <p:spPr>
          <a:xfrm xmlns:a="http://schemas.openxmlformats.org/drawingml/2006/main">
            <a:off x="666750" y="1104900"/>
            <a:ext cx="10858500" cy="38100"/>
          </a:xfrm>
          <a:prstGeom xmlns:a="http://schemas.openxmlformats.org/drawingml/2006/main" prst="rect">
            <a:avLst/>
          </a:prstGeom>
          <a:solidFill xmlns:a="http://schemas.openxmlformats.org/drawingml/2006/main">
            <a:srgbClr val="176B57"/>
          </a:solidFill>
          <a:ln xmlns:a="http://schemas.openxmlformats.org/drawingml/2006/main" w="0">
            <a:solidFill>
              <a:srgbClr val="176B57"/>
            </a:solidFill>
          </a:ln>
        </p:spPr>
      </p:sp>
      <p:sp>
        <p:nvSpPr>
          <p:cNvPr id="4" name="">
            <a:extLst xmlns:a="http://schemas.openxmlformats.org/drawingml/2006/main">
              <a:ext uri="{FF2B5EF4-FFF2-40B4-BE49-F238E27FC236}">
                <a16:creationId xmlns:a16="http://schemas.microsoft.com/office/drawing/2014/main" id="{612288A1-98FB-4DD0-BDAC-F16B720633D9}"/>
              </a:ext>
            </a:extLst>
          </p:cNvPr>
          <p:cNvSpPr>
            <a:spLocks xmlns:a="http://schemas.openxmlformats.org/drawingml/2006/main" noGrp="1"/>
          </p:cNvSpPr>
          <p:nvPr/>
        </p:nvSpPr>
        <p:spPr>
          <a:xfrm xmlns:a="http://schemas.openxmlformats.org/drawingml/2006/main">
            <a:off x="714375" y="142875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defRPr sz="1050" b="1">
                <a:solidFill>
                  <a:srgbClr val="176B57"/>
                </a:solidFill>
                <a:latin typeface="Helvetica Neue"/>
                <a:ea typeface="Helvetica Neue"/>
                <a:cs typeface="Helvetica Neue"/>
              </a:defRPr>
            </a:pPr>
            <a:r>
              <a:rPr sz="1050" b="1">
                <a:solidFill>
                  <a:srgbClr val="176B57"/>
                </a:solidFill>
                <a:latin typeface="Helvetica Neue"/>
                <a:ea typeface="Helvetica Neue"/>
                <a:cs typeface="Helvetica Neue"/>
              </a:rPr>
              <a:t>STRENGTHS</a:t>
            </a:r>
          </a:p>
        </p:txBody>
      </p:sp>
      <p:sp>
        <p:nvSpPr>
          <p:cNvPr id="5" name="">
            <a:extLst xmlns:a="http://schemas.openxmlformats.org/drawingml/2006/main">
              <a:ext uri="{FF2B5EF4-FFF2-40B4-BE49-F238E27FC236}">
                <a16:creationId xmlns:a16="http://schemas.microsoft.com/office/drawing/2014/main" id="{8802EE37-3FC7-4146-8603-BAE28E811401}"/>
              </a:ext>
            </a:extLst>
          </p:cNvPr>
          <p:cNvSpPr>
            <a:spLocks xmlns:a="http://schemas.openxmlformats.org/drawingml/2006/main" noGrp="1"/>
          </p:cNvSpPr>
          <p:nvPr/>
        </p:nvSpPr>
        <p:spPr>
          <a:xfrm xmlns:a="http://schemas.openxmlformats.org/drawingml/2006/main">
            <a:off x="4429125" y="142875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defRPr sz="1050" b="1">
                <a:solidFill>
                  <a:srgbClr val="E97962"/>
                </a:solidFill>
                <a:latin typeface="Helvetica Neue"/>
                <a:ea typeface="Helvetica Neue"/>
                <a:cs typeface="Helvetica Neue"/>
              </a:defRPr>
            </a:pPr>
            <a:r>
              <a:rPr sz="1050" b="1">
                <a:solidFill>
                  <a:srgbClr val="E97962"/>
                </a:solidFill>
                <a:latin typeface="Helvetica Neue"/>
                <a:ea typeface="Helvetica Neue"/>
                <a:cs typeface="Helvetica Neue"/>
              </a:rPr>
              <a:t>CURRENT LIMITATIONS</a:t>
            </a:r>
          </a:p>
        </p:txBody>
      </p:sp>
      <p:sp>
        <p:nvSpPr>
          <p:cNvPr id="6" name="">
            <a:extLst xmlns:a="http://schemas.openxmlformats.org/drawingml/2006/main">
              <a:ext uri="{FF2B5EF4-FFF2-40B4-BE49-F238E27FC236}">
                <a16:creationId xmlns:a16="http://schemas.microsoft.com/office/drawing/2014/main" id="{E20ED9E8-D6A8-48E9-A4AC-EDF177AFDEA6}"/>
              </a:ext>
            </a:extLst>
          </p:cNvPr>
          <p:cNvSpPr>
            <a:spLocks xmlns:a="http://schemas.openxmlformats.org/drawingml/2006/main" noGrp="1"/>
          </p:cNvSpPr>
          <p:nvPr/>
        </p:nvSpPr>
        <p:spPr>
          <a:xfrm xmlns:a="http://schemas.openxmlformats.org/drawingml/2006/main">
            <a:off x="8191500" y="142875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defRPr sz="1050" b="1">
                <a:solidFill>
                  <a:srgbClr val="176B57"/>
                </a:solidFill>
                <a:latin typeface="Helvetica Neue"/>
                <a:ea typeface="Helvetica Neue"/>
                <a:cs typeface="Helvetica Neue"/>
              </a:defRPr>
            </a:pPr>
            <a:r>
              <a:rPr sz="1050" b="1">
                <a:solidFill>
                  <a:srgbClr val="176B57"/>
                </a:solidFill>
                <a:latin typeface="Helvetica Neue"/>
                <a:ea typeface="Helvetica Neue"/>
                <a:cs typeface="Helvetica Neue"/>
              </a:rPr>
              <a:t>NEXT STEPS</a:t>
            </a:r>
          </a:p>
        </p:txBody>
      </p:sp>
      <p:sp>
        <p:nvSpPr>
          <p:cNvPr id="7" name="">
            <a:extLst xmlns:a="http://schemas.openxmlformats.org/drawingml/2006/main">
              <a:ext uri="{FF2B5EF4-FFF2-40B4-BE49-F238E27FC236}">
                <a16:creationId xmlns:a16="http://schemas.microsoft.com/office/drawing/2014/main" id="{8E2EFF82-DE6D-44DC-BF49-AA71DC81BCB2}"/>
              </a:ext>
            </a:extLst>
          </p:cNvPr>
          <p:cNvSpPr>
            <a:spLocks xmlns:a="http://schemas.openxmlformats.org/drawingml/2006/main" noGrp="1"/>
          </p:cNvSpPr>
          <p:nvPr/>
        </p:nvSpPr>
        <p:spPr>
          <a:xfrm xmlns:a="http://schemas.openxmlformats.org/drawingml/2006/main">
            <a:off x="742950" y="1857375"/>
            <a:ext cx="29527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725" b="1">
                <a:solidFill>
                  <a:srgbClr val="172B25"/>
                </a:solidFill>
                <a:latin typeface="Helvetica Neue"/>
                <a:ea typeface="Helvetica Neue"/>
                <a:cs typeface="Helvetica Neue"/>
              </a:defRPr>
            </a:pPr>
            <a:r>
              <a:rPr sz="1725" b="1">
                <a:solidFill>
                  <a:srgbClr val="172B25"/>
                </a:solidFill>
                <a:latin typeface="Helvetica Neue"/>
                <a:ea typeface="Helvetica Neue"/>
                <a:cs typeface="Helvetica Neue"/>
              </a:rPr>
              <a:t>Visible provenance</a:t>
            </a:r>
          </a:p>
          <a:p xmlns:a="http://schemas.openxmlformats.org/drawingml/2006/main">
            <a:pPr>
              <a:defRPr sz="1725" b="1">
                <a:solidFill>
                  <a:srgbClr val="172B25"/>
                </a:solidFill>
                <a:latin typeface="Helvetica Neue"/>
                <a:ea typeface="Helvetica Neue"/>
                <a:cs typeface="Helvetica Neue"/>
              </a:defRPr>
            </a:pPr>
            <a:r>
              <a:rPr sz="1725" b="1">
                <a:solidFill>
                  <a:srgbClr val="172B25"/>
                </a:solidFill>
                <a:latin typeface="Helvetica Neue"/>
                <a:ea typeface="Helvetica Neue"/>
                <a:cs typeface="Helvetica Neue"/>
              </a:rPr>
              <a:t>Typed state</a:t>
            </a:r>
          </a:p>
          <a:p xmlns:a="http://schemas.openxmlformats.org/drawingml/2006/main">
            <a:pPr>
              <a:defRPr sz="1725" b="1">
                <a:solidFill>
                  <a:srgbClr val="172B25"/>
                </a:solidFill>
                <a:latin typeface="Helvetica Neue"/>
                <a:ea typeface="Helvetica Neue"/>
                <a:cs typeface="Helvetica Neue"/>
              </a:defRPr>
            </a:pPr>
            <a:r>
              <a:rPr sz="1725" b="1">
                <a:solidFill>
                  <a:srgbClr val="172B25"/>
                </a:solidFill>
                <a:latin typeface="Helvetica Neue"/>
                <a:ea typeface="Helvetica Neue"/>
                <a:cs typeface="Helvetica Neue"/>
              </a:rPr>
              <a:t>Fail-closed writes</a:t>
            </a:r>
          </a:p>
          <a:p xmlns:a="http://schemas.openxmlformats.org/drawingml/2006/main">
            <a:pPr>
              <a:defRPr sz="1725" b="1">
                <a:solidFill>
                  <a:srgbClr val="172B25"/>
                </a:solidFill>
                <a:latin typeface="Helvetica Neue"/>
                <a:ea typeface="Helvetica Neue"/>
                <a:cs typeface="Helvetica Neue"/>
              </a:defRPr>
            </a:pPr>
            <a:r>
              <a:rPr sz="1725" b="1">
                <a:solidFill>
                  <a:srgbClr val="172B25"/>
                </a:solidFill>
                <a:latin typeface="Helvetica Neue"/>
                <a:ea typeface="Helvetica Neue"/>
                <a:cs typeface="Helvetica Neue"/>
              </a:rPr>
              <a:t>Five-domain brief</a:t>
            </a:r>
          </a:p>
          <a:p xmlns:a="http://schemas.openxmlformats.org/drawingml/2006/main">
            <a:pPr>
              <a:defRPr sz="1725" b="1">
                <a:solidFill>
                  <a:srgbClr val="172B25"/>
                </a:solidFill>
                <a:latin typeface="Helvetica Neue"/>
                <a:ea typeface="Helvetica Neue"/>
                <a:cs typeface="Helvetica Neue"/>
              </a:defRPr>
            </a:pPr>
            <a:r>
              <a:rPr sz="1725" b="1">
                <a:solidFill>
                  <a:srgbClr val="172B25"/>
                </a:solidFill>
                <a:latin typeface="Helvetica Neue"/>
                <a:ea typeface="Helvetica Neue"/>
                <a:cs typeface="Helvetica Neue"/>
              </a:rPr>
              <a:t>Offline fallback</a:t>
            </a:r>
          </a:p>
        </p:txBody>
      </p:sp>
      <p:sp>
        <p:nvSpPr>
          <p:cNvPr id="8" name="">
            <a:extLst xmlns:a="http://schemas.openxmlformats.org/drawingml/2006/main">
              <a:ext uri="{FF2B5EF4-FFF2-40B4-BE49-F238E27FC236}">
                <a16:creationId xmlns:a16="http://schemas.microsoft.com/office/drawing/2014/main" id="{39C8BA2E-D90F-4D1F-AE0D-16D163C9A0F0}"/>
              </a:ext>
            </a:extLst>
          </p:cNvPr>
          <p:cNvSpPr>
            <a:spLocks xmlns:a="http://schemas.openxmlformats.org/drawingml/2006/main" noGrp="1"/>
          </p:cNvSpPr>
          <p:nvPr/>
        </p:nvSpPr>
        <p:spPr>
          <a:xfrm xmlns:a="http://schemas.openxmlformats.org/drawingml/2006/main">
            <a:off x="4457700" y="1857375"/>
            <a:ext cx="29527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725" b="1">
                <a:solidFill>
                  <a:srgbClr val="172B25"/>
                </a:solidFill>
                <a:latin typeface="Helvetica Neue"/>
                <a:ea typeface="Helvetica Neue"/>
                <a:cs typeface="Helvetica Neue"/>
              </a:defRPr>
            </a:pPr>
            <a:r>
              <a:rPr sz="1725" b="1">
                <a:solidFill>
                  <a:srgbClr val="172B25"/>
                </a:solidFill>
                <a:latin typeface="Helvetica Neue"/>
                <a:ea typeface="Helvetica Neue"/>
                <a:cs typeface="Helvetica Neue"/>
              </a:rPr>
              <a:t>Local process only</a:t>
            </a:r>
          </a:p>
          <a:p xmlns:a="http://schemas.openxmlformats.org/drawingml/2006/main">
            <a:pPr>
              <a:defRPr sz="1725" b="1">
                <a:solidFill>
                  <a:srgbClr val="172B25"/>
                </a:solidFill>
                <a:latin typeface="Helvetica Neue"/>
                <a:ea typeface="Helvetica Neue"/>
                <a:cs typeface="Helvetica Neue"/>
              </a:defRPr>
            </a:pPr>
            <a:r>
              <a:rPr sz="1725" b="1">
                <a:solidFill>
                  <a:srgbClr val="172B25"/>
                </a:solidFill>
                <a:latin typeface="Helvetica Neue"/>
                <a:ea typeface="Helvetica Neue"/>
                <a:cs typeface="Helvetica Neue"/>
              </a:rPr>
              <a:t>No job scheduler</a:t>
            </a:r>
          </a:p>
          <a:p xmlns:a="http://schemas.openxmlformats.org/drawingml/2006/main">
            <a:pPr>
              <a:defRPr sz="1725" b="1">
                <a:solidFill>
                  <a:srgbClr val="172B25"/>
                </a:solidFill>
                <a:latin typeface="Helvetica Neue"/>
                <a:ea typeface="Helvetica Neue"/>
                <a:cs typeface="Helvetica Neue"/>
              </a:defRPr>
            </a:pPr>
            <a:r>
              <a:rPr sz="1725" b="1">
                <a:solidFill>
                  <a:srgbClr val="172B25"/>
                </a:solidFill>
                <a:latin typeface="Helvetica Neue"/>
                <a:ea typeface="Helvetica Neue"/>
                <a:cs typeface="Helvetica Neue"/>
              </a:rPr>
              <a:t>Rule-based routing</a:t>
            </a:r>
          </a:p>
          <a:p xmlns:a="http://schemas.openxmlformats.org/drawingml/2006/main">
            <a:pPr>
              <a:defRPr sz="1725" b="1">
                <a:solidFill>
                  <a:srgbClr val="172B25"/>
                </a:solidFill>
                <a:latin typeface="Helvetica Neue"/>
                <a:ea typeface="Helvetica Neue"/>
                <a:cs typeface="Helvetica Neue"/>
              </a:defRPr>
            </a:pPr>
            <a:r>
              <a:rPr sz="1725" b="1">
                <a:solidFill>
                  <a:srgbClr val="172B25"/>
                </a:solidFill>
                <a:latin typeface="Helvetica Neue"/>
                <a:ea typeface="Helvetica Neue"/>
                <a:cs typeface="Helvetica Neue"/>
              </a:rPr>
              <a:t>Synthetic evaluation</a:t>
            </a:r>
          </a:p>
          <a:p xmlns:a="http://schemas.openxmlformats.org/drawingml/2006/main">
            <a:pPr>
              <a:defRPr sz="1725" b="1">
                <a:solidFill>
                  <a:srgbClr val="172B25"/>
                </a:solidFill>
                <a:latin typeface="Helvetica Neue"/>
                <a:ea typeface="Helvetica Neue"/>
                <a:cs typeface="Helvetica Neue"/>
              </a:defRPr>
            </a:pPr>
            <a:r>
              <a:rPr sz="1725" b="1">
                <a:solidFill>
                  <a:srgbClr val="172B25"/>
                </a:solidFill>
                <a:latin typeface="Helvetica Neue"/>
                <a:ea typeface="Helvetica Neue"/>
                <a:cs typeface="Helvetica Neue"/>
              </a:rPr>
              <a:t>One-household design</a:t>
            </a:r>
          </a:p>
        </p:txBody>
      </p:sp>
      <p:sp>
        <p:nvSpPr>
          <p:cNvPr id="9" name="">
            <a:extLst xmlns:a="http://schemas.openxmlformats.org/drawingml/2006/main">
              <a:ext uri="{FF2B5EF4-FFF2-40B4-BE49-F238E27FC236}">
                <a16:creationId xmlns:a16="http://schemas.microsoft.com/office/drawing/2014/main" id="{9AFE73F0-974B-41D8-8F98-B0A84CD59563}"/>
              </a:ext>
            </a:extLst>
          </p:cNvPr>
          <p:cNvSpPr>
            <a:spLocks xmlns:a="http://schemas.openxmlformats.org/drawingml/2006/main" noGrp="1"/>
          </p:cNvSpPr>
          <p:nvPr/>
        </p:nvSpPr>
        <p:spPr>
          <a:xfrm xmlns:a="http://schemas.openxmlformats.org/drawingml/2006/main">
            <a:off x="8220075" y="1857375"/>
            <a:ext cx="304800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725" b="1">
                <a:solidFill>
                  <a:srgbClr val="172B25"/>
                </a:solidFill>
                <a:latin typeface="Helvetica Neue"/>
                <a:ea typeface="Helvetica Neue"/>
                <a:cs typeface="Helvetica Neue"/>
              </a:defRPr>
            </a:pPr>
            <a:r>
              <a:rPr sz="1725" b="1">
                <a:solidFill>
                  <a:srgbClr val="172B25"/>
                </a:solidFill>
                <a:latin typeface="Helvetica Neue"/>
                <a:ea typeface="Helvetica Neue"/>
                <a:cs typeface="Helvetica Neue"/>
              </a:rPr>
              <a:t>Managed deployment</a:t>
            </a:r>
          </a:p>
          <a:p xmlns:a="http://schemas.openxmlformats.org/drawingml/2006/main">
            <a:pPr>
              <a:defRPr sz="1725" b="1">
                <a:solidFill>
                  <a:srgbClr val="172B25"/>
                </a:solidFill>
                <a:latin typeface="Helvetica Neue"/>
                <a:ea typeface="Helvetica Neue"/>
                <a:cs typeface="Helvetica Neue"/>
              </a:defRPr>
            </a:pPr>
            <a:r>
              <a:rPr sz="1725" b="1">
                <a:solidFill>
                  <a:srgbClr val="172B25"/>
                </a:solidFill>
                <a:latin typeface="Helvetica Neue"/>
                <a:ea typeface="Helvetica Neue"/>
                <a:cs typeface="Helvetica Neue"/>
              </a:rPr>
              <a:t>Durable job queue</a:t>
            </a:r>
          </a:p>
          <a:p xmlns:a="http://schemas.openxmlformats.org/drawingml/2006/main">
            <a:pPr>
              <a:defRPr sz="1725" b="1">
                <a:solidFill>
                  <a:srgbClr val="172B25"/>
                </a:solidFill>
                <a:latin typeface="Helvetica Neue"/>
                <a:ea typeface="Helvetica Neue"/>
                <a:cs typeface="Helvetica Neue"/>
              </a:defRPr>
            </a:pPr>
            <a:r>
              <a:rPr sz="1725" b="1">
                <a:solidFill>
                  <a:srgbClr val="172B25"/>
                </a:solidFill>
                <a:latin typeface="Helvetica Neue"/>
                <a:ea typeface="Helvetica Neue"/>
                <a:cs typeface="Helvetica Neue"/>
              </a:rPr>
              <a:t>Sandbox integration tests</a:t>
            </a:r>
          </a:p>
          <a:p xmlns:a="http://schemas.openxmlformats.org/drawingml/2006/main">
            <a:pPr>
              <a:defRPr sz="1725" b="1">
                <a:solidFill>
                  <a:srgbClr val="172B25"/>
                </a:solidFill>
                <a:latin typeface="Helvetica Neue"/>
                <a:ea typeface="Helvetica Neue"/>
                <a:cs typeface="Helvetica Neue"/>
              </a:defRPr>
            </a:pPr>
            <a:r>
              <a:rPr sz="1725" b="1">
                <a:solidFill>
                  <a:srgbClr val="172B25"/>
                </a:solidFill>
                <a:latin typeface="Helvetica Neue"/>
                <a:ea typeface="Helvetica Neue"/>
                <a:cs typeface="Helvetica Neue"/>
              </a:rPr>
              <a:t>Four-week user study</a:t>
            </a:r>
          </a:p>
          <a:p xmlns:a="http://schemas.openxmlformats.org/drawingml/2006/main">
            <a:pPr>
              <a:defRPr sz="1725" b="1">
                <a:solidFill>
                  <a:srgbClr val="172B25"/>
                </a:solidFill>
                <a:latin typeface="Helvetica Neue"/>
                <a:ea typeface="Helvetica Neue"/>
                <a:cs typeface="Helvetica Neue"/>
              </a:defRPr>
            </a:pPr>
            <a:r>
              <a:rPr sz="1725" b="1">
                <a:solidFill>
                  <a:srgbClr val="172B25"/>
                </a:solidFill>
                <a:latin typeface="Helvetica Neue"/>
                <a:ea typeface="Helvetica Neue"/>
                <a:cs typeface="Helvetica Neue"/>
              </a:rPr>
              <a:t>Semantic retrieval</a:t>
            </a:r>
          </a:p>
        </p:txBody>
      </p:sp>
      <p:sp>
        <p:nvSpPr>
          <p:cNvPr id="10" name="">
            <a:extLst xmlns:a="http://schemas.openxmlformats.org/drawingml/2006/main">
              <a:ext uri="{FF2B5EF4-FFF2-40B4-BE49-F238E27FC236}">
                <a16:creationId xmlns:a16="http://schemas.microsoft.com/office/drawing/2014/main" id="{7E7FCCD1-15EE-4238-A5BC-393908AEF09C}"/>
              </a:ext>
            </a:extLst>
          </p:cNvPr>
          <p:cNvSpPr>
            <a:spLocks xmlns:a="http://schemas.openxmlformats.org/drawingml/2006/main" noGrp="1"/>
          </p:cNvSpPr>
          <p:nvPr/>
        </p:nvSpPr>
        <p:spPr>
          <a:xfrm xmlns:a="http://schemas.openxmlformats.org/drawingml/2006/main">
            <a:off x="1143000" y="5381625"/>
            <a:ext cx="990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927"/>
          </a:bodyPr>
          <a:lstStyle xmlns:a="http://schemas.openxmlformats.org/drawingml/2006/main"/>
          <a:p xmlns:a="http://schemas.openxmlformats.org/drawingml/2006/main">
            <a:pPr>
              <a:defRPr sz="1725" b="1">
                <a:solidFill>
                  <a:srgbClr val="176B57"/>
                </a:solidFill>
                <a:latin typeface="Helvetica Neue"/>
                <a:ea typeface="Helvetica Neue"/>
                <a:cs typeface="Helvetica Neue"/>
              </a:defRPr>
            </a:pPr>
            <a:r>
              <a:rPr sz="1725" b="1">
                <a:solidFill>
                  <a:srgbClr val="176B57"/>
                </a:solidFill>
                <a:latin typeface="Helvetica Neue"/>
                <a:ea typeface="Helvetica Neue"/>
                <a:cs typeface="Helvetica Neue"/>
              </a:rPr>
              <a:t>HouseholdOS demonstrates a reusable Chief-of-Staff pattern while keeping decisions human-owned</a:t>
            </a:r>
          </a:p>
        </p:txBody>
      </p:sp>
    </p:spTree>
    <p:extLst>
      <p:ext uri="{BB962C8B-B14F-4D97-AF65-F5344CB8AC3E}">
        <p14:creationId xmlns:p14="http://schemas.microsoft.com/office/powerpoint/2010/main" val="140823164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2026-09-10T01:01:49.5180000Z</dcterms:created>
  <dcterms:modified xsi:type="dcterms:W3CDTF">2026-09-10T01:01:49.5180000Z</dcterms:modified>
</coreProperties>
</file>