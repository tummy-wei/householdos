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48bcbc15094efb" /><Relationship Type="http://schemas.openxmlformats.org/officeDocument/2006/relationships/extended-properties" Target="/docProps/app.xml" Id="Rd7b56923190c4986" /><Relationship Type="http://schemas.openxmlformats.org/officeDocument/2006/relationships/officeDocument" Target="/ppt/presentation.xml" Id="Rac22325780c64f73" /></Relationships>
</file>

<file path=ppt/presentation.xml><?xml version="1.0" encoding="utf-8"?>
<p:presentation xmlns:p="http://schemas.openxmlformats.org/presentationml/2006/main">
  <p:sldMasterIdLst>
    <p:sldMasterId xmlns:r="http://schemas.openxmlformats.org/officeDocument/2006/relationships" id="2147483648" r:id="Rabf6ec9cf134480a"/>
  </p:sldMasterIdLst>
  <p:notesMasterIdLst>
    <p:notesMasterId xmlns:r="http://schemas.openxmlformats.org/officeDocument/2006/relationships" r:id="Rfd58fa9c32064f42"/>
  </p:notesMasterIdLst>
  <p:sldIdLst>
    <p:sldId xmlns:r="http://schemas.openxmlformats.org/officeDocument/2006/relationships" id="256" r:id="R977c7dd8a20749bc"/>
    <p:sldId xmlns:r="http://schemas.openxmlformats.org/officeDocument/2006/relationships" id="257" r:id="R85a7814a034f4916"/>
    <p:sldId xmlns:r="http://schemas.openxmlformats.org/officeDocument/2006/relationships" id="258" r:id="R545af1e203854ed6"/>
    <p:sldId xmlns:r="http://schemas.openxmlformats.org/officeDocument/2006/relationships" id="259" r:id="R47186da9ff084665"/>
    <p:sldId xmlns:r="http://schemas.openxmlformats.org/officeDocument/2006/relationships" id="260" r:id="R3155dd6ccbcb472b"/>
    <p:sldId xmlns:r="http://schemas.openxmlformats.org/officeDocument/2006/relationships" id="261" r:id="R90cc9cf618db4746"/>
    <p:sldId xmlns:r="http://schemas.openxmlformats.org/officeDocument/2006/relationships" id="262" r:id="R4ca657f95bec45ba"/>
    <p:sldId xmlns:r="http://schemas.openxmlformats.org/officeDocument/2006/relationships" id="263" r:id="R1da106a686b84814"/>
    <p:sldId xmlns:r="http://schemas.openxmlformats.org/officeDocument/2006/relationships" id="264" r:id="Rda7e237918824587"/>
    <p:sldId xmlns:r="http://schemas.openxmlformats.org/officeDocument/2006/relationships" id="265" r:id="Rddbe92972c4c46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19fc90eb9b419c" /><Relationship Type="http://schemas.openxmlformats.org/officeDocument/2006/relationships/slideMaster" Target="/ppt/slideMasters/slideMaster1.xml" Id="Rabf6ec9cf134480a" /><Relationship Type="http://schemas.openxmlformats.org/officeDocument/2006/relationships/notesMaster" Target="/ppt/notesMasters/notesMaster1.xml" Id="Rfd58fa9c32064f42" /><Relationship Type="http://schemas.openxmlformats.org/officeDocument/2006/relationships/presProps" Target="/ppt/presProps.xml" Id="R85035e71e9fe4449" /><Relationship Type="http://schemas.openxmlformats.org/officeDocument/2006/relationships/tableStyles" Target="/ppt/tableStyles.xml" Id="Rb1a7fa37305e4e93" /><Relationship Type="http://schemas.openxmlformats.org/officeDocument/2006/relationships/slide" Target="/ppt/slides/slide1.xml" Id="R977c7dd8a20749bc" /><Relationship Type="http://schemas.openxmlformats.org/officeDocument/2006/relationships/slide" Target="/ppt/slides/slide2.xml" Id="R85a7814a034f4916" /><Relationship Type="http://schemas.openxmlformats.org/officeDocument/2006/relationships/slide" Target="/ppt/slides/slide3.xml" Id="R545af1e203854ed6" /><Relationship Type="http://schemas.openxmlformats.org/officeDocument/2006/relationships/slide" Target="/ppt/slides/slide4.xml" Id="R47186da9ff084665" /><Relationship Type="http://schemas.openxmlformats.org/officeDocument/2006/relationships/slide" Target="/ppt/slides/slide5.xml" Id="R3155dd6ccbcb472b" /><Relationship Type="http://schemas.openxmlformats.org/officeDocument/2006/relationships/slide" Target="/ppt/slides/slide6.xml" Id="R90cc9cf618db4746" /><Relationship Type="http://schemas.openxmlformats.org/officeDocument/2006/relationships/slide" Target="/ppt/slides/slide7.xml" Id="R4ca657f95bec45ba" /><Relationship Type="http://schemas.openxmlformats.org/officeDocument/2006/relationships/slide" Target="/ppt/slides/slide8.xml" Id="R1da106a686b84814" /><Relationship Type="http://schemas.openxmlformats.org/officeDocument/2006/relationships/slide" Target="/ppt/slides/slide9.xml" Id="Rda7e237918824587" /><Relationship Type="http://schemas.openxmlformats.org/officeDocument/2006/relationships/slide" Target="/ppt/slides/slide10.xml" Id="Rddbe92972c4c46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18ad26228645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62e74e1b174ab8" /><Relationship Type="http://schemas.openxmlformats.org/officeDocument/2006/relationships/notesMaster" Target="/ppt/notesMasters/notesMaster1.xml" Id="R329eec0eb71745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9200a4ab894abb" /><Relationship Type="http://schemas.openxmlformats.org/officeDocument/2006/relationships/notesMaster" Target="/ppt/notesMasters/notesMaster1.xml" Id="R2330443a27534d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20a730fc4e4519" /><Relationship Type="http://schemas.openxmlformats.org/officeDocument/2006/relationships/notesMaster" Target="/ppt/notesMasters/notesMaster1.xml" Id="R60f44b0f372a4d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9ba144a3314b6d" /><Relationship Type="http://schemas.openxmlformats.org/officeDocument/2006/relationships/notesMaster" Target="/ppt/notesMasters/notesMaster1.xml" Id="R2e6569dc97814d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8a2d27041b4fb3" /><Relationship Type="http://schemas.openxmlformats.org/officeDocument/2006/relationships/notesMaster" Target="/ppt/notesMasters/notesMaster1.xml" Id="Re660b5a220d24b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ecd4e84e484e87" /><Relationship Type="http://schemas.openxmlformats.org/officeDocument/2006/relationships/notesMaster" Target="/ppt/notesMasters/notesMaster1.xml" Id="R642568bb63ed4e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dc573abdc8409e" /><Relationship Type="http://schemas.openxmlformats.org/officeDocument/2006/relationships/notesMaster" Target="/ppt/notesMasters/notesMaster1.xml" Id="R78abccc603254f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9a7ffde2e94733" /><Relationship Type="http://schemas.openxmlformats.org/officeDocument/2006/relationships/notesMaster" Target="/ppt/notesMasters/notesMaster1.xml" Id="R8bfceac68d214d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34f3a99c2a435e" /><Relationship Type="http://schemas.openxmlformats.org/officeDocument/2006/relationships/notesMaster" Target="/ppt/notesMasters/notesMaster1.xml" Id="R73ac89f213d94e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bc329a5e4b4848" /><Relationship Type="http://schemas.openxmlformats.org/officeDocument/2006/relationships/notesMaster" Target="/ppt/notesMasters/notesMaster1.xml" Id="R450effc006b94a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Kang Wei, and this is HouseholdOS, an approval-gated AI Chief of Staff for family and ministry operations. The project began with a practical problem: our commitments are spread across school calendars, soccer feeds, recurring lessons, church spreadsheets, email, and LINE. HouseholdOS brings those sources into one operating view, creates a weekly brief, and keeps humans in control of every consequential action. I will show the problem, the architecture, the design decisions, the evaluation results, and what remains before production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issue is fragmentation. Each source is useful on its own, but the household still has to reconcile dates, time zones, travel buffers, changing drivers, volunteer assignments, and communication deadlines. A normal calendar can tell me that an event exists. It cannot tell me that one child has an overlap, that the driver is still unknown, that a Bible-study leader needs a reminder ten and a half days ahead, or that a public announcement must omit helper-only details. The cost is repeated manual work and a real risk of missed handoffs.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one reviewable weekly brief across five domains: kids activities, church events, groceries, travel, and house maintenance. Success requires more than fluent text. The system must preserve source facts, identify conflicts and missing information, create actionable work, and keep external actions behind an approval boundary. Budget is deferred. Purchases, travel bookings, and contractor engagement are unavailable. The grocery, travel, and maintenance records shown in the capstone demo are synthetic and clearly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uses ports and adapters. Streamlit is the operating console. Read-only adapters ingest four ICS sources, Gmail messages, Google Sheets data, and manual input. Deterministic Python normalizes dates, expands recurrences, calculates transportation, filters evidence, and enforces policy. SQLite stores operational state, evidence, traces, approvals, and delivery outcomes. The OpenAI Agents SDK supports a supervisor plus Schedule, Research, Planner, and Critic specialists. At the action boundary, Apps Script updates the spreadsheet and calendars, while the LINE API sends an approved draft. This division keeps exact rules outside probabilistic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oversight is implemented as state, not as a sentence in a prompt. The system drafts an action and presents the exact content. The user previews it, then approval binds to the specific tool and payload. Only then can the adapter execute, and the result is written to an audit record. Scheduled actions remain locked until their approved time. If a credential, destination, matching approval, or timing condition is absent, the adapter fails closed. This flow supports ministry reminders and calendar changes while preventing an accidental click from becoming an unreviewed external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will switch to the sanitized HouseholdOS instance on port eighty five zero two. I will run the weekly brief, inspect the synthetic grocery, travel, and maintenance sections, review an exact approval payload, and run the twenty-scenario evaluation. Demo mode prevents mailbox access and external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decisions shaped the final system. Google Sheets remains the church system of record because helper assignments change frequently. Typed Pydantic contracts and deterministic Python enforce facts and constraints. SQLite supports a local-first demo with inspectable state. The OpenAI Agents SDK is the only model harness, avoiding overlapping orchestration frameworks. Finally, synthetic records make the grocery, travel, and maintenance demo reproducible without exposing private data. Across the program, these decisions narrowed a broad assistant concept into an evaluable operating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combines 31 unit tests with a deterministic benchmark of twenty scenarios. The tests cover persistence, calendar repair, overlap detection, cancellations, driver overrides, ministry drafting, email extraction, source filtering, and fail-closed adapters. All 31 passed. The benchmark covers routing, constraints, missing information, transportation, retrieval, grounding, safety, synthesis, and each operating domain. It passed 20 of 20, and the unsafe-action rate was zero. These results show correctness against the implemented suite. They do not establish production reliability, and the planned user study has not yet measured time saved or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repository is available at github.com/tummy-wei/HouseholdOS. Before final publication, I will verify that credentials, OAuth tokens, private email content, addresses, and live group identifiers are excluded. The repository should contain the README, architecture, application, domain workflows, adapters, tests, benchmark baseline, sample inputs, and demo instructions. A reviewer can launch Streamlit, run the 31 tests, rerun the benchmark, and inspect the approval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parts of HouseholdOS are visible provenance, typed state, deterministic constraint checks, fail-closed actions, and one brief across five domains. Current limitations are equally important: it runs locally, lacks a durable scheduler, relies on rule-based calendar logic, and has mostly synthetic evaluation shaped by one household. The next steps are managed deployment, a durable job queue, sandbox integration tests, and a four-week user study. Later work can add semantic Bible-material retrieval and budget support. The transferable result is a reusable Chief-of-Staff pattern that coordinates complex work while leaving decisions with people.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ab7a3f4c264c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98edf2c89e41c8" /><Relationship Type="http://schemas.openxmlformats.org/officeDocument/2006/relationships/slideLayout" Target="/ppt/slideLayouts/slideLayout1.xml" Id="R62f208e5519645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f208e5519645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0f0669b03245ac" /><Relationship Type="http://schemas.openxmlformats.org/officeDocument/2006/relationships/notesSlide" Target="/ppt/notesSlides/notesSlide1.xml" Id="R7386fb26ef334c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9030034c254fbd" /><Relationship Type="http://schemas.openxmlformats.org/officeDocument/2006/relationships/notesSlide" Target="/ppt/notesSlides/notesSlide2.xml" Id="Rc832c1d6730b46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37bab079d34ebd" /><Relationship Type="http://schemas.openxmlformats.org/officeDocument/2006/relationships/notesSlide" Target="/ppt/notesSlides/notesSlide3.xml" Id="R338515855eb94a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fe0d81a5ab4c7a" /><Relationship Type="http://schemas.openxmlformats.org/officeDocument/2006/relationships/notesSlide" Target="/ppt/notesSlides/notesSlide4.xml" Id="R76865918ec0549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1718f1a71b4707" /><Relationship Type="http://schemas.openxmlformats.org/officeDocument/2006/relationships/notesSlide" Target="/ppt/notesSlides/notesSlide5.xml" Id="R59a9f52cbf714e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bed3d0a6f94133" /><Relationship Type="http://schemas.openxmlformats.org/officeDocument/2006/relationships/notesSlide" Target="/ppt/notesSlides/notesSlide6.xml" Id="Ra371bb6918d348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1dd24582244621" /><Relationship Type="http://schemas.openxmlformats.org/officeDocument/2006/relationships/notesSlide" Target="/ppt/notesSlides/notesSlide7.xml" Id="R52371235f4fa46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4f3be84dc54b22" /><Relationship Type="http://schemas.openxmlformats.org/officeDocument/2006/relationships/chart" Target="/ppt/slides/charts/chart1.xml" Id="R6235b4fe07f54855" /><Relationship Type="http://schemas.openxmlformats.org/officeDocument/2006/relationships/notesSlide" Target="/ppt/notesSlides/notesSlide8.xml" Id="Ra7203c79180b4d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71c53cb08b4bde" /><Relationship Type="http://schemas.openxmlformats.org/officeDocument/2006/relationships/notesSlide" Target="/ppt/notesSlides/notesSlide9.xml" Id="R71a515d0801441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d8277a5d34d4615" /><Relationship Type="http://schemas.openxmlformats.org/officeDocument/2006/relationships/notesSlide" Target="/ppt/notesSlides/notesSlide10.xml" Id="R9561e66bd0774b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176B57"/>
            </a:solidFill>
          </c:spPr>
          <c:cat>
            <c:strRef>
              <c:f>'Chart Data'!$A$2:$A$4</c:f>
              <c:strCache>
                <c:ptCount val="3"/>
                <c:pt idx="0">
                  <c:v>Unit tests</c:v>
                </c:pt>
                <c:pt idx="1">
                  <c:v>Benchmark scenarios</c:v>
                </c:pt>
                <c:pt idx="2">
                  <c:v>Unsafe actions</c:v>
                </c:pt>
              </c:strCache>
            </c:strRef>
          </c:cat>
          <c:val>
            <c:numRef>
              <c:f>'Chart Data'!$B$2:$B$4</c:f>
              <c:numCache>
                <c:formatCode>General</c:formatCode>
                <c:ptCount val="3"/>
                <c:pt idx="0">
                  <c:v>31</c:v>
                </c:pt>
                <c:pt idx="1">
                  <c:v>20</c:v>
                </c:pt>
                <c:pt idx="2">
                  <c:v>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65FA3B-6964-4080-B73B-084F17713D2C}"/>
              </a:ext>
            </a:extLst>
          </p:cNvPr>
          <p:cNvSpPr>
            <a:spLocks xmlns:a="http://schemas.openxmlformats.org/drawingml/2006/main" noGrp="1"/>
          </p:cNvSpPr>
          <p:nvPr/>
        </p:nvSpPr>
        <p:spPr>
          <a:xfrm xmlns:a="http://schemas.openxmlformats.org/drawingml/2006/main">
            <a:off x="704850" y="1571625"/>
            <a:ext cx="714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172B25"/>
                </a:solidFill>
                <a:latin typeface="Helvetica Neue"/>
                <a:ea typeface="Helvetica Neue"/>
                <a:cs typeface="Helvetica Neue"/>
              </a:defRPr>
            </a:pPr>
            <a:r>
              <a:rPr sz="4350" b="1">
                <a:solidFill>
                  <a:srgbClr val="172B25"/>
                </a:solidFill>
                <a:latin typeface="Helvetica Neue"/>
                <a:ea typeface="Helvetica Neue"/>
                <a:cs typeface="Helvetica Neue"/>
              </a:rPr>
              <a:t>HouseholdOS</a:t>
            </a:r>
          </a:p>
        </p:txBody>
      </p:sp>
      <p:sp>
        <p:nvSpPr>
          <p:cNvPr id="2" name="">
            <a:extLst xmlns:a="http://schemas.openxmlformats.org/drawingml/2006/main">
              <a:ext uri="{FF2B5EF4-FFF2-40B4-BE49-F238E27FC236}">
                <a16:creationId xmlns:a16="http://schemas.microsoft.com/office/drawing/2014/main" id="{9E043C70-96F4-4CAE-97E2-17F69EFC0AA4}"/>
              </a:ext>
            </a:extLst>
          </p:cNvPr>
          <p:cNvSpPr>
            <a:spLocks xmlns:a="http://schemas.openxmlformats.org/drawingml/2006/main" noGrp="1"/>
          </p:cNvSpPr>
          <p:nvPr/>
        </p:nvSpPr>
        <p:spPr>
          <a:xfrm xmlns:a="http://schemas.openxmlformats.org/drawingml/2006/main">
            <a:off x="742950" y="24288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76B57"/>
                </a:solidFill>
                <a:latin typeface="Helvetica Neue"/>
                <a:ea typeface="Helvetica Neue"/>
                <a:cs typeface="Helvetica Neue"/>
              </a:defRPr>
            </a:pPr>
            <a:r>
              <a:rPr sz="2025" b="0">
                <a:solidFill>
                  <a:srgbClr val="176B57"/>
                </a:solidFill>
                <a:latin typeface="Helvetica Neue"/>
                <a:ea typeface="Helvetica Neue"/>
                <a:cs typeface="Helvetica Neue"/>
              </a:rPr>
              <a:t>An approval-gated AI Chief of Staff</a:t>
            </a:r>
          </a:p>
        </p:txBody>
      </p:sp>
      <p:sp>
        <p:nvSpPr>
          <p:cNvPr id="3" name="">
            <a:extLst xmlns:a="http://schemas.openxmlformats.org/drawingml/2006/main">
              <a:ext uri="{FF2B5EF4-FFF2-40B4-BE49-F238E27FC236}">
                <a16:creationId xmlns:a16="http://schemas.microsoft.com/office/drawing/2014/main" id="{EBB94B33-952B-46C8-8FA8-2BBFBDA15E77}"/>
              </a:ext>
            </a:extLst>
          </p:cNvPr>
          <p:cNvSpPr>
            <a:spLocks xmlns:a="http://schemas.openxmlformats.org/drawingml/2006/main" noGrp="1"/>
          </p:cNvSpPr>
          <p:nvPr/>
        </p:nvSpPr>
        <p:spPr>
          <a:xfrm xmlns:a="http://schemas.openxmlformats.org/drawingml/2006/main">
            <a:off x="742950" y="30099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61706A"/>
                </a:solidFill>
                <a:latin typeface="Helvetica Neue"/>
                <a:ea typeface="Helvetica Neue"/>
                <a:cs typeface="Helvetica Neue"/>
              </a:defRPr>
            </a:pPr>
            <a:r>
              <a:rPr sz="1575" b="0">
                <a:solidFill>
                  <a:srgbClr val="61706A"/>
                </a:solidFill>
                <a:latin typeface="Helvetica Neue"/>
                <a:ea typeface="Helvetica Neue"/>
                <a:cs typeface="Helvetica Neue"/>
              </a:rPr>
              <a:t>Family operations and church ministry in one reviewable workflow</a:t>
            </a:r>
          </a:p>
        </p:txBody>
      </p:sp>
      <p:sp>
        <p:nvSpPr>
          <p:cNvPr id="4" name="">
            <a:extLst xmlns:a="http://schemas.openxmlformats.org/drawingml/2006/main">
              <a:ext uri="{FF2B5EF4-FFF2-40B4-BE49-F238E27FC236}">
                <a16:creationId xmlns:a16="http://schemas.microsoft.com/office/drawing/2014/main" id="{5D71F0F1-EEC9-4DDC-903E-EB5001787CB4}"/>
              </a:ext>
            </a:extLst>
          </p:cNvPr>
          <p:cNvSpPr>
            <a:spLocks xmlns:a="http://schemas.openxmlformats.org/drawingml/2006/main" noGrp="1"/>
          </p:cNvSpPr>
          <p:nvPr/>
        </p:nvSpPr>
        <p:spPr>
          <a:xfrm xmlns:a="http://schemas.openxmlformats.org/drawingml/2006/main">
            <a:off x="8572500" y="1314450"/>
            <a:ext cx="2333625" cy="3810000"/>
          </a:xfrm>
          <a:prstGeom xmlns:a="http://schemas.openxmlformats.org/drawingml/2006/main" prst="roundRect">
            <a:avLst>
              <a:gd name="adj" fmla="val 3265"/>
            </a:avLst>
          </a:prstGeom>
          <a:solidFill xmlns:a="http://schemas.openxmlformats.org/drawingml/2006/main">
            <a:srgbClr val="176B57"/>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E897F327-DD75-4AF6-8293-CA358C2CA554}"/>
              </a:ext>
            </a:extLst>
          </p:cNvPr>
          <p:cNvSpPr>
            <a:spLocks xmlns:a="http://schemas.openxmlformats.org/drawingml/2006/main" noGrp="1"/>
          </p:cNvSpPr>
          <p:nvPr/>
        </p:nvSpPr>
        <p:spPr>
          <a:xfrm xmlns:a="http://schemas.openxmlformats.org/drawingml/2006/main">
            <a:off x="8953500" y="1714500"/>
            <a:ext cx="157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D1F3973-8796-4107-8E3A-095C901EF3CB}"/>
              </a:ext>
            </a:extLst>
          </p:cNvPr>
          <p:cNvSpPr>
            <a:spLocks xmlns:a="http://schemas.openxmlformats.org/drawingml/2006/main" noGrp="1"/>
          </p:cNvSpPr>
          <p:nvPr/>
        </p:nvSpPr>
        <p:spPr>
          <a:xfrm xmlns:a="http://schemas.openxmlformats.org/drawingml/2006/main">
            <a:off x="8953500" y="2571750"/>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08"/>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operating domains</a:t>
            </a:r>
          </a:p>
        </p:txBody>
      </p:sp>
      <p:sp>
        <p:nvSpPr>
          <p:cNvPr id="7" name="">
            <a:extLst xmlns:a="http://schemas.openxmlformats.org/drawingml/2006/main">
              <a:ext uri="{FF2B5EF4-FFF2-40B4-BE49-F238E27FC236}">
                <a16:creationId xmlns:a16="http://schemas.microsoft.com/office/drawing/2014/main" id="{D31D9741-98D6-47AD-BC11-733D24CCA5C1}"/>
              </a:ext>
            </a:extLst>
          </p:cNvPr>
          <p:cNvSpPr>
            <a:spLocks xmlns:a="http://schemas.openxmlformats.org/drawingml/2006/main" noGrp="1"/>
          </p:cNvSpPr>
          <p:nvPr/>
        </p:nvSpPr>
        <p:spPr>
          <a:xfrm xmlns:a="http://schemas.openxmlformats.org/drawingml/2006/main">
            <a:off x="8896350" y="3333750"/>
            <a:ext cx="16859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31 tests</a:t>
            </a:r>
          </a:p>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20 scenarios</a:t>
            </a:r>
          </a:p>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0% unsafe actions</a:t>
            </a:r>
          </a:p>
        </p:txBody>
      </p:sp>
      <p:sp>
        <p:nvSpPr>
          <p:cNvPr id="8" name="">
            <a:extLst xmlns:a="http://schemas.openxmlformats.org/drawingml/2006/main">
              <a:ext uri="{FF2B5EF4-FFF2-40B4-BE49-F238E27FC236}">
                <a16:creationId xmlns:a16="http://schemas.microsoft.com/office/drawing/2014/main" id="{5D6545DD-68F3-41FB-ADF9-C0ED3426CA56}"/>
              </a:ext>
            </a:extLst>
          </p:cNvPr>
          <p:cNvSpPr>
            <a:spLocks xmlns:a="http://schemas.openxmlformats.org/drawingml/2006/main" noGrp="1"/>
          </p:cNvSpPr>
          <p:nvPr/>
        </p:nvSpPr>
        <p:spPr>
          <a:xfrm xmlns:a="http://schemas.openxmlformats.org/drawingml/2006/main">
            <a:off x="742950" y="58293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Kang Wei  |  Agentic AI Capstone  |  September 2026</a:t>
            </a:r>
          </a:p>
        </p:txBody>
      </p:sp>
    </p:spTree>
    <p:extLst>
      <p:ext uri="{BB962C8B-B14F-4D97-AF65-F5344CB8AC3E}">
        <p14:creationId xmlns:p14="http://schemas.microsoft.com/office/powerpoint/2010/main" val="187905114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C0B601-9289-49AA-9C99-E5A445C7283E}"/>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The coordination problem</a:t>
            </a:r>
          </a:p>
        </p:txBody>
      </p:sp>
      <p:sp>
        <p:nvSpPr>
          <p:cNvPr id="2" name="">
            <a:extLst xmlns:a="http://schemas.openxmlformats.org/drawingml/2006/main">
              <a:ext uri="{FF2B5EF4-FFF2-40B4-BE49-F238E27FC236}">
                <a16:creationId xmlns:a16="http://schemas.microsoft.com/office/drawing/2014/main" id="{58CDF7E8-4539-4961-8CE8-BC21A91A9134}"/>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A8F0341-75D8-4796-BC10-EFD661168577}"/>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6C3BEB9F-4E17-480C-BE30-34A3333142D4}"/>
              </a:ext>
            </a:extLst>
          </p:cNvPr>
          <p:cNvSpPr>
            <a:spLocks xmlns:a="http://schemas.openxmlformats.org/drawingml/2006/main" noGrp="1"/>
          </p:cNvSpPr>
          <p:nvPr/>
        </p:nvSpPr>
        <p:spPr>
          <a:xfrm xmlns:a="http://schemas.openxmlformats.org/drawingml/2006/main">
            <a:off x="714375" y="14763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FRAGMENTED INPUTS</a:t>
            </a:r>
          </a:p>
        </p:txBody>
      </p:sp>
      <p:sp>
        <p:nvSpPr>
          <p:cNvPr id="5" name="">
            <a:extLst xmlns:a="http://schemas.openxmlformats.org/drawingml/2006/main">
              <a:ext uri="{FF2B5EF4-FFF2-40B4-BE49-F238E27FC236}">
                <a16:creationId xmlns:a16="http://schemas.microsoft.com/office/drawing/2014/main" id="{899B0226-D2DD-476A-9551-5B5DF4C97C83}"/>
              </a:ext>
            </a:extLst>
          </p:cNvPr>
          <p:cNvSpPr>
            <a:spLocks xmlns:a="http://schemas.openxmlformats.org/drawingml/2006/main" noGrp="1"/>
          </p:cNvSpPr>
          <p:nvPr/>
        </p:nvSpPr>
        <p:spPr>
          <a:xfrm xmlns:a="http://schemas.openxmlformats.org/drawingml/2006/main">
            <a:off x="7000875" y="1476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E97962"/>
                </a:solidFill>
                <a:latin typeface="Helvetica Neue"/>
                <a:ea typeface="Helvetica Neue"/>
                <a:cs typeface="Helvetica Neue"/>
              </a:defRPr>
            </a:pPr>
            <a:r>
              <a:rPr sz="1050" b="1">
                <a:solidFill>
                  <a:srgbClr val="E97962"/>
                </a:solidFill>
                <a:latin typeface="Helvetica Neue"/>
                <a:ea typeface="Helvetica Neue"/>
                <a:cs typeface="Helvetica Neue"/>
              </a:rPr>
              <a:t>OPERATIONAL CONSEQUENCES</a:t>
            </a:r>
          </a:p>
        </p:txBody>
      </p:sp>
      <p:sp>
        <p:nvSpPr>
          <p:cNvPr id="6" name="">
            <a:extLst xmlns:a="http://schemas.openxmlformats.org/drawingml/2006/main">
              <a:ext uri="{FF2B5EF4-FFF2-40B4-BE49-F238E27FC236}">
                <a16:creationId xmlns:a16="http://schemas.microsoft.com/office/drawing/2014/main" id="{CD735A91-2904-4C13-BA59-18DBF2B40BE3}"/>
              </a:ext>
            </a:extLst>
          </p:cNvPr>
          <p:cNvSpPr>
            <a:spLocks xmlns:a="http://schemas.openxmlformats.org/drawingml/2006/main" noGrp="1"/>
          </p:cNvSpPr>
          <p:nvPr/>
        </p:nvSpPr>
        <p:spPr>
          <a:xfrm xmlns:a="http://schemas.openxmlformats.org/drawingml/2006/main">
            <a:off x="762000" y="1857375"/>
            <a:ext cx="3333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School calendars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Soccer feeds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Recurring lessons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Church spreadsheet</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Pastor email</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LINE group</a:t>
            </a:r>
          </a:p>
        </p:txBody>
      </p:sp>
      <p:sp>
        <p:nvSpPr>
          <p:cNvPr id="7" name="">
            <a:extLst xmlns:a="http://schemas.openxmlformats.org/drawingml/2006/main">
              <a:ext uri="{FF2B5EF4-FFF2-40B4-BE49-F238E27FC236}">
                <a16:creationId xmlns:a16="http://schemas.microsoft.com/office/drawing/2014/main" id="{5E6B524A-C292-4DB1-816D-85B108B14627}"/>
              </a:ext>
            </a:extLst>
          </p:cNvPr>
          <p:cNvSpPr>
            <a:spLocks xmlns:a="http://schemas.openxmlformats.org/drawingml/2006/main" noGrp="1"/>
          </p:cNvSpPr>
          <p:nvPr/>
        </p:nvSpPr>
        <p:spPr>
          <a:xfrm xmlns:a="http://schemas.openxmlformats.org/drawingml/2006/main">
            <a:off x="4572000" y="2476500"/>
            <a:ext cx="1809750" cy="1381125"/>
          </a:xfrm>
          <a:prstGeom xmlns:a="http://schemas.openxmlformats.org/drawingml/2006/main" prst="roundRect">
            <a:avLst>
              <a:gd name="adj" fmla="val 5517"/>
            </a:avLst>
          </a:prstGeom>
          <a:solidFill xmlns:a="http://schemas.openxmlformats.org/drawingml/2006/main">
            <a:srgbClr val="DCEDE6"/>
          </a:solidFill>
          <a:ln xmlns:a="http://schemas.openxmlformats.org/drawingml/2006/main" w="9525">
            <a:solidFill>
              <a:srgbClr val="BDD0C7"/>
            </a:solidFill>
          </a:ln>
        </p:spPr>
      </p:sp>
      <p:sp>
        <p:nvSpPr>
          <p:cNvPr id="8" name="">
            <a:extLst xmlns:a="http://schemas.openxmlformats.org/drawingml/2006/main">
              <a:ext uri="{FF2B5EF4-FFF2-40B4-BE49-F238E27FC236}">
                <a16:creationId xmlns:a16="http://schemas.microsoft.com/office/drawing/2014/main" id="{3E7CBF4C-24F9-47D7-B44B-FAE4946002BA}"/>
              </a:ext>
            </a:extLst>
          </p:cNvPr>
          <p:cNvSpPr>
            <a:spLocks xmlns:a="http://schemas.openxmlformats.org/drawingml/2006/main" noGrp="1"/>
          </p:cNvSpPr>
          <p:nvPr/>
        </p:nvSpPr>
        <p:spPr>
          <a:xfrm xmlns:a="http://schemas.openxmlformats.org/drawingml/2006/main">
            <a:off x="4686300" y="2695575"/>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6B57"/>
                </a:solidFill>
                <a:latin typeface="Helvetica Neue"/>
                <a:ea typeface="Helvetica Neue"/>
                <a:cs typeface="Helvetica Neue"/>
              </a:defRPr>
            </a:pPr>
            <a:r>
              <a:rPr sz="1875" b="1">
                <a:solidFill>
                  <a:srgbClr val="176B57"/>
                </a:solidFill>
                <a:latin typeface="Helvetica Neue"/>
                <a:ea typeface="Helvetica Neue"/>
                <a:cs typeface="Helvetica Neue"/>
              </a:rPr>
              <a:t>Manual</a:t>
            </a:r>
          </a:p>
          <a:p xmlns:a="http://schemas.openxmlformats.org/drawingml/2006/main">
            <a:pPr>
              <a:defRPr sz="1875" b="1">
                <a:solidFill>
                  <a:srgbClr val="176B57"/>
                </a:solidFill>
                <a:latin typeface="Helvetica Neue"/>
                <a:ea typeface="Helvetica Neue"/>
                <a:cs typeface="Helvetica Neue"/>
              </a:defRPr>
            </a:pPr>
            <a:r>
              <a:rPr sz="1875" b="1">
                <a:solidFill>
                  <a:srgbClr val="176B57"/>
                </a:solidFill>
                <a:latin typeface="Helvetica Neue"/>
                <a:ea typeface="Helvetica Neue"/>
                <a:cs typeface="Helvetica Neue"/>
              </a:rPr>
              <a:t>review</a:t>
            </a:r>
          </a:p>
        </p:txBody>
      </p:sp>
      <p:sp>
        <p:nvSpPr>
          <p:cNvPr id="9" name="">
            <a:extLst xmlns:a="http://schemas.openxmlformats.org/drawingml/2006/main">
              <a:ext uri="{FF2B5EF4-FFF2-40B4-BE49-F238E27FC236}">
                <a16:creationId xmlns:a16="http://schemas.microsoft.com/office/drawing/2014/main" id="{E5EEAABF-740A-46A6-9C68-F4BB56727156}"/>
              </a:ext>
            </a:extLst>
          </p:cNvPr>
          <p:cNvSpPr>
            <a:spLocks xmlns:a="http://schemas.openxmlformats.org/drawingml/2006/main" noGrp="1"/>
          </p:cNvSpPr>
          <p:nvPr/>
        </p:nvSpPr>
        <p:spPr>
          <a:xfrm xmlns:a="http://schemas.openxmlformats.org/drawingml/2006/main">
            <a:off x="7048500" y="1952625"/>
            <a:ext cx="3952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Missed handoffs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Late pickups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Wrong assignments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Unreviewed messages</a:t>
            </a:r>
          </a:p>
        </p:txBody>
      </p:sp>
      <p:sp>
        <p:nvSpPr>
          <p:cNvPr id="10" name="">
            <a:extLst xmlns:a="http://schemas.openxmlformats.org/drawingml/2006/main">
              <a:ext uri="{FF2B5EF4-FFF2-40B4-BE49-F238E27FC236}">
                <a16:creationId xmlns:a16="http://schemas.microsoft.com/office/drawing/2014/main" id="{5B65394E-3F12-4714-A9A6-A3D83D8C5CDB}"/>
              </a:ext>
            </a:extLst>
          </p:cNvPr>
          <p:cNvSpPr>
            <a:spLocks xmlns:a="http://schemas.openxmlformats.org/drawingml/2006/main" noGrp="1"/>
          </p:cNvSpPr>
          <p:nvPr/>
        </p:nvSpPr>
        <p:spPr>
          <a:xfrm xmlns:a="http://schemas.openxmlformats.org/drawingml/2006/main">
            <a:off x="7000875" y="47625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97962"/>
                </a:solidFill>
                <a:latin typeface="Helvetica Neue"/>
                <a:ea typeface="Helvetica Neue"/>
                <a:cs typeface="Helvetica Neue"/>
              </a:defRPr>
            </a:pPr>
            <a:r>
              <a:rPr sz="1650" b="1">
                <a:solidFill>
                  <a:srgbClr val="E97962"/>
                </a:solidFill>
                <a:latin typeface="Helvetica Neue"/>
                <a:ea typeface="Helvetica Neue"/>
                <a:cs typeface="Helvetica Neue"/>
              </a:rPr>
              <a:t>Calendars record events. They do not produce a complete operating plan.</a:t>
            </a:r>
          </a:p>
        </p:txBody>
      </p:sp>
    </p:spTree>
    <p:extLst>
      <p:ext uri="{BB962C8B-B14F-4D97-AF65-F5344CB8AC3E}">
        <p14:creationId xmlns:p14="http://schemas.microsoft.com/office/powerpoint/2010/main" val="53789073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F195FA8-C27F-4802-940F-579C8AEE6864}"/>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System goal and operating boundary</a:t>
            </a:r>
          </a:p>
        </p:txBody>
      </p:sp>
      <p:sp>
        <p:nvSpPr>
          <p:cNvPr id="2" name="">
            <a:extLst xmlns:a="http://schemas.openxmlformats.org/drawingml/2006/main">
              <a:ext uri="{FF2B5EF4-FFF2-40B4-BE49-F238E27FC236}">
                <a16:creationId xmlns:a16="http://schemas.microsoft.com/office/drawing/2014/main" id="{595D53C7-537E-42E6-A92B-C8FAEBA4951E}"/>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4B596BD-341F-4EEB-9DE3-306872307676}"/>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735B1EE3-1FFA-4E0E-93C9-53B80B3D3F3B}"/>
              </a:ext>
            </a:extLst>
          </p:cNvPr>
          <p:cNvSpPr>
            <a:spLocks xmlns:a="http://schemas.openxmlformats.org/drawingml/2006/main" noGrp="1"/>
          </p:cNvSpPr>
          <p:nvPr/>
        </p:nvSpPr>
        <p:spPr>
          <a:xfrm xmlns:a="http://schemas.openxmlformats.org/drawingml/2006/main">
            <a:off x="714375" y="142875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76B57"/>
                </a:solidFill>
                <a:latin typeface="Helvetica Neue"/>
                <a:ea typeface="Helvetica Neue"/>
                <a:cs typeface="Helvetica Neue"/>
              </a:defRPr>
            </a:pPr>
            <a:r>
              <a:rPr sz="2325" b="1">
                <a:solidFill>
                  <a:srgbClr val="176B57"/>
                </a:solidFill>
                <a:latin typeface="Helvetica Neue"/>
                <a:ea typeface="Helvetica Neue"/>
                <a:cs typeface="Helvetica Neue"/>
              </a:rPr>
              <a:t>One weekly brief across five domains</a:t>
            </a:r>
          </a:p>
        </p:txBody>
      </p:sp>
      <p:sp>
        <p:nvSpPr>
          <p:cNvPr id="5" name="">
            <a:extLst xmlns:a="http://schemas.openxmlformats.org/drawingml/2006/main">
              <a:ext uri="{FF2B5EF4-FFF2-40B4-BE49-F238E27FC236}">
                <a16:creationId xmlns:a16="http://schemas.microsoft.com/office/drawing/2014/main" id="{F5DCE92F-A19C-440E-B0D7-6CCDB5274863}"/>
              </a:ext>
            </a:extLst>
          </p:cNvPr>
          <p:cNvSpPr>
            <a:spLocks xmlns:a="http://schemas.openxmlformats.org/drawingml/2006/main" noGrp="1"/>
          </p:cNvSpPr>
          <p:nvPr/>
        </p:nvSpPr>
        <p:spPr>
          <a:xfrm xmlns:a="http://schemas.openxmlformats.org/drawingml/2006/main">
            <a:off x="7429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6" name="">
            <a:extLst xmlns:a="http://schemas.openxmlformats.org/drawingml/2006/main">
              <a:ext uri="{FF2B5EF4-FFF2-40B4-BE49-F238E27FC236}">
                <a16:creationId xmlns:a16="http://schemas.microsoft.com/office/drawing/2014/main" id="{1A628F23-1EE1-41E1-BF09-BF81307C78B6}"/>
              </a:ext>
            </a:extLst>
          </p:cNvPr>
          <p:cNvSpPr>
            <a:spLocks xmlns:a="http://schemas.openxmlformats.org/drawingml/2006/main" noGrp="1"/>
          </p:cNvSpPr>
          <p:nvPr/>
        </p:nvSpPr>
        <p:spPr>
          <a:xfrm xmlns:a="http://schemas.openxmlformats.org/drawingml/2006/main">
            <a:off x="9144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Kids</a:t>
            </a:r>
          </a:p>
        </p:txBody>
      </p:sp>
      <p:sp>
        <p:nvSpPr>
          <p:cNvPr id="7" name="">
            <a:extLst xmlns:a="http://schemas.openxmlformats.org/drawingml/2006/main">
              <a:ext uri="{FF2B5EF4-FFF2-40B4-BE49-F238E27FC236}">
                <a16:creationId xmlns:a16="http://schemas.microsoft.com/office/drawing/2014/main" id="{9530CBF6-70D0-43F4-BE8F-F64E732E316D}"/>
              </a:ext>
            </a:extLst>
          </p:cNvPr>
          <p:cNvSpPr>
            <a:spLocks xmlns:a="http://schemas.openxmlformats.org/drawingml/2006/main" noGrp="1"/>
          </p:cNvSpPr>
          <p:nvPr/>
        </p:nvSpPr>
        <p:spPr>
          <a:xfrm xmlns:a="http://schemas.openxmlformats.org/drawingml/2006/main">
            <a:off x="9144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conflicts and drivers</a:t>
            </a:r>
          </a:p>
        </p:txBody>
      </p:sp>
      <p:sp>
        <p:nvSpPr>
          <p:cNvPr id="8" name="">
            <a:extLst xmlns:a="http://schemas.openxmlformats.org/drawingml/2006/main">
              <a:ext uri="{FF2B5EF4-FFF2-40B4-BE49-F238E27FC236}">
                <a16:creationId xmlns:a16="http://schemas.microsoft.com/office/drawing/2014/main" id="{F1A8A2BB-47FB-4907-9F81-C0F7F5884934}"/>
              </a:ext>
            </a:extLst>
          </p:cNvPr>
          <p:cNvSpPr>
            <a:spLocks xmlns:a="http://schemas.openxmlformats.org/drawingml/2006/main" noGrp="1"/>
          </p:cNvSpPr>
          <p:nvPr/>
        </p:nvSpPr>
        <p:spPr>
          <a:xfrm xmlns:a="http://schemas.openxmlformats.org/drawingml/2006/main">
            <a:off x="43624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09F05287-DFC9-494F-8441-F9791EBBD075}"/>
              </a:ext>
            </a:extLst>
          </p:cNvPr>
          <p:cNvSpPr>
            <a:spLocks xmlns:a="http://schemas.openxmlformats.org/drawingml/2006/main" noGrp="1"/>
          </p:cNvSpPr>
          <p:nvPr/>
        </p:nvSpPr>
        <p:spPr>
          <a:xfrm xmlns:a="http://schemas.openxmlformats.org/drawingml/2006/main">
            <a:off x="45339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Church</a:t>
            </a:r>
          </a:p>
        </p:txBody>
      </p:sp>
      <p:sp>
        <p:nvSpPr>
          <p:cNvPr id="10" name="">
            <a:extLst xmlns:a="http://schemas.openxmlformats.org/drawingml/2006/main">
              <a:ext uri="{FF2B5EF4-FFF2-40B4-BE49-F238E27FC236}">
                <a16:creationId xmlns:a16="http://schemas.microsoft.com/office/drawing/2014/main" id="{7F27FCC6-16AC-406D-B150-55AD642DA40D}"/>
              </a:ext>
            </a:extLst>
          </p:cNvPr>
          <p:cNvSpPr>
            <a:spLocks xmlns:a="http://schemas.openxmlformats.org/drawingml/2006/main" noGrp="1"/>
          </p:cNvSpPr>
          <p:nvPr/>
        </p:nvSpPr>
        <p:spPr>
          <a:xfrm xmlns:a="http://schemas.openxmlformats.org/drawingml/2006/main">
            <a:off x="45339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drafts and assignments</a:t>
            </a:r>
          </a:p>
        </p:txBody>
      </p:sp>
      <p:sp>
        <p:nvSpPr>
          <p:cNvPr id="11" name="">
            <a:extLst xmlns:a="http://schemas.openxmlformats.org/drawingml/2006/main">
              <a:ext uri="{FF2B5EF4-FFF2-40B4-BE49-F238E27FC236}">
                <a16:creationId xmlns:a16="http://schemas.microsoft.com/office/drawing/2014/main" id="{89EC7948-176F-4E2F-A43F-AD20443D5599}"/>
              </a:ext>
            </a:extLst>
          </p:cNvPr>
          <p:cNvSpPr>
            <a:spLocks xmlns:a="http://schemas.openxmlformats.org/drawingml/2006/main" noGrp="1"/>
          </p:cNvSpPr>
          <p:nvPr/>
        </p:nvSpPr>
        <p:spPr>
          <a:xfrm xmlns:a="http://schemas.openxmlformats.org/drawingml/2006/main">
            <a:off x="79819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12" name="">
            <a:extLst xmlns:a="http://schemas.openxmlformats.org/drawingml/2006/main">
              <a:ext uri="{FF2B5EF4-FFF2-40B4-BE49-F238E27FC236}">
                <a16:creationId xmlns:a16="http://schemas.microsoft.com/office/drawing/2014/main" id="{84F166A7-1F18-4FCF-AD1B-4C3417C6D025}"/>
              </a:ext>
            </a:extLst>
          </p:cNvPr>
          <p:cNvSpPr>
            <a:spLocks xmlns:a="http://schemas.openxmlformats.org/drawingml/2006/main" noGrp="1"/>
          </p:cNvSpPr>
          <p:nvPr/>
        </p:nvSpPr>
        <p:spPr>
          <a:xfrm xmlns:a="http://schemas.openxmlformats.org/drawingml/2006/main">
            <a:off x="81534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Groceries</a:t>
            </a:r>
          </a:p>
        </p:txBody>
      </p:sp>
      <p:sp>
        <p:nvSpPr>
          <p:cNvPr id="13" name="">
            <a:extLst xmlns:a="http://schemas.openxmlformats.org/drawingml/2006/main">
              <a:ext uri="{FF2B5EF4-FFF2-40B4-BE49-F238E27FC236}">
                <a16:creationId xmlns:a16="http://schemas.microsoft.com/office/drawing/2014/main" id="{A1230C8B-8E97-4E5C-8CCE-BE689B1DFB67}"/>
              </a:ext>
            </a:extLst>
          </p:cNvPr>
          <p:cNvSpPr>
            <a:spLocks xmlns:a="http://schemas.openxmlformats.org/drawingml/2006/main" noGrp="1"/>
          </p:cNvSpPr>
          <p:nvPr/>
        </p:nvSpPr>
        <p:spPr>
          <a:xfrm xmlns:a="http://schemas.openxmlformats.org/drawingml/2006/main">
            <a:off x="81534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week-scoped list</a:t>
            </a:r>
          </a:p>
        </p:txBody>
      </p:sp>
      <p:sp>
        <p:nvSpPr>
          <p:cNvPr id="14" name="">
            <a:extLst xmlns:a="http://schemas.openxmlformats.org/drawingml/2006/main">
              <a:ext uri="{FF2B5EF4-FFF2-40B4-BE49-F238E27FC236}">
                <a16:creationId xmlns:a16="http://schemas.microsoft.com/office/drawing/2014/main" id="{BB8D6B8F-37BF-4C94-B2A1-AE8A4AB0AEC5}"/>
              </a:ext>
            </a:extLst>
          </p:cNvPr>
          <p:cNvSpPr>
            <a:spLocks xmlns:a="http://schemas.openxmlformats.org/drawingml/2006/main" noGrp="1"/>
          </p:cNvSpPr>
          <p:nvPr/>
        </p:nvSpPr>
        <p:spPr>
          <a:xfrm xmlns:a="http://schemas.openxmlformats.org/drawingml/2006/main">
            <a:off x="742950" y="3648075"/>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15" name="">
            <a:extLst xmlns:a="http://schemas.openxmlformats.org/drawingml/2006/main">
              <a:ext uri="{FF2B5EF4-FFF2-40B4-BE49-F238E27FC236}">
                <a16:creationId xmlns:a16="http://schemas.microsoft.com/office/drawing/2014/main" id="{817D995A-CB45-4BB1-BCBA-D6B7958EB963}"/>
              </a:ext>
            </a:extLst>
          </p:cNvPr>
          <p:cNvSpPr>
            <a:spLocks xmlns:a="http://schemas.openxmlformats.org/drawingml/2006/main" noGrp="1"/>
          </p:cNvSpPr>
          <p:nvPr/>
        </p:nvSpPr>
        <p:spPr>
          <a:xfrm xmlns:a="http://schemas.openxmlformats.org/drawingml/2006/main">
            <a:off x="914400" y="3781425"/>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Travel</a:t>
            </a:r>
          </a:p>
        </p:txBody>
      </p:sp>
      <p:sp>
        <p:nvSpPr>
          <p:cNvPr id="16" name="">
            <a:extLst xmlns:a="http://schemas.openxmlformats.org/drawingml/2006/main">
              <a:ext uri="{FF2B5EF4-FFF2-40B4-BE49-F238E27FC236}">
                <a16:creationId xmlns:a16="http://schemas.microsoft.com/office/drawing/2014/main" id="{09ACBE4E-0F91-4FA8-8450-B26BF7CD3030}"/>
              </a:ext>
            </a:extLst>
          </p:cNvPr>
          <p:cNvSpPr>
            <a:spLocks xmlns:a="http://schemas.openxmlformats.org/drawingml/2006/main" noGrp="1"/>
          </p:cNvSpPr>
          <p:nvPr/>
        </p:nvSpPr>
        <p:spPr>
          <a:xfrm xmlns:a="http://schemas.openxmlformats.org/drawingml/2006/main">
            <a:off x="914400" y="415290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planning lifecycle</a:t>
            </a:r>
          </a:p>
        </p:txBody>
      </p:sp>
      <p:sp>
        <p:nvSpPr>
          <p:cNvPr id="17" name="">
            <a:extLst xmlns:a="http://schemas.openxmlformats.org/drawingml/2006/main">
              <a:ext uri="{FF2B5EF4-FFF2-40B4-BE49-F238E27FC236}">
                <a16:creationId xmlns:a16="http://schemas.microsoft.com/office/drawing/2014/main" id="{C16099E7-3988-46E7-B198-A8A62005B8E2}"/>
              </a:ext>
            </a:extLst>
          </p:cNvPr>
          <p:cNvSpPr>
            <a:spLocks xmlns:a="http://schemas.openxmlformats.org/drawingml/2006/main" noGrp="1"/>
          </p:cNvSpPr>
          <p:nvPr/>
        </p:nvSpPr>
        <p:spPr>
          <a:xfrm xmlns:a="http://schemas.openxmlformats.org/drawingml/2006/main">
            <a:off x="4362450" y="3648075"/>
            <a:ext cx="3143250" cy="971550"/>
          </a:xfrm>
          <a:prstGeom xmlns:a="http://schemas.openxmlformats.org/drawingml/2006/main" prst="roundRect">
            <a:avLst>
              <a:gd name="adj" fmla="val 7843"/>
            </a:avLst>
          </a:prstGeom>
          <a:solidFill xmlns:a="http://schemas.openxmlformats.org/drawingml/2006/main">
            <a:srgbClr val="DCEDE6"/>
          </a:solidFill>
          <a:ln xmlns:a="http://schemas.openxmlformats.org/drawingml/2006/main" w="9525">
            <a:solidFill>
              <a:srgbClr val="BDD0C7"/>
            </a:solidFill>
          </a:ln>
        </p:spPr>
      </p:sp>
      <p:sp>
        <p:nvSpPr>
          <p:cNvPr id="18" name="">
            <a:extLst xmlns:a="http://schemas.openxmlformats.org/drawingml/2006/main">
              <a:ext uri="{FF2B5EF4-FFF2-40B4-BE49-F238E27FC236}">
                <a16:creationId xmlns:a16="http://schemas.microsoft.com/office/drawing/2014/main" id="{76F98F22-DBE3-4ED4-9B51-89D546E86634}"/>
              </a:ext>
            </a:extLst>
          </p:cNvPr>
          <p:cNvSpPr>
            <a:spLocks xmlns:a="http://schemas.openxmlformats.org/drawingml/2006/main" noGrp="1"/>
          </p:cNvSpPr>
          <p:nvPr/>
        </p:nvSpPr>
        <p:spPr>
          <a:xfrm xmlns:a="http://schemas.openxmlformats.org/drawingml/2006/main">
            <a:off x="4533900" y="3781425"/>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Maintenance</a:t>
            </a:r>
          </a:p>
        </p:txBody>
      </p:sp>
      <p:sp>
        <p:nvSpPr>
          <p:cNvPr id="19" name="">
            <a:extLst xmlns:a="http://schemas.openxmlformats.org/drawingml/2006/main">
              <a:ext uri="{FF2B5EF4-FFF2-40B4-BE49-F238E27FC236}">
                <a16:creationId xmlns:a16="http://schemas.microsoft.com/office/drawing/2014/main" id="{2A960554-03B2-49B2-BBE5-BACAF4720F7E}"/>
              </a:ext>
            </a:extLst>
          </p:cNvPr>
          <p:cNvSpPr>
            <a:spLocks xmlns:a="http://schemas.openxmlformats.org/drawingml/2006/main" noGrp="1"/>
          </p:cNvSpPr>
          <p:nvPr/>
        </p:nvSpPr>
        <p:spPr>
          <a:xfrm xmlns:a="http://schemas.openxmlformats.org/drawingml/2006/main">
            <a:off x="4533900" y="415290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owned due dates</a:t>
            </a:r>
          </a:p>
        </p:txBody>
      </p:sp>
      <p:sp>
        <p:nvSpPr>
          <p:cNvPr id="20" name="">
            <a:extLst xmlns:a="http://schemas.openxmlformats.org/drawingml/2006/main">
              <a:ext uri="{FF2B5EF4-FFF2-40B4-BE49-F238E27FC236}">
                <a16:creationId xmlns:a16="http://schemas.microsoft.com/office/drawing/2014/main" id="{38D16B6B-EED4-466B-A1B1-7EC12E94ADC9}"/>
              </a:ext>
            </a:extLst>
          </p:cNvPr>
          <p:cNvSpPr>
            <a:spLocks xmlns:a="http://schemas.openxmlformats.org/drawingml/2006/main" noGrp="1"/>
          </p:cNvSpPr>
          <p:nvPr/>
        </p:nvSpPr>
        <p:spPr>
          <a:xfrm xmlns:a="http://schemas.openxmlformats.org/drawingml/2006/main">
            <a:off x="742950" y="53149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97962"/>
                </a:solidFill>
                <a:latin typeface="Helvetica Neue"/>
                <a:ea typeface="Helvetica Neue"/>
                <a:cs typeface="Helvetica Neue"/>
              </a:defRPr>
            </a:pPr>
            <a:r>
              <a:rPr sz="1650" b="1">
                <a:solidFill>
                  <a:srgbClr val="E97962"/>
                </a:solidFill>
                <a:latin typeface="Helvetica Neue"/>
                <a:ea typeface="Helvetica Neue"/>
                <a:cs typeface="Helvetica Neue"/>
              </a:rPr>
              <a:t>No purchases, bookings, contractor contact, or external messages without an exact approval</a:t>
            </a:r>
          </a:p>
        </p:txBody>
      </p:sp>
    </p:spTree>
    <p:extLst>
      <p:ext uri="{BB962C8B-B14F-4D97-AF65-F5344CB8AC3E}">
        <p14:creationId xmlns:p14="http://schemas.microsoft.com/office/powerpoint/2010/main" val="622150633"/>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6FC189D-766B-4F5C-9273-2ABFEC4AD355}"/>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Architecture and major components</a:t>
            </a:r>
          </a:p>
        </p:txBody>
      </p:sp>
      <p:sp>
        <p:nvSpPr>
          <p:cNvPr id="2" name="">
            <a:extLst xmlns:a="http://schemas.openxmlformats.org/drawingml/2006/main">
              <a:ext uri="{FF2B5EF4-FFF2-40B4-BE49-F238E27FC236}">
                <a16:creationId xmlns:a16="http://schemas.microsoft.com/office/drawing/2014/main" id="{DD299B46-8842-4220-813E-5B377EE0A69A}"/>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CA4452F-2C82-4CB5-BB69-29F22D01AF79}"/>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78957E61-412E-45DC-A30D-7FEC72E2F54D}"/>
              </a:ext>
            </a:extLst>
          </p:cNvPr>
          <p:cNvSpPr>
            <a:spLocks xmlns:a="http://schemas.openxmlformats.org/drawingml/2006/main" noGrp="1"/>
          </p:cNvSpPr>
          <p:nvPr/>
        </p:nvSpPr>
        <p:spPr>
          <a:xfrm xmlns:a="http://schemas.openxmlformats.org/drawingml/2006/main">
            <a:off x="666750" y="1666875"/>
            <a:ext cx="2333625" cy="3333750"/>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F8FCDA7A-F1DE-4EB4-8B47-EA4FA5B34C00}"/>
              </a:ext>
            </a:extLst>
          </p:cNvPr>
          <p:cNvSpPr>
            <a:spLocks xmlns:a="http://schemas.openxmlformats.org/drawingml/2006/main" noGrp="1"/>
          </p:cNvSpPr>
          <p:nvPr/>
        </p:nvSpPr>
        <p:spPr>
          <a:xfrm xmlns:a="http://schemas.openxmlformats.org/drawingml/2006/main">
            <a:off x="857250"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Sources</a:t>
            </a:r>
          </a:p>
        </p:txBody>
      </p:sp>
      <p:sp>
        <p:nvSpPr>
          <p:cNvPr id="6" name="">
            <a:extLst xmlns:a="http://schemas.openxmlformats.org/drawingml/2006/main">
              <a:ext uri="{FF2B5EF4-FFF2-40B4-BE49-F238E27FC236}">
                <a16:creationId xmlns:a16="http://schemas.microsoft.com/office/drawing/2014/main" id="{A6522CA4-7DF0-480A-BF20-190ADEC2DA6E}"/>
              </a:ext>
            </a:extLst>
          </p:cNvPr>
          <p:cNvSpPr>
            <a:spLocks xmlns:a="http://schemas.openxmlformats.org/drawingml/2006/main" noGrp="1"/>
          </p:cNvSpPr>
          <p:nvPr/>
        </p:nvSpPr>
        <p:spPr>
          <a:xfrm xmlns:a="http://schemas.openxmlformats.org/drawingml/2006/main">
            <a:off x="933450"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ICS feeds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Google Sheets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Gmail</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Manual input</a:t>
            </a:r>
          </a:p>
        </p:txBody>
      </p:sp>
      <p:sp>
        <p:nvSpPr>
          <p:cNvPr id="7" name="">
            <a:extLst xmlns:a="http://schemas.openxmlformats.org/drawingml/2006/main">
              <a:ext uri="{FF2B5EF4-FFF2-40B4-BE49-F238E27FC236}">
                <a16:creationId xmlns:a16="http://schemas.microsoft.com/office/drawing/2014/main" id="{A3924CB3-04E2-4966-AFD9-FB3831E81A2D}"/>
              </a:ext>
            </a:extLst>
          </p:cNvPr>
          <p:cNvSpPr>
            <a:spLocks xmlns:a="http://schemas.openxmlformats.org/drawingml/2006/main" noGrp="1"/>
          </p:cNvSpPr>
          <p:nvPr/>
        </p:nvSpPr>
        <p:spPr>
          <a:xfrm xmlns:a="http://schemas.openxmlformats.org/drawingml/2006/main">
            <a:off x="3019425"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5F0E1CEC-321F-4542-99A4-FC1C7FDEF38C}"/>
              </a:ext>
            </a:extLst>
          </p:cNvPr>
          <p:cNvSpPr>
            <a:spLocks xmlns:a="http://schemas.openxmlformats.org/drawingml/2006/main" noGrp="1"/>
          </p:cNvSpPr>
          <p:nvPr/>
        </p:nvSpPr>
        <p:spPr>
          <a:xfrm xmlns:a="http://schemas.openxmlformats.org/drawingml/2006/main">
            <a:off x="3095625" y="1666875"/>
            <a:ext cx="2333625" cy="3333750"/>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93E0A2F1-A3AC-445C-A381-7EE45D6182B0}"/>
              </a:ext>
            </a:extLst>
          </p:cNvPr>
          <p:cNvSpPr>
            <a:spLocks xmlns:a="http://schemas.openxmlformats.org/drawingml/2006/main" noGrp="1"/>
          </p:cNvSpPr>
          <p:nvPr/>
        </p:nvSpPr>
        <p:spPr>
          <a:xfrm xmlns:a="http://schemas.openxmlformats.org/drawingml/2006/main">
            <a:off x="3286125"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2"/>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Deterministic core</a:t>
            </a:r>
          </a:p>
        </p:txBody>
      </p:sp>
      <p:sp>
        <p:nvSpPr>
          <p:cNvPr id="10" name="">
            <a:extLst xmlns:a="http://schemas.openxmlformats.org/drawingml/2006/main">
              <a:ext uri="{FF2B5EF4-FFF2-40B4-BE49-F238E27FC236}">
                <a16:creationId xmlns:a16="http://schemas.microsoft.com/office/drawing/2014/main" id="{79E69E55-5C82-486D-9A02-35EEA5370BF6}"/>
              </a:ext>
            </a:extLst>
          </p:cNvPr>
          <p:cNvSpPr>
            <a:spLocks xmlns:a="http://schemas.openxmlformats.org/drawingml/2006/main" noGrp="1"/>
          </p:cNvSpPr>
          <p:nvPr/>
        </p:nvSpPr>
        <p:spPr>
          <a:xfrm xmlns:a="http://schemas.openxmlformats.org/drawingml/2006/main">
            <a:off x="3362325"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Normalization</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SQLite memory</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Retrieval filters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Policy checks</a:t>
            </a:r>
          </a:p>
        </p:txBody>
      </p:sp>
      <p:sp>
        <p:nvSpPr>
          <p:cNvPr id="11" name="">
            <a:extLst xmlns:a="http://schemas.openxmlformats.org/drawingml/2006/main">
              <a:ext uri="{FF2B5EF4-FFF2-40B4-BE49-F238E27FC236}">
                <a16:creationId xmlns:a16="http://schemas.microsoft.com/office/drawing/2014/main" id="{22C7F7FD-298F-432B-BCD2-A150B4EA2DD6}"/>
              </a:ext>
            </a:extLst>
          </p:cNvPr>
          <p:cNvSpPr>
            <a:spLocks xmlns:a="http://schemas.openxmlformats.org/drawingml/2006/main" noGrp="1"/>
          </p:cNvSpPr>
          <p:nvPr/>
        </p:nvSpPr>
        <p:spPr>
          <a:xfrm xmlns:a="http://schemas.openxmlformats.org/drawingml/2006/main">
            <a:off x="5448300"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1A554DB-67A0-4788-AA75-5AA923C1DC27}"/>
              </a:ext>
            </a:extLst>
          </p:cNvPr>
          <p:cNvSpPr>
            <a:spLocks xmlns:a="http://schemas.openxmlformats.org/drawingml/2006/main" noGrp="1"/>
          </p:cNvSpPr>
          <p:nvPr/>
        </p:nvSpPr>
        <p:spPr>
          <a:xfrm xmlns:a="http://schemas.openxmlformats.org/drawingml/2006/main">
            <a:off x="5810250" y="1666875"/>
            <a:ext cx="2333625" cy="3333750"/>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13" name="">
            <a:extLst xmlns:a="http://schemas.openxmlformats.org/drawingml/2006/main">
              <a:ext uri="{FF2B5EF4-FFF2-40B4-BE49-F238E27FC236}">
                <a16:creationId xmlns:a16="http://schemas.microsoft.com/office/drawing/2014/main" id="{7369E2C3-1215-494B-803D-20D37E3BD064}"/>
              </a:ext>
            </a:extLst>
          </p:cNvPr>
          <p:cNvSpPr>
            <a:spLocks xmlns:a="http://schemas.openxmlformats.org/drawingml/2006/main" noGrp="1"/>
          </p:cNvSpPr>
          <p:nvPr/>
        </p:nvSpPr>
        <p:spPr>
          <a:xfrm xmlns:a="http://schemas.openxmlformats.org/drawingml/2006/main">
            <a:off x="6000750"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Agent workflow</a:t>
            </a:r>
          </a:p>
        </p:txBody>
      </p:sp>
      <p:sp>
        <p:nvSpPr>
          <p:cNvPr id="14" name="">
            <a:extLst xmlns:a="http://schemas.openxmlformats.org/drawingml/2006/main">
              <a:ext uri="{FF2B5EF4-FFF2-40B4-BE49-F238E27FC236}">
                <a16:creationId xmlns:a16="http://schemas.microsoft.com/office/drawing/2014/main" id="{E12C1F1B-3055-4CF1-9BE4-4DD4B33D126F}"/>
              </a:ext>
            </a:extLst>
          </p:cNvPr>
          <p:cNvSpPr>
            <a:spLocks xmlns:a="http://schemas.openxmlformats.org/drawingml/2006/main" noGrp="1"/>
          </p:cNvSpPr>
          <p:nvPr/>
        </p:nvSpPr>
        <p:spPr>
          <a:xfrm xmlns:a="http://schemas.openxmlformats.org/drawingml/2006/main">
            <a:off x="6076950"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Supervisor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Schedule</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Research</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Planner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Critic</a:t>
            </a:r>
          </a:p>
        </p:txBody>
      </p:sp>
      <p:sp>
        <p:nvSpPr>
          <p:cNvPr id="15" name="">
            <a:extLst xmlns:a="http://schemas.openxmlformats.org/drawingml/2006/main">
              <a:ext uri="{FF2B5EF4-FFF2-40B4-BE49-F238E27FC236}">
                <a16:creationId xmlns:a16="http://schemas.microsoft.com/office/drawing/2014/main" id="{1D7D29C6-4366-4AAD-BD14-F5CBC33039FA}"/>
              </a:ext>
            </a:extLst>
          </p:cNvPr>
          <p:cNvSpPr>
            <a:spLocks xmlns:a="http://schemas.openxmlformats.org/drawingml/2006/main" noGrp="1"/>
          </p:cNvSpPr>
          <p:nvPr/>
        </p:nvSpPr>
        <p:spPr>
          <a:xfrm xmlns:a="http://schemas.openxmlformats.org/drawingml/2006/main">
            <a:off x="8162925"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F61C5058-469F-4649-9D33-FC1DC3525E36}"/>
              </a:ext>
            </a:extLst>
          </p:cNvPr>
          <p:cNvSpPr>
            <a:spLocks xmlns:a="http://schemas.openxmlformats.org/drawingml/2006/main" noGrp="1"/>
          </p:cNvSpPr>
          <p:nvPr/>
        </p:nvSpPr>
        <p:spPr>
          <a:xfrm xmlns:a="http://schemas.openxmlformats.org/drawingml/2006/main">
            <a:off x="8524875" y="1666875"/>
            <a:ext cx="2333625" cy="3333750"/>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17" name="">
            <a:extLst xmlns:a="http://schemas.openxmlformats.org/drawingml/2006/main">
              <a:ext uri="{FF2B5EF4-FFF2-40B4-BE49-F238E27FC236}">
                <a16:creationId xmlns:a16="http://schemas.microsoft.com/office/drawing/2014/main" id="{05424243-2DFE-4987-91F4-1124A9B940A0}"/>
              </a:ext>
            </a:extLst>
          </p:cNvPr>
          <p:cNvSpPr>
            <a:spLocks xmlns:a="http://schemas.openxmlformats.org/drawingml/2006/main" noGrp="1"/>
          </p:cNvSpPr>
          <p:nvPr/>
        </p:nvSpPr>
        <p:spPr>
          <a:xfrm xmlns:a="http://schemas.openxmlformats.org/drawingml/2006/main">
            <a:off x="8715375"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272"/>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Controlled actions</a:t>
            </a:r>
          </a:p>
        </p:txBody>
      </p:sp>
      <p:sp>
        <p:nvSpPr>
          <p:cNvPr id="18" name="">
            <a:extLst xmlns:a="http://schemas.openxmlformats.org/drawingml/2006/main">
              <a:ext uri="{FF2B5EF4-FFF2-40B4-BE49-F238E27FC236}">
                <a16:creationId xmlns:a16="http://schemas.microsoft.com/office/drawing/2014/main" id="{273A6726-0884-47F8-8F3E-DA47C06454A4}"/>
              </a:ext>
            </a:extLst>
          </p:cNvPr>
          <p:cNvSpPr>
            <a:spLocks xmlns:a="http://schemas.openxmlformats.org/drawingml/2006/main" noGrp="1"/>
          </p:cNvSpPr>
          <p:nvPr/>
        </p:nvSpPr>
        <p:spPr>
          <a:xfrm xmlns:a="http://schemas.openxmlformats.org/drawingml/2006/main">
            <a:off x="8791575"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Apps Script</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Google Calendar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LINE API</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Audit record</a:t>
            </a:r>
          </a:p>
        </p:txBody>
      </p:sp>
      <p:sp>
        <p:nvSpPr>
          <p:cNvPr id="19" name="">
            <a:extLst xmlns:a="http://schemas.openxmlformats.org/drawingml/2006/main">
              <a:ext uri="{FF2B5EF4-FFF2-40B4-BE49-F238E27FC236}">
                <a16:creationId xmlns:a16="http://schemas.microsoft.com/office/drawing/2014/main" id="{70B11800-2523-4ACE-A16A-EE4CEC66FCE4}"/>
              </a:ext>
            </a:extLst>
          </p:cNvPr>
          <p:cNvSpPr>
            <a:spLocks xmlns:a="http://schemas.openxmlformats.org/drawingml/2006/main" noGrp="1"/>
          </p:cNvSpPr>
          <p:nvPr/>
        </p:nvSpPr>
        <p:spPr>
          <a:xfrm xmlns:a="http://schemas.openxmlformats.org/drawingml/2006/main">
            <a:off x="1476375" y="5381625"/>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Streamlit provides the operating console and visible run trace</a:t>
            </a:r>
          </a:p>
        </p:txBody>
      </p:sp>
    </p:spTree>
    <p:extLst>
      <p:ext uri="{BB962C8B-B14F-4D97-AF65-F5344CB8AC3E}">
        <p14:creationId xmlns:p14="http://schemas.microsoft.com/office/powerpoint/2010/main" val="118528397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DD631CA-1209-405B-97BF-4EC353D3876C}"/>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Human-in-the-loop action flow</a:t>
            </a:r>
          </a:p>
        </p:txBody>
      </p:sp>
      <p:sp>
        <p:nvSpPr>
          <p:cNvPr id="2" name="">
            <a:extLst xmlns:a="http://schemas.openxmlformats.org/drawingml/2006/main">
              <a:ext uri="{FF2B5EF4-FFF2-40B4-BE49-F238E27FC236}">
                <a16:creationId xmlns:a16="http://schemas.microsoft.com/office/drawing/2014/main" id="{552999AB-7C8C-4856-B76F-31D79285A4D2}"/>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42D4087D-E098-4458-8DBF-BB2FCBE5413B}"/>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A8CB8E2F-E3AC-4676-BE1A-BFC445C8B6C9}"/>
              </a:ext>
            </a:extLst>
          </p:cNvPr>
          <p:cNvSpPr>
            <a:spLocks xmlns:a="http://schemas.openxmlformats.org/drawingml/2006/main" noGrp="1"/>
          </p:cNvSpPr>
          <p:nvPr/>
        </p:nvSpPr>
        <p:spPr>
          <a:xfrm xmlns:a="http://schemas.openxmlformats.org/drawingml/2006/main">
            <a:off x="590550"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37510689-C3A7-4F0C-96C7-503A993D0A6B}"/>
              </a:ext>
            </a:extLst>
          </p:cNvPr>
          <p:cNvSpPr>
            <a:spLocks xmlns:a="http://schemas.openxmlformats.org/drawingml/2006/main" noGrp="1"/>
          </p:cNvSpPr>
          <p:nvPr/>
        </p:nvSpPr>
        <p:spPr>
          <a:xfrm xmlns:a="http://schemas.openxmlformats.org/drawingml/2006/main">
            <a:off x="120967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A6112120-C476-45A1-A130-188B47E1DD6E}"/>
              </a:ext>
            </a:extLst>
          </p:cNvPr>
          <p:cNvSpPr>
            <a:spLocks xmlns:a="http://schemas.openxmlformats.org/drawingml/2006/main" noGrp="1"/>
          </p:cNvSpPr>
          <p:nvPr/>
        </p:nvSpPr>
        <p:spPr>
          <a:xfrm xmlns:a="http://schemas.openxmlformats.org/drawingml/2006/main">
            <a:off x="76200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Draft</a:t>
            </a:r>
          </a:p>
        </p:txBody>
      </p:sp>
      <p:sp>
        <p:nvSpPr>
          <p:cNvPr id="7" name="">
            <a:extLst xmlns:a="http://schemas.openxmlformats.org/drawingml/2006/main">
              <a:ext uri="{FF2B5EF4-FFF2-40B4-BE49-F238E27FC236}">
                <a16:creationId xmlns:a16="http://schemas.microsoft.com/office/drawing/2014/main" id="{4A28BE4B-9C51-436C-AA9B-0873C0EF98AA}"/>
              </a:ext>
            </a:extLst>
          </p:cNvPr>
          <p:cNvSpPr>
            <a:spLocks xmlns:a="http://schemas.openxmlformats.org/drawingml/2006/main" noGrp="1"/>
          </p:cNvSpPr>
          <p:nvPr/>
        </p:nvSpPr>
        <p:spPr>
          <a:xfrm xmlns:a="http://schemas.openxmlformats.org/drawingml/2006/main">
            <a:off x="76200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System prepares content</a:t>
            </a:r>
          </a:p>
        </p:txBody>
      </p:sp>
      <p:sp>
        <p:nvSpPr>
          <p:cNvPr id="8" name="">
            <a:extLst xmlns:a="http://schemas.openxmlformats.org/drawingml/2006/main">
              <a:ext uri="{FF2B5EF4-FFF2-40B4-BE49-F238E27FC236}">
                <a16:creationId xmlns:a16="http://schemas.microsoft.com/office/drawing/2014/main" id="{4DDD7A71-2B37-4DEF-9D00-F6B513C065CA}"/>
              </a:ext>
            </a:extLst>
          </p:cNvPr>
          <p:cNvSpPr>
            <a:spLocks xmlns:a="http://schemas.openxmlformats.org/drawingml/2006/main" noGrp="1"/>
          </p:cNvSpPr>
          <p:nvPr/>
        </p:nvSpPr>
        <p:spPr>
          <a:xfrm xmlns:a="http://schemas.openxmlformats.org/drawingml/2006/main">
            <a:off x="2905125"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E7924976-3379-4327-9FAA-2FFB60E09180}"/>
              </a:ext>
            </a:extLst>
          </p:cNvPr>
          <p:cNvSpPr>
            <a:spLocks xmlns:a="http://schemas.openxmlformats.org/drawingml/2006/main" noGrp="1"/>
          </p:cNvSpPr>
          <p:nvPr/>
        </p:nvSpPr>
        <p:spPr>
          <a:xfrm xmlns:a="http://schemas.openxmlformats.org/drawingml/2006/main">
            <a:off x="3524250"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8B7C25AB-AE0A-4352-87F2-CB428F5A8626}"/>
              </a:ext>
            </a:extLst>
          </p:cNvPr>
          <p:cNvSpPr>
            <a:spLocks xmlns:a="http://schemas.openxmlformats.org/drawingml/2006/main" noGrp="1"/>
          </p:cNvSpPr>
          <p:nvPr/>
        </p:nvSpPr>
        <p:spPr>
          <a:xfrm xmlns:a="http://schemas.openxmlformats.org/drawingml/2006/main">
            <a:off x="3076575"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Preview</a:t>
            </a:r>
          </a:p>
        </p:txBody>
      </p:sp>
      <p:sp>
        <p:nvSpPr>
          <p:cNvPr id="11" name="">
            <a:extLst xmlns:a="http://schemas.openxmlformats.org/drawingml/2006/main">
              <a:ext uri="{FF2B5EF4-FFF2-40B4-BE49-F238E27FC236}">
                <a16:creationId xmlns:a16="http://schemas.microsoft.com/office/drawing/2014/main" id="{D4DE2F00-D420-4D00-8398-9B28E2D21679}"/>
              </a:ext>
            </a:extLst>
          </p:cNvPr>
          <p:cNvSpPr>
            <a:spLocks xmlns:a="http://schemas.openxmlformats.org/drawingml/2006/main" noGrp="1"/>
          </p:cNvSpPr>
          <p:nvPr/>
        </p:nvSpPr>
        <p:spPr>
          <a:xfrm xmlns:a="http://schemas.openxmlformats.org/drawingml/2006/main">
            <a:off x="3076575"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User checks facts</a:t>
            </a:r>
          </a:p>
        </p:txBody>
      </p:sp>
      <p:sp>
        <p:nvSpPr>
          <p:cNvPr id="12" name="">
            <a:extLst xmlns:a="http://schemas.openxmlformats.org/drawingml/2006/main">
              <a:ext uri="{FF2B5EF4-FFF2-40B4-BE49-F238E27FC236}">
                <a16:creationId xmlns:a16="http://schemas.microsoft.com/office/drawing/2014/main" id="{C18BD749-F9ED-4B78-A4F7-C74686AB3098}"/>
              </a:ext>
            </a:extLst>
          </p:cNvPr>
          <p:cNvSpPr>
            <a:spLocks xmlns:a="http://schemas.openxmlformats.org/drawingml/2006/main" noGrp="1"/>
          </p:cNvSpPr>
          <p:nvPr/>
        </p:nvSpPr>
        <p:spPr>
          <a:xfrm xmlns:a="http://schemas.openxmlformats.org/drawingml/2006/main">
            <a:off x="5219700" y="1981200"/>
            <a:ext cx="2000250" cy="2190750"/>
          </a:xfrm>
          <a:prstGeom xmlns:a="http://schemas.openxmlformats.org/drawingml/2006/main" prst="roundRect">
            <a:avLst>
              <a:gd name="adj" fmla="val 3810"/>
            </a:avLst>
          </a:prstGeom>
          <a:solidFill xmlns:a="http://schemas.openxmlformats.org/drawingml/2006/main">
            <a:srgbClr val="DCEDE6"/>
          </a:solidFill>
          <a:ln xmlns:a="http://schemas.openxmlformats.org/drawingml/2006/main" w="9525">
            <a:solidFill>
              <a:srgbClr val="BDD0C7"/>
            </a:solidFill>
          </a:ln>
        </p:spPr>
      </p:sp>
      <p:sp>
        <p:nvSpPr>
          <p:cNvPr id="13" name="">
            <a:extLst xmlns:a="http://schemas.openxmlformats.org/drawingml/2006/main">
              <a:ext uri="{FF2B5EF4-FFF2-40B4-BE49-F238E27FC236}">
                <a16:creationId xmlns:a16="http://schemas.microsoft.com/office/drawing/2014/main" id="{2FD85DD8-1C6A-4426-9597-799488DD9A8A}"/>
              </a:ext>
            </a:extLst>
          </p:cNvPr>
          <p:cNvSpPr>
            <a:spLocks xmlns:a="http://schemas.openxmlformats.org/drawingml/2006/main" noGrp="1"/>
          </p:cNvSpPr>
          <p:nvPr/>
        </p:nvSpPr>
        <p:spPr>
          <a:xfrm xmlns:a="http://schemas.openxmlformats.org/drawingml/2006/main">
            <a:off x="583882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176B57"/>
                </a:solidFill>
                <a:latin typeface="Helvetica Neue"/>
                <a:ea typeface="Helvetica Neue"/>
                <a:cs typeface="Helvetica Neue"/>
              </a:defRPr>
            </a:pPr>
            <a:r>
              <a:rPr sz="2850" b="1">
                <a:solidFill>
                  <a:srgbClr val="176B57"/>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4ABD47E8-35DE-4E4C-B5E3-67DAB901F80D}"/>
              </a:ext>
            </a:extLst>
          </p:cNvPr>
          <p:cNvSpPr>
            <a:spLocks xmlns:a="http://schemas.openxmlformats.org/drawingml/2006/main" noGrp="1"/>
          </p:cNvSpPr>
          <p:nvPr/>
        </p:nvSpPr>
        <p:spPr>
          <a:xfrm xmlns:a="http://schemas.openxmlformats.org/drawingml/2006/main">
            <a:off x="539115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Approve</a:t>
            </a:r>
          </a:p>
        </p:txBody>
      </p:sp>
      <p:sp>
        <p:nvSpPr>
          <p:cNvPr id="15" name="">
            <a:extLst xmlns:a="http://schemas.openxmlformats.org/drawingml/2006/main">
              <a:ext uri="{FF2B5EF4-FFF2-40B4-BE49-F238E27FC236}">
                <a16:creationId xmlns:a16="http://schemas.microsoft.com/office/drawing/2014/main" id="{0AC38B62-160A-4FF8-82D2-8FA64F21CD45}"/>
              </a:ext>
            </a:extLst>
          </p:cNvPr>
          <p:cNvSpPr>
            <a:spLocks xmlns:a="http://schemas.openxmlformats.org/drawingml/2006/main" noGrp="1"/>
          </p:cNvSpPr>
          <p:nvPr/>
        </p:nvSpPr>
        <p:spPr>
          <a:xfrm xmlns:a="http://schemas.openxmlformats.org/drawingml/2006/main">
            <a:off x="539115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Exact tool and payload</a:t>
            </a:r>
          </a:p>
        </p:txBody>
      </p:sp>
      <p:sp>
        <p:nvSpPr>
          <p:cNvPr id="16" name="">
            <a:extLst xmlns:a="http://schemas.openxmlformats.org/drawingml/2006/main">
              <a:ext uri="{FF2B5EF4-FFF2-40B4-BE49-F238E27FC236}">
                <a16:creationId xmlns:a16="http://schemas.microsoft.com/office/drawing/2014/main" id="{07E7D207-2136-4D3B-8E39-C9D1834BC071}"/>
              </a:ext>
            </a:extLst>
          </p:cNvPr>
          <p:cNvSpPr>
            <a:spLocks xmlns:a="http://schemas.openxmlformats.org/drawingml/2006/main" noGrp="1"/>
          </p:cNvSpPr>
          <p:nvPr/>
        </p:nvSpPr>
        <p:spPr>
          <a:xfrm xmlns:a="http://schemas.openxmlformats.org/drawingml/2006/main">
            <a:off x="7534275"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17" name="">
            <a:extLst xmlns:a="http://schemas.openxmlformats.org/drawingml/2006/main">
              <a:ext uri="{FF2B5EF4-FFF2-40B4-BE49-F238E27FC236}">
                <a16:creationId xmlns:a16="http://schemas.microsoft.com/office/drawing/2014/main" id="{1376573E-2CAB-4C4D-999C-10BA04FCF1B9}"/>
              </a:ext>
            </a:extLst>
          </p:cNvPr>
          <p:cNvSpPr>
            <a:spLocks xmlns:a="http://schemas.openxmlformats.org/drawingml/2006/main" noGrp="1"/>
          </p:cNvSpPr>
          <p:nvPr/>
        </p:nvSpPr>
        <p:spPr>
          <a:xfrm xmlns:a="http://schemas.openxmlformats.org/drawingml/2006/main">
            <a:off x="8153400"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9D12C578-A436-4997-998D-92E43D1F8FB4}"/>
              </a:ext>
            </a:extLst>
          </p:cNvPr>
          <p:cNvSpPr>
            <a:spLocks xmlns:a="http://schemas.openxmlformats.org/drawingml/2006/main" noGrp="1"/>
          </p:cNvSpPr>
          <p:nvPr/>
        </p:nvSpPr>
        <p:spPr>
          <a:xfrm xmlns:a="http://schemas.openxmlformats.org/drawingml/2006/main">
            <a:off x="7705725"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Execute</a:t>
            </a:r>
          </a:p>
        </p:txBody>
      </p:sp>
      <p:sp>
        <p:nvSpPr>
          <p:cNvPr id="19" name="">
            <a:extLst xmlns:a="http://schemas.openxmlformats.org/drawingml/2006/main">
              <a:ext uri="{FF2B5EF4-FFF2-40B4-BE49-F238E27FC236}">
                <a16:creationId xmlns:a16="http://schemas.microsoft.com/office/drawing/2014/main" id="{395CA8FA-1991-4E83-A739-B3383CB5FC39}"/>
              </a:ext>
            </a:extLst>
          </p:cNvPr>
          <p:cNvSpPr>
            <a:spLocks xmlns:a="http://schemas.openxmlformats.org/drawingml/2006/main" noGrp="1"/>
          </p:cNvSpPr>
          <p:nvPr/>
        </p:nvSpPr>
        <p:spPr>
          <a:xfrm xmlns:a="http://schemas.openxmlformats.org/drawingml/2006/main">
            <a:off x="7705725"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Adapter sends or syncs</a:t>
            </a:r>
          </a:p>
        </p:txBody>
      </p:sp>
      <p:sp>
        <p:nvSpPr>
          <p:cNvPr id="20" name="">
            <a:extLst xmlns:a="http://schemas.openxmlformats.org/drawingml/2006/main">
              <a:ext uri="{FF2B5EF4-FFF2-40B4-BE49-F238E27FC236}">
                <a16:creationId xmlns:a16="http://schemas.microsoft.com/office/drawing/2014/main" id="{02E22712-D813-4114-ACEF-A8E34E6755F6}"/>
              </a:ext>
            </a:extLst>
          </p:cNvPr>
          <p:cNvSpPr>
            <a:spLocks xmlns:a="http://schemas.openxmlformats.org/drawingml/2006/main" noGrp="1"/>
          </p:cNvSpPr>
          <p:nvPr/>
        </p:nvSpPr>
        <p:spPr>
          <a:xfrm xmlns:a="http://schemas.openxmlformats.org/drawingml/2006/main">
            <a:off x="9848850"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21" name="">
            <a:extLst xmlns:a="http://schemas.openxmlformats.org/drawingml/2006/main">
              <a:ext uri="{FF2B5EF4-FFF2-40B4-BE49-F238E27FC236}">
                <a16:creationId xmlns:a16="http://schemas.microsoft.com/office/drawing/2014/main" id="{ADEEA58A-685A-4B26-A630-3DFD3F7F7E0A}"/>
              </a:ext>
            </a:extLst>
          </p:cNvPr>
          <p:cNvSpPr>
            <a:spLocks xmlns:a="http://schemas.openxmlformats.org/drawingml/2006/main" noGrp="1"/>
          </p:cNvSpPr>
          <p:nvPr/>
        </p:nvSpPr>
        <p:spPr>
          <a:xfrm xmlns:a="http://schemas.openxmlformats.org/drawingml/2006/main">
            <a:off x="1046797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5</a:t>
            </a:r>
          </a:p>
        </p:txBody>
      </p:sp>
      <p:sp>
        <p:nvSpPr>
          <p:cNvPr id="22" name="">
            <a:extLst xmlns:a="http://schemas.openxmlformats.org/drawingml/2006/main">
              <a:ext uri="{FF2B5EF4-FFF2-40B4-BE49-F238E27FC236}">
                <a16:creationId xmlns:a16="http://schemas.microsoft.com/office/drawing/2014/main" id="{4E5CD353-961C-41A4-A4BE-E853B9BED0AF}"/>
              </a:ext>
            </a:extLst>
          </p:cNvPr>
          <p:cNvSpPr>
            <a:spLocks xmlns:a="http://schemas.openxmlformats.org/drawingml/2006/main" noGrp="1"/>
          </p:cNvSpPr>
          <p:nvPr/>
        </p:nvSpPr>
        <p:spPr>
          <a:xfrm xmlns:a="http://schemas.openxmlformats.org/drawingml/2006/main">
            <a:off x="1002030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Record</a:t>
            </a:r>
          </a:p>
        </p:txBody>
      </p:sp>
      <p:sp>
        <p:nvSpPr>
          <p:cNvPr id="23" name="">
            <a:extLst xmlns:a="http://schemas.openxmlformats.org/drawingml/2006/main">
              <a:ext uri="{FF2B5EF4-FFF2-40B4-BE49-F238E27FC236}">
                <a16:creationId xmlns:a16="http://schemas.microsoft.com/office/drawing/2014/main" id="{2FDEBF0D-67A4-426F-BE29-9553C12AEDCF}"/>
              </a:ext>
            </a:extLst>
          </p:cNvPr>
          <p:cNvSpPr>
            <a:spLocks xmlns:a="http://schemas.openxmlformats.org/drawingml/2006/main" noGrp="1"/>
          </p:cNvSpPr>
          <p:nvPr/>
        </p:nvSpPr>
        <p:spPr>
          <a:xfrm xmlns:a="http://schemas.openxmlformats.org/drawingml/2006/main">
            <a:off x="1002030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Outcome enters audit log</a:t>
            </a:r>
          </a:p>
        </p:txBody>
      </p:sp>
      <p:sp>
        <p:nvSpPr>
          <p:cNvPr id="24" name="">
            <a:extLst xmlns:a="http://schemas.openxmlformats.org/drawingml/2006/main">
              <a:ext uri="{FF2B5EF4-FFF2-40B4-BE49-F238E27FC236}">
                <a16:creationId xmlns:a16="http://schemas.microsoft.com/office/drawing/2014/main" id="{623E7F87-8C64-4CA8-B8ED-06401A594957}"/>
              </a:ext>
            </a:extLst>
          </p:cNvPr>
          <p:cNvSpPr>
            <a:spLocks xmlns:a="http://schemas.openxmlformats.org/drawingml/2006/main" noGrp="1"/>
          </p:cNvSpPr>
          <p:nvPr/>
        </p:nvSpPr>
        <p:spPr>
          <a:xfrm xmlns:a="http://schemas.openxmlformats.org/drawingml/2006/main">
            <a:off x="1047750" y="47625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97962"/>
                </a:solidFill>
                <a:latin typeface="Helvetica Neue"/>
                <a:ea typeface="Helvetica Neue"/>
                <a:cs typeface="Helvetica Neue"/>
              </a:defRPr>
            </a:pPr>
            <a:r>
              <a:rPr sz="1800" b="1">
                <a:solidFill>
                  <a:srgbClr val="E97962"/>
                </a:solidFill>
                <a:latin typeface="Helvetica Neue"/>
                <a:ea typeface="Helvetica Neue"/>
                <a:cs typeface="Helvetica Neue"/>
              </a:rPr>
              <a:t>Missing credentials, destinations, approval, or scheduled time causes a closed failure</a:t>
            </a:r>
          </a:p>
        </p:txBody>
      </p:sp>
    </p:spTree>
    <p:extLst>
      <p:ext uri="{BB962C8B-B14F-4D97-AF65-F5344CB8AC3E}">
        <p14:creationId xmlns:p14="http://schemas.microsoft.com/office/powerpoint/2010/main" val="404768246"/>
      </p:ext>
    </p:extLst>
  </p:cSld>
</p:sld>
</file>

<file path=ppt/slides/slide6.xml><?xml version="1.0" encoding="utf-8"?>
<p:sld xmlns:p="http://schemas.openxmlformats.org/presentationml/2006/main">
  <p:cSld>
    <p:bg>
      <p:bgPr>
        <a:solidFill xmlns:a="http://schemas.openxmlformats.org/drawingml/2006/main">
          <a:srgbClr val="176B5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A3B9CE-9C37-4C96-9A4C-E992BF3F1938}"/>
              </a:ext>
            </a:extLst>
          </p:cNvPr>
          <p:cNvSpPr>
            <a:spLocks xmlns:a="http://schemas.openxmlformats.org/drawingml/2006/main" noGrp="1"/>
          </p:cNvSpPr>
          <p:nvPr/>
        </p:nvSpPr>
        <p:spPr>
          <a:xfrm xmlns:a="http://schemas.openxmlformats.org/drawingml/2006/main">
            <a:off x="714375" y="666750"/>
            <a:ext cx="838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4C7F6D77-9747-47CD-93E7-269600A85B6D}"/>
              </a:ext>
            </a:extLst>
          </p:cNvPr>
          <p:cNvSpPr>
            <a:spLocks xmlns:a="http://schemas.openxmlformats.org/drawingml/2006/main" noGrp="1"/>
          </p:cNvSpPr>
          <p:nvPr/>
        </p:nvSpPr>
        <p:spPr>
          <a:xfrm xmlns:a="http://schemas.openxmlformats.org/drawingml/2006/main">
            <a:off x="762000" y="1476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9DB7C"/>
                </a:solidFill>
                <a:latin typeface="Helvetica Neue"/>
                <a:ea typeface="Helvetica Neue"/>
                <a:cs typeface="Helvetica Neue"/>
              </a:defRPr>
            </a:pPr>
            <a:r>
              <a:rPr sz="1200" b="1">
                <a:solidFill>
                  <a:srgbClr val="B9DB7C"/>
                </a:solidFill>
                <a:latin typeface="Helvetica Neue"/>
                <a:ea typeface="Helvetica Neue"/>
                <a:cs typeface="Helvetica Neue"/>
              </a:rPr>
              <a:t>SANITIZED CAPSTONE INSTANCE</a:t>
            </a:r>
          </a:p>
        </p:txBody>
      </p:sp>
      <p:sp>
        <p:nvSpPr>
          <p:cNvPr id="3" name="">
            <a:extLst xmlns:a="http://schemas.openxmlformats.org/drawingml/2006/main">
              <a:ext uri="{FF2B5EF4-FFF2-40B4-BE49-F238E27FC236}">
                <a16:creationId xmlns:a16="http://schemas.microsoft.com/office/drawing/2014/main" id="{3FAC2C8D-177A-4B59-AC36-5B58FB17C5B5}"/>
              </a:ext>
            </a:extLst>
          </p:cNvPr>
          <p:cNvSpPr>
            <a:spLocks xmlns:a="http://schemas.openxmlformats.org/drawingml/2006/main" noGrp="1"/>
          </p:cNvSpPr>
          <p:nvPr/>
        </p:nvSpPr>
        <p:spPr>
          <a:xfrm xmlns:a="http://schemas.openxmlformats.org/drawingml/2006/main">
            <a:off x="838200" y="21431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B9DB7C"/>
                </a:solidFill>
                <a:latin typeface="Helvetica Neue"/>
                <a:ea typeface="Helvetica Neue"/>
                <a:cs typeface="Helvetica Neue"/>
              </a:defRPr>
            </a:pPr>
            <a:r>
              <a:rPr sz="1950" b="1">
                <a:solidFill>
                  <a:srgbClr val="B9DB7C"/>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38340237-D73C-4C69-8D3C-5F2B0163DF1C}"/>
              </a:ext>
            </a:extLst>
          </p:cNvPr>
          <p:cNvSpPr>
            <a:spLocks xmlns:a="http://schemas.openxmlformats.org/drawingml/2006/main" noGrp="1"/>
          </p:cNvSpPr>
          <p:nvPr/>
        </p:nvSpPr>
        <p:spPr>
          <a:xfrm xmlns:a="http://schemas.openxmlformats.org/drawingml/2006/main">
            <a:off x="1524000" y="21431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Run weekly brief</a:t>
            </a:r>
          </a:p>
        </p:txBody>
      </p:sp>
      <p:sp>
        <p:nvSpPr>
          <p:cNvPr id="5" name="">
            <a:extLst xmlns:a="http://schemas.openxmlformats.org/drawingml/2006/main">
              <a:ext uri="{FF2B5EF4-FFF2-40B4-BE49-F238E27FC236}">
                <a16:creationId xmlns:a16="http://schemas.microsoft.com/office/drawing/2014/main" id="{F28C4377-FD86-4B65-AB75-8645A77748A9}"/>
              </a:ext>
            </a:extLst>
          </p:cNvPr>
          <p:cNvSpPr>
            <a:spLocks xmlns:a="http://schemas.openxmlformats.org/drawingml/2006/main" noGrp="1"/>
          </p:cNvSpPr>
          <p:nvPr/>
        </p:nvSpPr>
        <p:spPr>
          <a:xfrm xmlns:a="http://schemas.openxmlformats.org/drawingml/2006/main">
            <a:off x="838200" y="29241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B9DB7C"/>
                </a:solidFill>
                <a:latin typeface="Helvetica Neue"/>
                <a:ea typeface="Helvetica Neue"/>
                <a:cs typeface="Helvetica Neue"/>
              </a:defRPr>
            </a:pPr>
            <a:r>
              <a:rPr sz="1950" b="1">
                <a:solidFill>
                  <a:srgbClr val="B9DB7C"/>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CB6E996E-D3B1-4AA2-B000-3701FC2030B3}"/>
              </a:ext>
            </a:extLst>
          </p:cNvPr>
          <p:cNvSpPr>
            <a:spLocks xmlns:a="http://schemas.openxmlformats.org/drawingml/2006/main" noGrp="1"/>
          </p:cNvSpPr>
          <p:nvPr/>
        </p:nvSpPr>
        <p:spPr>
          <a:xfrm xmlns:a="http://schemas.openxmlformats.org/drawingml/2006/main">
            <a:off x="1524000" y="29241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Inspect five domains</a:t>
            </a:r>
          </a:p>
        </p:txBody>
      </p:sp>
      <p:sp>
        <p:nvSpPr>
          <p:cNvPr id="7" name="">
            <a:extLst xmlns:a="http://schemas.openxmlformats.org/drawingml/2006/main">
              <a:ext uri="{FF2B5EF4-FFF2-40B4-BE49-F238E27FC236}">
                <a16:creationId xmlns:a16="http://schemas.microsoft.com/office/drawing/2014/main" id="{E5687D90-7F63-4E5E-8152-A09311AC1771}"/>
              </a:ext>
            </a:extLst>
          </p:cNvPr>
          <p:cNvSpPr>
            <a:spLocks xmlns:a="http://schemas.openxmlformats.org/drawingml/2006/main" noGrp="1"/>
          </p:cNvSpPr>
          <p:nvPr/>
        </p:nvSpPr>
        <p:spPr>
          <a:xfrm xmlns:a="http://schemas.openxmlformats.org/drawingml/2006/main">
            <a:off x="838200" y="37052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B9DB7C"/>
                </a:solidFill>
                <a:latin typeface="Helvetica Neue"/>
                <a:ea typeface="Helvetica Neue"/>
                <a:cs typeface="Helvetica Neue"/>
              </a:defRPr>
            </a:pPr>
            <a:r>
              <a:rPr sz="1950" b="1">
                <a:solidFill>
                  <a:srgbClr val="B9DB7C"/>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C5F2A95E-6180-40C3-A113-17D701127136}"/>
              </a:ext>
            </a:extLst>
          </p:cNvPr>
          <p:cNvSpPr>
            <a:spLocks xmlns:a="http://schemas.openxmlformats.org/drawingml/2006/main" noGrp="1"/>
          </p:cNvSpPr>
          <p:nvPr/>
        </p:nvSpPr>
        <p:spPr>
          <a:xfrm xmlns:a="http://schemas.openxmlformats.org/drawingml/2006/main">
            <a:off x="1524000" y="37052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Review exact approval payload</a:t>
            </a:r>
          </a:p>
        </p:txBody>
      </p:sp>
      <p:sp>
        <p:nvSpPr>
          <p:cNvPr id="9" name="">
            <a:extLst xmlns:a="http://schemas.openxmlformats.org/drawingml/2006/main">
              <a:ext uri="{FF2B5EF4-FFF2-40B4-BE49-F238E27FC236}">
                <a16:creationId xmlns:a16="http://schemas.microsoft.com/office/drawing/2014/main" id="{4C67D7BE-D9B1-4EA8-8C1C-417E99E068F1}"/>
              </a:ext>
            </a:extLst>
          </p:cNvPr>
          <p:cNvSpPr>
            <a:spLocks xmlns:a="http://schemas.openxmlformats.org/drawingml/2006/main" noGrp="1"/>
          </p:cNvSpPr>
          <p:nvPr/>
        </p:nvSpPr>
        <p:spPr>
          <a:xfrm xmlns:a="http://schemas.openxmlformats.org/drawingml/2006/main">
            <a:off x="838200" y="44862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B9DB7C"/>
                </a:solidFill>
                <a:latin typeface="Helvetica Neue"/>
                <a:ea typeface="Helvetica Neue"/>
                <a:cs typeface="Helvetica Neue"/>
              </a:defRPr>
            </a:pPr>
            <a:r>
              <a:rPr sz="1950" b="1">
                <a:solidFill>
                  <a:srgbClr val="B9DB7C"/>
                </a:solidFill>
                <a:latin typeface="Helvetica Neue"/>
                <a:ea typeface="Helvetica Neue"/>
                <a:cs typeface="Helvetica Neue"/>
              </a:rPr>
              <a:t>4</a:t>
            </a:r>
          </a:p>
        </p:txBody>
      </p:sp>
      <p:sp>
        <p:nvSpPr>
          <p:cNvPr id="10" name="">
            <a:extLst xmlns:a="http://schemas.openxmlformats.org/drawingml/2006/main">
              <a:ext uri="{FF2B5EF4-FFF2-40B4-BE49-F238E27FC236}">
                <a16:creationId xmlns:a16="http://schemas.microsoft.com/office/drawing/2014/main" id="{A48D4537-28BE-4B76-B2A7-4EF7A4CE1F89}"/>
              </a:ext>
            </a:extLst>
          </p:cNvPr>
          <p:cNvSpPr>
            <a:spLocks xmlns:a="http://schemas.openxmlformats.org/drawingml/2006/main" noGrp="1"/>
          </p:cNvSpPr>
          <p:nvPr/>
        </p:nvSpPr>
        <p:spPr>
          <a:xfrm xmlns:a="http://schemas.openxmlformats.org/drawingml/2006/main">
            <a:off x="1524000" y="44862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Run 20-scenario evaluation</a:t>
            </a:r>
          </a:p>
        </p:txBody>
      </p:sp>
      <p:sp>
        <p:nvSpPr>
          <p:cNvPr id="11" name="">
            <a:extLst xmlns:a="http://schemas.openxmlformats.org/drawingml/2006/main">
              <a:ext uri="{FF2B5EF4-FFF2-40B4-BE49-F238E27FC236}">
                <a16:creationId xmlns:a16="http://schemas.microsoft.com/office/drawing/2014/main" id="{6AFBD214-B67B-4378-87E0-74925AB47550}"/>
              </a:ext>
            </a:extLst>
          </p:cNvPr>
          <p:cNvSpPr>
            <a:spLocks xmlns:a="http://schemas.openxmlformats.org/drawingml/2006/main" noGrp="1"/>
          </p:cNvSpPr>
          <p:nvPr/>
        </p:nvSpPr>
        <p:spPr>
          <a:xfrm xmlns:a="http://schemas.openxmlformats.org/drawingml/2006/main">
            <a:off x="9620250" y="1762125"/>
            <a:ext cx="1809750" cy="3238500"/>
          </a:xfrm>
          <a:prstGeom xmlns:a="http://schemas.openxmlformats.org/drawingml/2006/main" prst="roundRect">
            <a:avLst>
              <a:gd name="adj" fmla="val 4211"/>
            </a:avLst>
          </a:prstGeom>
          <a:solidFill xmlns:a="http://schemas.openxmlformats.org/drawingml/2006/main">
            <a:srgbClr val="F7F5EF"/>
          </a:solidFill>
          <a:ln xmlns:a="http://schemas.openxmlformats.org/drawingml/2006/main" w="9525">
            <a:solidFill>
              <a:srgbClr val="BDD0C7"/>
            </a:solidFill>
          </a:ln>
        </p:spPr>
      </p:sp>
      <p:sp>
        <p:nvSpPr>
          <p:cNvPr id="12" name="">
            <a:extLst xmlns:a="http://schemas.openxmlformats.org/drawingml/2006/main">
              <a:ext uri="{FF2B5EF4-FFF2-40B4-BE49-F238E27FC236}">
                <a16:creationId xmlns:a16="http://schemas.microsoft.com/office/drawing/2014/main" id="{CE5CB158-FF97-4691-9B30-700DC03FCF3B}"/>
              </a:ext>
            </a:extLst>
          </p:cNvPr>
          <p:cNvSpPr>
            <a:spLocks xmlns:a="http://schemas.openxmlformats.org/drawingml/2006/main" noGrp="1"/>
          </p:cNvSpPr>
          <p:nvPr/>
        </p:nvSpPr>
        <p:spPr>
          <a:xfrm xmlns:a="http://schemas.openxmlformats.org/drawingml/2006/main">
            <a:off x="9810750" y="2095500"/>
            <a:ext cx="142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66"/>
          </a:bodyPr>
          <a:lstStyle xmlns:a="http://schemas.openxmlformats.org/drawingml/2006/main"/>
          <a:p xmlns:a="http://schemas.openxmlformats.org/drawingml/2006/main">
            <a:pPr>
              <a:defRPr sz="2175" b="1">
                <a:solidFill>
                  <a:srgbClr val="176B57"/>
                </a:solidFill>
                <a:latin typeface="Helvetica Neue"/>
                <a:ea typeface="Helvetica Neue"/>
                <a:cs typeface="Helvetica Neue"/>
              </a:defRPr>
            </a:pPr>
            <a:r>
              <a:rPr sz="2175" b="1">
                <a:solidFill>
                  <a:srgbClr val="176B57"/>
                </a:solidFill>
                <a:latin typeface="Helvetica Neue"/>
                <a:ea typeface="Helvetica Neue"/>
                <a:cs typeface="Helvetica Neue"/>
              </a:rPr>
              <a:t>DEMO</a:t>
            </a:r>
          </a:p>
          <a:p xmlns:a="http://schemas.openxmlformats.org/drawingml/2006/main">
            <a:pPr>
              <a:defRPr sz="2175" b="1">
                <a:solidFill>
                  <a:srgbClr val="176B57"/>
                </a:solidFill>
                <a:latin typeface="Helvetica Neue"/>
                <a:ea typeface="Helvetica Neue"/>
                <a:cs typeface="Helvetica Neue"/>
              </a:defRPr>
            </a:pPr>
            <a:r>
              <a:rPr sz="2175" b="1">
                <a:solidFill>
                  <a:srgbClr val="176B57"/>
                </a:solidFill>
                <a:latin typeface="Helvetica Neue"/>
                <a:ea typeface="Helvetica Neue"/>
                <a:cs typeface="Helvetica Neue"/>
              </a:rPr>
              <a:t>MODE</a:t>
            </a:r>
          </a:p>
        </p:txBody>
      </p:sp>
      <p:sp>
        <p:nvSpPr>
          <p:cNvPr id="13" name="">
            <a:extLst xmlns:a="http://schemas.openxmlformats.org/drawingml/2006/main">
              <a:ext uri="{FF2B5EF4-FFF2-40B4-BE49-F238E27FC236}">
                <a16:creationId xmlns:a16="http://schemas.microsoft.com/office/drawing/2014/main" id="{4FB0FA7F-D9FD-4B2E-AA4E-C4FB2FA8BB31}"/>
              </a:ext>
            </a:extLst>
          </p:cNvPr>
          <p:cNvSpPr>
            <a:spLocks xmlns:a="http://schemas.openxmlformats.org/drawingml/2006/main" noGrp="1"/>
          </p:cNvSpPr>
          <p:nvPr/>
        </p:nvSpPr>
        <p:spPr>
          <a:xfrm xmlns:a="http://schemas.openxmlformats.org/drawingml/2006/main">
            <a:off x="9810750" y="3143250"/>
            <a:ext cx="142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72B25"/>
                </a:solidFill>
                <a:latin typeface="Helvetica Neue"/>
                <a:ea typeface="Helvetica Neue"/>
                <a:cs typeface="Helvetica Neue"/>
              </a:defRPr>
            </a:pPr>
            <a:r>
              <a:rPr sz="1350" b="1">
                <a:solidFill>
                  <a:srgbClr val="172B25"/>
                </a:solidFill>
                <a:latin typeface="Helvetica Neue"/>
                <a:ea typeface="Helvetica Neue"/>
                <a:cs typeface="Helvetica Neue"/>
              </a:rPr>
              <a:t>Synthetic data</a:t>
            </a:r>
          </a:p>
          <a:p xmlns:a="http://schemas.openxmlformats.org/drawingml/2006/main">
            <a:pPr>
              <a:defRPr sz="1350" b="1">
                <a:solidFill>
                  <a:srgbClr val="172B25"/>
                </a:solidFill>
                <a:latin typeface="Helvetica Neue"/>
                <a:ea typeface="Helvetica Neue"/>
                <a:cs typeface="Helvetica Neue"/>
              </a:defRPr>
            </a:pPr>
            <a:r>
              <a:rPr sz="1350" b="1">
                <a:solidFill>
                  <a:srgbClr val="172B25"/>
                </a:solidFill>
                <a:latin typeface="Helvetica Neue"/>
                <a:ea typeface="Helvetica Neue"/>
                <a:cs typeface="Helvetica Neue"/>
              </a:rPr>
              <a:t>Mailbox disabled</a:t>
            </a:r>
          </a:p>
          <a:p xmlns:a="http://schemas.openxmlformats.org/drawingml/2006/main">
            <a:pPr>
              <a:defRPr sz="1350" b="1">
                <a:solidFill>
                  <a:srgbClr val="172B25"/>
                </a:solidFill>
                <a:latin typeface="Helvetica Neue"/>
                <a:ea typeface="Helvetica Neue"/>
                <a:cs typeface="Helvetica Neue"/>
              </a:defRPr>
            </a:pPr>
            <a:r>
              <a:rPr sz="1350" b="1">
                <a:solidFill>
                  <a:srgbClr val="172B25"/>
                </a:solidFill>
                <a:latin typeface="Helvetica Neue"/>
                <a:ea typeface="Helvetica Neue"/>
                <a:cs typeface="Helvetica Neue"/>
              </a:rPr>
              <a:t>External writes disabled</a:t>
            </a:r>
          </a:p>
        </p:txBody>
      </p:sp>
      <p:sp>
        <p:nvSpPr>
          <p:cNvPr id="14" name="">
            <a:extLst xmlns:a="http://schemas.openxmlformats.org/drawingml/2006/main">
              <a:ext uri="{FF2B5EF4-FFF2-40B4-BE49-F238E27FC236}">
                <a16:creationId xmlns:a16="http://schemas.microsoft.com/office/drawing/2014/main" id="{5283A49E-1361-471D-BD62-F411BCE52FC4}"/>
              </a:ext>
            </a:extLst>
          </p:cNvPr>
          <p:cNvSpPr>
            <a:spLocks xmlns:a="http://schemas.openxmlformats.org/drawingml/2006/main" noGrp="1"/>
          </p:cNvSpPr>
          <p:nvPr/>
        </p:nvSpPr>
        <p:spPr>
          <a:xfrm xmlns:a="http://schemas.openxmlformats.org/drawingml/2006/main">
            <a:off x="762000" y="57626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defRPr sz="1425" b="0">
                <a:solidFill>
                  <a:srgbClr val="DCEDE6"/>
                </a:solidFill>
                <a:latin typeface="Helvetica Neue"/>
                <a:ea typeface="Helvetica Neue"/>
                <a:cs typeface="Helvetica Neue"/>
              </a:defRPr>
            </a:pPr>
            <a:r>
              <a:rPr sz="1425" b="0">
                <a:solidFill>
                  <a:srgbClr val="DCEDE6"/>
                </a:solidFill>
                <a:latin typeface="Helvetica Neue"/>
                <a:ea typeface="Helvetica Neue"/>
                <a:cs typeface="Helvetica Neue"/>
              </a:rPr>
              <a:t>Switch to localhost:8502, then return to the deck</a:t>
            </a:r>
          </a:p>
        </p:txBody>
      </p:sp>
    </p:spTree>
    <p:extLst>
      <p:ext uri="{BB962C8B-B14F-4D97-AF65-F5344CB8AC3E}">
        <p14:creationId xmlns:p14="http://schemas.microsoft.com/office/powerpoint/2010/main" val="21870429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B47F73-471A-4E83-8531-5F7195361B82}"/>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Key design decisions</a:t>
            </a:r>
          </a:p>
        </p:txBody>
      </p:sp>
      <p:sp>
        <p:nvSpPr>
          <p:cNvPr id="2" name="">
            <a:extLst xmlns:a="http://schemas.openxmlformats.org/drawingml/2006/main">
              <a:ext uri="{FF2B5EF4-FFF2-40B4-BE49-F238E27FC236}">
                <a16:creationId xmlns:a16="http://schemas.microsoft.com/office/drawing/2014/main" id="{18D50A22-EACC-4448-94E0-054E7D8E2A09}"/>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DE5A31D-E1E4-43B5-9436-1A4A90AF4514}"/>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9F359DB0-0E0C-41EE-BA3B-D69FED3C694E}"/>
              </a:ext>
            </a:extLst>
          </p:cNvPr>
          <p:cNvSpPr>
            <a:spLocks xmlns:a="http://schemas.openxmlformats.org/drawingml/2006/main" noGrp="1"/>
          </p:cNvSpPr>
          <p:nvPr/>
        </p:nvSpPr>
        <p:spPr>
          <a:xfrm xmlns:a="http://schemas.openxmlformats.org/drawingml/2006/main">
            <a:off x="762000" y="1428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Sheets as church SSOT</a:t>
            </a:r>
          </a:p>
        </p:txBody>
      </p:sp>
      <p:sp>
        <p:nvSpPr>
          <p:cNvPr id="5" name="">
            <a:extLst xmlns:a="http://schemas.openxmlformats.org/drawingml/2006/main">
              <a:ext uri="{FF2B5EF4-FFF2-40B4-BE49-F238E27FC236}">
                <a16:creationId xmlns:a16="http://schemas.microsoft.com/office/drawing/2014/main" id="{0A365420-7B93-4E1E-B5DD-5D0CEE8E6392}"/>
              </a:ext>
            </a:extLst>
          </p:cNvPr>
          <p:cNvSpPr>
            <a:spLocks xmlns:a="http://schemas.openxmlformats.org/drawingml/2006/main" noGrp="1"/>
          </p:cNvSpPr>
          <p:nvPr/>
        </p:nvSpPr>
        <p:spPr>
          <a:xfrm xmlns:a="http://schemas.openxmlformats.org/drawingml/2006/main">
            <a:off x="4429125" y="14287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Frequent helper changes stay editable and calendar sync remains derived</a:t>
            </a:r>
          </a:p>
        </p:txBody>
      </p:sp>
      <p:sp>
        <p:nvSpPr>
          <p:cNvPr id="6" name="">
            <a:extLst xmlns:a="http://schemas.openxmlformats.org/drawingml/2006/main">
              <a:ext uri="{FF2B5EF4-FFF2-40B4-BE49-F238E27FC236}">
                <a16:creationId xmlns:a16="http://schemas.microsoft.com/office/drawing/2014/main" id="{180F5420-AAB5-4548-9C3B-579A446709B5}"/>
              </a:ext>
            </a:extLst>
          </p:cNvPr>
          <p:cNvSpPr>
            <a:spLocks xmlns:a="http://schemas.openxmlformats.org/drawingml/2006/main" noGrp="1"/>
          </p:cNvSpPr>
          <p:nvPr/>
        </p:nvSpPr>
        <p:spPr>
          <a:xfrm xmlns:a="http://schemas.openxmlformats.org/drawingml/2006/main">
            <a:off x="762000" y="215265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7" name="">
            <a:extLst xmlns:a="http://schemas.openxmlformats.org/drawingml/2006/main">
              <a:ext uri="{FF2B5EF4-FFF2-40B4-BE49-F238E27FC236}">
                <a16:creationId xmlns:a16="http://schemas.microsoft.com/office/drawing/2014/main" id="{15A7ED8F-1FF7-4A66-88DC-09B370655E1C}"/>
              </a:ext>
            </a:extLst>
          </p:cNvPr>
          <p:cNvSpPr>
            <a:spLocks xmlns:a="http://schemas.openxmlformats.org/drawingml/2006/main" noGrp="1"/>
          </p:cNvSpPr>
          <p:nvPr/>
        </p:nvSpPr>
        <p:spPr>
          <a:xfrm xmlns:a="http://schemas.openxmlformats.org/drawingml/2006/main">
            <a:off x="762000" y="23241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Typed contracts plus deterministic rules</a:t>
            </a:r>
          </a:p>
        </p:txBody>
      </p:sp>
      <p:sp>
        <p:nvSpPr>
          <p:cNvPr id="8" name="">
            <a:extLst xmlns:a="http://schemas.openxmlformats.org/drawingml/2006/main">
              <a:ext uri="{FF2B5EF4-FFF2-40B4-BE49-F238E27FC236}">
                <a16:creationId xmlns:a16="http://schemas.microsoft.com/office/drawing/2014/main" id="{064D3A5B-64C1-42B4-B96B-851EBDB31BB0}"/>
              </a:ext>
            </a:extLst>
          </p:cNvPr>
          <p:cNvSpPr>
            <a:spLocks xmlns:a="http://schemas.openxmlformats.org/drawingml/2006/main" noGrp="1"/>
          </p:cNvSpPr>
          <p:nvPr/>
        </p:nvSpPr>
        <p:spPr>
          <a:xfrm xmlns:a="http://schemas.openxmlformats.org/drawingml/2006/main">
            <a:off x="4429125" y="23241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Pydantic validates state while Python owns exact dates, permissions, and constraints</a:t>
            </a:r>
          </a:p>
        </p:txBody>
      </p:sp>
      <p:sp>
        <p:nvSpPr>
          <p:cNvPr id="9" name="">
            <a:extLst xmlns:a="http://schemas.openxmlformats.org/drawingml/2006/main">
              <a:ext uri="{FF2B5EF4-FFF2-40B4-BE49-F238E27FC236}">
                <a16:creationId xmlns:a16="http://schemas.microsoft.com/office/drawing/2014/main" id="{2766DEB3-3FF8-4EBB-AE07-7B7FB15EAA49}"/>
              </a:ext>
            </a:extLst>
          </p:cNvPr>
          <p:cNvSpPr>
            <a:spLocks xmlns:a="http://schemas.openxmlformats.org/drawingml/2006/main" noGrp="1"/>
          </p:cNvSpPr>
          <p:nvPr/>
        </p:nvSpPr>
        <p:spPr>
          <a:xfrm xmlns:a="http://schemas.openxmlformats.org/drawingml/2006/main">
            <a:off x="762000" y="304800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0" name="">
            <a:extLst xmlns:a="http://schemas.openxmlformats.org/drawingml/2006/main">
              <a:ext uri="{FF2B5EF4-FFF2-40B4-BE49-F238E27FC236}">
                <a16:creationId xmlns:a16="http://schemas.microsoft.com/office/drawing/2014/main" id="{65A2AF89-1C8D-4625-9ABE-5FF3FB8B3BFA}"/>
              </a:ext>
            </a:extLst>
          </p:cNvPr>
          <p:cNvSpPr>
            <a:spLocks xmlns:a="http://schemas.openxmlformats.org/drawingml/2006/main" noGrp="1"/>
          </p:cNvSpPr>
          <p:nvPr/>
        </p:nvSpPr>
        <p:spPr>
          <a:xfrm xmlns:a="http://schemas.openxmlformats.org/drawingml/2006/main">
            <a:off x="762000" y="32194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Local-first SQLite memory</a:t>
            </a:r>
          </a:p>
        </p:txBody>
      </p:sp>
      <p:sp>
        <p:nvSpPr>
          <p:cNvPr id="11" name="">
            <a:extLst xmlns:a="http://schemas.openxmlformats.org/drawingml/2006/main">
              <a:ext uri="{FF2B5EF4-FFF2-40B4-BE49-F238E27FC236}">
                <a16:creationId xmlns:a16="http://schemas.microsoft.com/office/drawing/2014/main" id="{40238D75-E160-4D9C-88D3-502612A4FB8E}"/>
              </a:ext>
            </a:extLst>
          </p:cNvPr>
          <p:cNvSpPr>
            <a:spLocks xmlns:a="http://schemas.openxmlformats.org/drawingml/2006/main" noGrp="1"/>
          </p:cNvSpPr>
          <p:nvPr/>
        </p:nvSpPr>
        <p:spPr>
          <a:xfrm xmlns:a="http://schemas.openxmlformats.org/drawingml/2006/main">
            <a:off x="4429125" y="32194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The demo runs offline and stores approvals, traces, and domain lifecycles</a:t>
            </a:r>
          </a:p>
        </p:txBody>
      </p:sp>
      <p:sp>
        <p:nvSpPr>
          <p:cNvPr id="12" name="">
            <a:extLst xmlns:a="http://schemas.openxmlformats.org/drawingml/2006/main">
              <a:ext uri="{FF2B5EF4-FFF2-40B4-BE49-F238E27FC236}">
                <a16:creationId xmlns:a16="http://schemas.microsoft.com/office/drawing/2014/main" id="{55347B80-D868-4D4A-9D63-6FDD935C2772}"/>
              </a:ext>
            </a:extLst>
          </p:cNvPr>
          <p:cNvSpPr>
            <a:spLocks xmlns:a="http://schemas.openxmlformats.org/drawingml/2006/main" noGrp="1"/>
          </p:cNvSpPr>
          <p:nvPr/>
        </p:nvSpPr>
        <p:spPr>
          <a:xfrm xmlns:a="http://schemas.openxmlformats.org/drawingml/2006/main">
            <a:off x="762000" y="394335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3" name="">
            <a:extLst xmlns:a="http://schemas.openxmlformats.org/drawingml/2006/main">
              <a:ext uri="{FF2B5EF4-FFF2-40B4-BE49-F238E27FC236}">
                <a16:creationId xmlns:a16="http://schemas.microsoft.com/office/drawing/2014/main" id="{625F1098-13CB-4D80-A588-826AA4B687B9}"/>
              </a:ext>
            </a:extLst>
          </p:cNvPr>
          <p:cNvSpPr>
            <a:spLocks xmlns:a="http://schemas.openxmlformats.org/drawingml/2006/main" noGrp="1"/>
          </p:cNvSpPr>
          <p:nvPr/>
        </p:nvSpPr>
        <p:spPr>
          <a:xfrm xmlns:a="http://schemas.openxmlformats.org/drawingml/2006/main">
            <a:off x="762000" y="41148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One model harness</a:t>
            </a:r>
          </a:p>
        </p:txBody>
      </p:sp>
      <p:sp>
        <p:nvSpPr>
          <p:cNvPr id="14" name="">
            <a:extLst xmlns:a="http://schemas.openxmlformats.org/drawingml/2006/main">
              <a:ext uri="{FF2B5EF4-FFF2-40B4-BE49-F238E27FC236}">
                <a16:creationId xmlns:a16="http://schemas.microsoft.com/office/drawing/2014/main" id="{F88EC9A3-F230-40E0-9AE7-124FAC002685}"/>
              </a:ext>
            </a:extLst>
          </p:cNvPr>
          <p:cNvSpPr>
            <a:spLocks xmlns:a="http://schemas.openxmlformats.org/drawingml/2006/main" noGrp="1"/>
          </p:cNvSpPr>
          <p:nvPr/>
        </p:nvSpPr>
        <p:spPr>
          <a:xfrm xmlns:a="http://schemas.openxmlformats.org/drawingml/2006/main">
            <a:off x="4429125" y="41148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OpenAI Agents SDK adds reasoning without overlapping LangChain or CrewAI control planes</a:t>
            </a:r>
          </a:p>
        </p:txBody>
      </p:sp>
      <p:sp>
        <p:nvSpPr>
          <p:cNvPr id="15" name="">
            <a:extLst xmlns:a="http://schemas.openxmlformats.org/drawingml/2006/main">
              <a:ext uri="{FF2B5EF4-FFF2-40B4-BE49-F238E27FC236}">
                <a16:creationId xmlns:a16="http://schemas.microsoft.com/office/drawing/2014/main" id="{AC751493-25AF-4AB4-8387-643F99BCD183}"/>
              </a:ext>
            </a:extLst>
          </p:cNvPr>
          <p:cNvSpPr>
            <a:spLocks xmlns:a="http://schemas.openxmlformats.org/drawingml/2006/main" noGrp="1"/>
          </p:cNvSpPr>
          <p:nvPr/>
        </p:nvSpPr>
        <p:spPr>
          <a:xfrm xmlns:a="http://schemas.openxmlformats.org/drawingml/2006/main">
            <a:off x="762000" y="483870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6" name="">
            <a:extLst xmlns:a="http://schemas.openxmlformats.org/drawingml/2006/main">
              <a:ext uri="{FF2B5EF4-FFF2-40B4-BE49-F238E27FC236}">
                <a16:creationId xmlns:a16="http://schemas.microsoft.com/office/drawing/2014/main" id="{007D3DA0-2083-475A-8E32-0E114048C072}"/>
              </a:ext>
            </a:extLst>
          </p:cNvPr>
          <p:cNvSpPr>
            <a:spLocks xmlns:a="http://schemas.openxmlformats.org/drawingml/2006/main" noGrp="1"/>
          </p:cNvSpPr>
          <p:nvPr/>
        </p:nvSpPr>
        <p:spPr>
          <a:xfrm xmlns:a="http://schemas.openxmlformats.org/drawingml/2006/main">
            <a:off x="762000" y="50101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Synthetic demo records</a:t>
            </a:r>
          </a:p>
        </p:txBody>
      </p:sp>
      <p:sp>
        <p:nvSpPr>
          <p:cNvPr id="17" name="">
            <a:extLst xmlns:a="http://schemas.openxmlformats.org/drawingml/2006/main">
              <a:ext uri="{FF2B5EF4-FFF2-40B4-BE49-F238E27FC236}">
                <a16:creationId xmlns:a16="http://schemas.microsoft.com/office/drawing/2014/main" id="{CB054663-3816-4C9E-A91B-B2EE892AF1DA}"/>
              </a:ext>
            </a:extLst>
          </p:cNvPr>
          <p:cNvSpPr>
            <a:spLocks xmlns:a="http://schemas.openxmlformats.org/drawingml/2006/main" noGrp="1"/>
          </p:cNvSpPr>
          <p:nvPr/>
        </p:nvSpPr>
        <p:spPr>
          <a:xfrm xmlns:a="http://schemas.openxmlformats.org/drawingml/2006/main">
            <a:off x="4429125" y="50101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A reproducible demonstration avoids publishing private household details</a:t>
            </a:r>
          </a:p>
        </p:txBody>
      </p:sp>
    </p:spTree>
    <p:extLst>
      <p:ext uri="{BB962C8B-B14F-4D97-AF65-F5344CB8AC3E}">
        <p14:creationId xmlns:p14="http://schemas.microsoft.com/office/powerpoint/2010/main" val="1971635904"/>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2F53E65-49EB-474F-9150-2A6574661784}"/>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Evaluation approach and results</a:t>
            </a:r>
          </a:p>
        </p:txBody>
      </p:sp>
      <p:sp>
        <p:nvSpPr>
          <p:cNvPr id="2" name="">
            <a:extLst xmlns:a="http://schemas.openxmlformats.org/drawingml/2006/main">
              <a:ext uri="{FF2B5EF4-FFF2-40B4-BE49-F238E27FC236}">
                <a16:creationId xmlns:a16="http://schemas.microsoft.com/office/drawing/2014/main" id="{CDDD564C-801B-426D-82F3-8818D1602536}"/>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BEE501FC-CBEB-4326-895A-AEF1F4EA90A4}"/>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graphicFrame>
        <p:nvGraphicFramePr>
          <p:cNvPr id="18" name="Chart"/>
          <p:cNvGraphicFramePr/>
          <p:nvPr/>
        </p:nvGraphicFramePr>
        <p:xfrm>
          <a:off xmlns:a="http://schemas.openxmlformats.org/drawingml/2006/main" x="714375" y="16192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235b4fe07f54855"/>
          </a:graphicData>
        </a:graphic>
      </p:graphicFrame>
      <p:sp>
        <p:nvSpPr>
          <p:cNvPr id="5" name="">
            <a:extLst xmlns:a="http://schemas.openxmlformats.org/drawingml/2006/main">
              <a:ext uri="{FF2B5EF4-FFF2-40B4-BE49-F238E27FC236}">
                <a16:creationId xmlns:a16="http://schemas.microsoft.com/office/drawing/2014/main" id="{BC7C0E6B-A8D2-453C-9C95-EE6784FD0D27}"/>
              </a:ext>
            </a:extLst>
          </p:cNvPr>
          <p:cNvSpPr>
            <a:spLocks xmlns:a="http://schemas.openxmlformats.org/drawingml/2006/main" noGrp="1"/>
          </p:cNvSpPr>
          <p:nvPr/>
        </p:nvSpPr>
        <p:spPr>
          <a:xfrm xmlns:a="http://schemas.openxmlformats.org/drawingml/2006/main">
            <a:off x="7858125" y="1685925"/>
            <a:ext cx="3381375" cy="1000125"/>
          </a:xfrm>
          <a:prstGeom xmlns:a="http://schemas.openxmlformats.org/drawingml/2006/main" prst="roundRect">
            <a:avLst>
              <a:gd name="adj" fmla="val 7619"/>
            </a:avLst>
          </a:prstGeom>
          <a:solidFill xmlns:a="http://schemas.openxmlformats.org/drawingml/2006/main">
            <a:srgbClr val="DCEDE6"/>
          </a:solidFill>
          <a:ln xmlns:a="http://schemas.openxmlformats.org/drawingml/2006/main" w="9525">
            <a:solidFill>
              <a:srgbClr val="BDD0C7"/>
            </a:solidFill>
          </a:ln>
        </p:spPr>
      </p:sp>
      <p:sp>
        <p:nvSpPr>
          <p:cNvPr id="6" name="">
            <a:extLst xmlns:a="http://schemas.openxmlformats.org/drawingml/2006/main">
              <a:ext uri="{FF2B5EF4-FFF2-40B4-BE49-F238E27FC236}">
                <a16:creationId xmlns:a16="http://schemas.microsoft.com/office/drawing/2014/main" id="{1733A3D0-8958-451E-8734-2D9BACDE3687}"/>
              </a:ext>
            </a:extLst>
          </p:cNvPr>
          <p:cNvSpPr>
            <a:spLocks xmlns:a="http://schemas.openxmlformats.org/drawingml/2006/main" noGrp="1"/>
          </p:cNvSpPr>
          <p:nvPr/>
        </p:nvSpPr>
        <p:spPr>
          <a:xfrm xmlns:a="http://schemas.openxmlformats.org/drawingml/2006/main">
            <a:off x="8096250" y="1809750"/>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176B57"/>
                </a:solidFill>
                <a:latin typeface="Helvetica Neue"/>
                <a:ea typeface="Helvetica Neue"/>
                <a:cs typeface="Helvetica Neue"/>
              </a:defRPr>
            </a:pPr>
            <a:r>
              <a:rPr sz="2250" b="1">
                <a:solidFill>
                  <a:srgbClr val="176B57"/>
                </a:solidFill>
                <a:latin typeface="Helvetica Neue"/>
                <a:ea typeface="Helvetica Neue"/>
                <a:cs typeface="Helvetica Neue"/>
              </a:rPr>
              <a:t>31 / 31</a:t>
            </a:r>
          </a:p>
        </p:txBody>
      </p:sp>
      <p:sp>
        <p:nvSpPr>
          <p:cNvPr id="7" name="">
            <a:extLst xmlns:a="http://schemas.openxmlformats.org/drawingml/2006/main">
              <a:ext uri="{FF2B5EF4-FFF2-40B4-BE49-F238E27FC236}">
                <a16:creationId xmlns:a16="http://schemas.microsoft.com/office/drawing/2014/main" id="{73145720-17B2-4BB0-9350-DBDAB321A0D4}"/>
              </a:ext>
            </a:extLst>
          </p:cNvPr>
          <p:cNvSpPr>
            <a:spLocks xmlns:a="http://schemas.openxmlformats.org/drawingml/2006/main" noGrp="1"/>
          </p:cNvSpPr>
          <p:nvPr/>
        </p:nvSpPr>
        <p:spPr>
          <a:xfrm xmlns:a="http://schemas.openxmlformats.org/drawingml/2006/main">
            <a:off x="8096250" y="223837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unit tests passed</a:t>
            </a:r>
          </a:p>
        </p:txBody>
      </p:sp>
      <p:sp>
        <p:nvSpPr>
          <p:cNvPr id="8" name="">
            <a:extLst xmlns:a="http://schemas.openxmlformats.org/drawingml/2006/main">
              <a:ext uri="{FF2B5EF4-FFF2-40B4-BE49-F238E27FC236}">
                <a16:creationId xmlns:a16="http://schemas.microsoft.com/office/drawing/2014/main" id="{79B09C51-AA86-4C6C-9ABA-1696D2C74102}"/>
              </a:ext>
            </a:extLst>
          </p:cNvPr>
          <p:cNvSpPr>
            <a:spLocks xmlns:a="http://schemas.openxmlformats.org/drawingml/2006/main" noGrp="1"/>
          </p:cNvSpPr>
          <p:nvPr/>
        </p:nvSpPr>
        <p:spPr>
          <a:xfrm xmlns:a="http://schemas.openxmlformats.org/drawingml/2006/main">
            <a:off x="7858125" y="2876550"/>
            <a:ext cx="3381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1DE9AEF2-E404-457C-A72B-D105BA59B967}"/>
              </a:ext>
            </a:extLst>
          </p:cNvPr>
          <p:cNvSpPr>
            <a:spLocks xmlns:a="http://schemas.openxmlformats.org/drawingml/2006/main" noGrp="1"/>
          </p:cNvSpPr>
          <p:nvPr/>
        </p:nvSpPr>
        <p:spPr>
          <a:xfrm xmlns:a="http://schemas.openxmlformats.org/drawingml/2006/main">
            <a:off x="8096250" y="3000375"/>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176B57"/>
                </a:solidFill>
                <a:latin typeface="Helvetica Neue"/>
                <a:ea typeface="Helvetica Neue"/>
                <a:cs typeface="Helvetica Neue"/>
              </a:defRPr>
            </a:pPr>
            <a:r>
              <a:rPr sz="2250" b="1">
                <a:solidFill>
                  <a:srgbClr val="176B57"/>
                </a:solidFill>
                <a:latin typeface="Helvetica Neue"/>
                <a:ea typeface="Helvetica Neue"/>
                <a:cs typeface="Helvetica Neue"/>
              </a:rPr>
              <a:t>20 / 20</a:t>
            </a:r>
          </a:p>
        </p:txBody>
      </p:sp>
      <p:sp>
        <p:nvSpPr>
          <p:cNvPr id="10" name="">
            <a:extLst xmlns:a="http://schemas.openxmlformats.org/drawingml/2006/main">
              <a:ext uri="{FF2B5EF4-FFF2-40B4-BE49-F238E27FC236}">
                <a16:creationId xmlns:a16="http://schemas.microsoft.com/office/drawing/2014/main" id="{75F88BEC-C273-4878-A950-8FF55E3A354B}"/>
              </a:ext>
            </a:extLst>
          </p:cNvPr>
          <p:cNvSpPr>
            <a:spLocks xmlns:a="http://schemas.openxmlformats.org/drawingml/2006/main" noGrp="1"/>
          </p:cNvSpPr>
          <p:nvPr/>
        </p:nvSpPr>
        <p:spPr>
          <a:xfrm xmlns:a="http://schemas.openxmlformats.org/drawingml/2006/main">
            <a:off x="8096250" y="3429000"/>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benchmark scenarios passed</a:t>
            </a:r>
          </a:p>
        </p:txBody>
      </p:sp>
      <p:sp>
        <p:nvSpPr>
          <p:cNvPr id="11" name="">
            <a:extLst xmlns:a="http://schemas.openxmlformats.org/drawingml/2006/main">
              <a:ext uri="{FF2B5EF4-FFF2-40B4-BE49-F238E27FC236}">
                <a16:creationId xmlns:a16="http://schemas.microsoft.com/office/drawing/2014/main" id="{F4E3773B-2D1C-448F-9162-9C85A3E8CA3A}"/>
              </a:ext>
            </a:extLst>
          </p:cNvPr>
          <p:cNvSpPr>
            <a:spLocks xmlns:a="http://schemas.openxmlformats.org/drawingml/2006/main" noGrp="1"/>
          </p:cNvSpPr>
          <p:nvPr/>
        </p:nvSpPr>
        <p:spPr>
          <a:xfrm xmlns:a="http://schemas.openxmlformats.org/drawingml/2006/main">
            <a:off x="7858125" y="4067175"/>
            <a:ext cx="3381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BDD0C7"/>
            </a:solidFill>
          </a:ln>
        </p:spPr>
      </p:sp>
      <p:sp>
        <p:nvSpPr>
          <p:cNvPr id="12" name="">
            <a:extLst xmlns:a="http://schemas.openxmlformats.org/drawingml/2006/main">
              <a:ext uri="{FF2B5EF4-FFF2-40B4-BE49-F238E27FC236}">
                <a16:creationId xmlns:a16="http://schemas.microsoft.com/office/drawing/2014/main" id="{7BD15550-1405-4A3B-BFE2-C0F3EED874EA}"/>
              </a:ext>
            </a:extLst>
          </p:cNvPr>
          <p:cNvSpPr>
            <a:spLocks xmlns:a="http://schemas.openxmlformats.org/drawingml/2006/main" noGrp="1"/>
          </p:cNvSpPr>
          <p:nvPr/>
        </p:nvSpPr>
        <p:spPr>
          <a:xfrm xmlns:a="http://schemas.openxmlformats.org/drawingml/2006/main">
            <a:off x="8096250" y="4191000"/>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E97962"/>
                </a:solidFill>
                <a:latin typeface="Helvetica Neue"/>
                <a:ea typeface="Helvetica Neue"/>
                <a:cs typeface="Helvetica Neue"/>
              </a:defRPr>
            </a:pPr>
            <a:r>
              <a:rPr sz="2250" b="1">
                <a:solidFill>
                  <a:srgbClr val="E97962"/>
                </a:solidFill>
                <a:latin typeface="Helvetica Neue"/>
                <a:ea typeface="Helvetica Neue"/>
                <a:cs typeface="Helvetica Neue"/>
              </a:rPr>
              <a:t>0%</a:t>
            </a:r>
          </a:p>
        </p:txBody>
      </p:sp>
      <p:sp>
        <p:nvSpPr>
          <p:cNvPr id="13" name="">
            <a:extLst xmlns:a="http://schemas.openxmlformats.org/drawingml/2006/main">
              <a:ext uri="{FF2B5EF4-FFF2-40B4-BE49-F238E27FC236}">
                <a16:creationId xmlns:a16="http://schemas.microsoft.com/office/drawing/2014/main" id="{C0807E0A-FD08-470D-B12C-BB1FAA3C2B33}"/>
              </a:ext>
            </a:extLst>
          </p:cNvPr>
          <p:cNvSpPr>
            <a:spLocks xmlns:a="http://schemas.openxmlformats.org/drawingml/2006/main" noGrp="1"/>
          </p:cNvSpPr>
          <p:nvPr/>
        </p:nvSpPr>
        <p:spPr>
          <a:xfrm xmlns:a="http://schemas.openxmlformats.org/drawingml/2006/main">
            <a:off x="8096250" y="46196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unsafe-action rate</a:t>
            </a:r>
          </a:p>
        </p:txBody>
      </p:sp>
      <p:sp>
        <p:nvSpPr>
          <p:cNvPr id="14" name="">
            <a:extLst xmlns:a="http://schemas.openxmlformats.org/drawingml/2006/main">
              <a:ext uri="{FF2B5EF4-FFF2-40B4-BE49-F238E27FC236}">
                <a16:creationId xmlns:a16="http://schemas.microsoft.com/office/drawing/2014/main" id="{27D40B54-133C-42C6-B225-E8263C8AAACC}"/>
              </a:ext>
            </a:extLst>
          </p:cNvPr>
          <p:cNvSpPr>
            <a:spLocks xmlns:a="http://schemas.openxmlformats.org/drawingml/2006/main" noGrp="1"/>
          </p:cNvSpPr>
          <p:nvPr/>
        </p:nvSpPr>
        <p:spPr>
          <a:xfrm xmlns:a="http://schemas.openxmlformats.org/drawingml/2006/main">
            <a:off x="1095375" y="56959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1706A"/>
                </a:solidFill>
                <a:latin typeface="Helvetica Neue"/>
                <a:ea typeface="Helvetica Neue"/>
                <a:cs typeface="Helvetica Neue"/>
              </a:defRPr>
            </a:pPr>
            <a:r>
              <a:rPr sz="1425" b="0">
                <a:solidFill>
                  <a:srgbClr val="61706A"/>
                </a:solidFill>
                <a:latin typeface="Helvetica Neue"/>
                <a:ea typeface="Helvetica Neue"/>
                <a:cs typeface="Helvetica Neue"/>
              </a:rPr>
              <a:t>Synthetic fixtures test correctness. A longitudinal user study is still pending.</a:t>
            </a:r>
          </a:p>
        </p:txBody>
      </p:sp>
    </p:spTree>
    <p:extLst>
      <p:ext uri="{BB962C8B-B14F-4D97-AF65-F5344CB8AC3E}">
        <p14:creationId xmlns:p14="http://schemas.microsoft.com/office/powerpoint/2010/main" val="204083814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422CE2-B468-462B-A3A2-6C298419F5E3}"/>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Public repository and reproducibility</a:t>
            </a:r>
          </a:p>
        </p:txBody>
      </p:sp>
      <p:sp>
        <p:nvSpPr>
          <p:cNvPr id="2" name="">
            <a:extLst xmlns:a="http://schemas.openxmlformats.org/drawingml/2006/main">
              <a:ext uri="{FF2B5EF4-FFF2-40B4-BE49-F238E27FC236}">
                <a16:creationId xmlns:a16="http://schemas.microsoft.com/office/drawing/2014/main" id="{586F0847-8BA6-411F-8106-DDF795862B0B}"/>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D24568B6-AA61-455C-8541-B8E504A56717}"/>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04469674-639D-4403-B852-C87CA16DE368}"/>
              </a:ext>
            </a:extLst>
          </p:cNvPr>
          <p:cNvSpPr>
            <a:spLocks xmlns:a="http://schemas.openxmlformats.org/drawingml/2006/main" noGrp="1"/>
          </p:cNvSpPr>
          <p:nvPr/>
        </p:nvSpPr>
        <p:spPr>
          <a:xfrm xmlns:a="http://schemas.openxmlformats.org/drawingml/2006/main">
            <a:off x="762000" y="1524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6B57"/>
                </a:solidFill>
                <a:latin typeface="Helvetica Neue"/>
                <a:ea typeface="Helvetica Neue"/>
                <a:cs typeface="Helvetica Neue"/>
              </a:defRPr>
            </a:pPr>
            <a:r>
              <a:rPr sz="1275" b="1">
                <a:solidFill>
                  <a:srgbClr val="176B57"/>
                </a:solidFill>
                <a:latin typeface="Helvetica Neue"/>
                <a:ea typeface="Helvetica Neue"/>
                <a:cs typeface="Helvetica Neue"/>
              </a:rPr>
              <a:t>Public repository</a:t>
            </a:r>
          </a:p>
        </p:txBody>
      </p:sp>
      <p:sp>
        <p:nvSpPr>
          <p:cNvPr id="5" name="">
            <a:extLst xmlns:a="http://schemas.openxmlformats.org/drawingml/2006/main">
              <a:ext uri="{FF2B5EF4-FFF2-40B4-BE49-F238E27FC236}">
                <a16:creationId xmlns:a16="http://schemas.microsoft.com/office/drawing/2014/main" id="{840319A2-BB4D-442A-8B1A-A2F2998E27B1}"/>
              </a:ext>
            </a:extLst>
          </p:cNvPr>
          <p:cNvSpPr>
            <a:spLocks xmlns:a="http://schemas.openxmlformats.org/drawingml/2006/main" noGrp="1"/>
          </p:cNvSpPr>
          <p:nvPr/>
        </p:nvSpPr>
        <p:spPr>
          <a:xfrm xmlns:a="http://schemas.openxmlformats.org/drawingml/2006/main">
            <a:off x="762000" y="19050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E97962"/>
                </a:solidFill>
                <a:latin typeface="Helvetica Neue"/>
                <a:ea typeface="Helvetica Neue"/>
                <a:cs typeface="Helvetica Neue"/>
              </a:defRPr>
            </a:pPr>
            <a:r>
              <a:rPr sz="2175" b="1">
                <a:solidFill>
                  <a:srgbClr val="E97962"/>
                </a:solidFill>
                <a:latin typeface="Helvetica Neue"/>
                <a:ea typeface="Helvetica Neue"/>
                <a:cs typeface="Helvetica Neue"/>
              </a:rPr>
              <a:t>github.com/tummy-wei/HouseholdOS</a:t>
            </a:r>
          </a:p>
        </p:txBody>
      </p:sp>
      <p:sp>
        <p:nvSpPr>
          <p:cNvPr id="6" name="">
            <a:extLst xmlns:a="http://schemas.openxmlformats.org/drawingml/2006/main">
              <a:ext uri="{FF2B5EF4-FFF2-40B4-BE49-F238E27FC236}">
                <a16:creationId xmlns:a16="http://schemas.microsoft.com/office/drawing/2014/main" id="{E1E37C7D-C6A7-474A-8723-C54ACFC1E63E}"/>
              </a:ext>
            </a:extLst>
          </p:cNvPr>
          <p:cNvSpPr>
            <a:spLocks xmlns:a="http://schemas.openxmlformats.org/drawingml/2006/main" noGrp="1"/>
          </p:cNvSpPr>
          <p:nvPr/>
        </p:nvSpPr>
        <p:spPr>
          <a:xfrm xmlns:a="http://schemas.openxmlformats.org/drawingml/2006/main">
            <a:off x="762000" y="2809875"/>
            <a:ext cx="47625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7" name="">
            <a:extLst xmlns:a="http://schemas.openxmlformats.org/drawingml/2006/main">
              <a:ext uri="{FF2B5EF4-FFF2-40B4-BE49-F238E27FC236}">
                <a16:creationId xmlns:a16="http://schemas.microsoft.com/office/drawing/2014/main" id="{D381ECD0-EEA6-47A6-A907-F34A5C079A47}"/>
              </a:ext>
            </a:extLst>
          </p:cNvPr>
          <p:cNvSpPr>
            <a:spLocks xmlns:a="http://schemas.openxmlformats.org/drawingml/2006/main" noGrp="1"/>
          </p:cNvSpPr>
          <p:nvPr/>
        </p:nvSpPr>
        <p:spPr>
          <a:xfrm xmlns:a="http://schemas.openxmlformats.org/drawingml/2006/main">
            <a:off x="1047750" y="306705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README and architecture</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Streamlit application</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Domain models and workflows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Integration adapters</a:t>
            </a:r>
          </a:p>
        </p:txBody>
      </p:sp>
      <p:sp>
        <p:nvSpPr>
          <p:cNvPr id="8" name="">
            <a:extLst xmlns:a="http://schemas.openxmlformats.org/drawingml/2006/main">
              <a:ext uri="{FF2B5EF4-FFF2-40B4-BE49-F238E27FC236}">
                <a16:creationId xmlns:a16="http://schemas.microsoft.com/office/drawing/2014/main" id="{63C9A171-D7B7-4BA2-8A8E-9C457F1F531C}"/>
              </a:ext>
            </a:extLst>
          </p:cNvPr>
          <p:cNvSpPr>
            <a:spLocks xmlns:a="http://schemas.openxmlformats.org/drawingml/2006/main" noGrp="1"/>
          </p:cNvSpPr>
          <p:nvPr/>
        </p:nvSpPr>
        <p:spPr>
          <a:xfrm xmlns:a="http://schemas.openxmlformats.org/drawingml/2006/main">
            <a:off x="6286500" y="2809875"/>
            <a:ext cx="4762500" cy="2333625"/>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851E8301-3221-461A-ABFE-C9C097474556}"/>
              </a:ext>
            </a:extLst>
          </p:cNvPr>
          <p:cNvSpPr>
            <a:spLocks xmlns:a="http://schemas.openxmlformats.org/drawingml/2006/main" noGrp="1"/>
          </p:cNvSpPr>
          <p:nvPr/>
        </p:nvSpPr>
        <p:spPr>
          <a:xfrm xmlns:a="http://schemas.openxmlformats.org/drawingml/2006/main">
            <a:off x="6572250" y="306705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31 unit tests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20-scenario baseline</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Sanitized sample inputs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Demo and setup guides</a:t>
            </a:r>
          </a:p>
        </p:txBody>
      </p:sp>
      <p:sp>
        <p:nvSpPr>
          <p:cNvPr id="10" name="">
            <a:extLst xmlns:a="http://schemas.openxmlformats.org/drawingml/2006/main">
              <a:ext uri="{FF2B5EF4-FFF2-40B4-BE49-F238E27FC236}">
                <a16:creationId xmlns:a16="http://schemas.microsoft.com/office/drawing/2014/main" id="{6E85388D-DC44-4196-B10A-EDF8E7DB6F86}"/>
              </a:ext>
            </a:extLst>
          </p:cNvPr>
          <p:cNvSpPr>
            <a:spLocks xmlns:a="http://schemas.openxmlformats.org/drawingml/2006/main" noGrp="1"/>
          </p:cNvSpPr>
          <p:nvPr/>
        </p:nvSpPr>
        <p:spPr>
          <a:xfrm xmlns:a="http://schemas.openxmlformats.org/drawingml/2006/main">
            <a:off x="1143000" y="55530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61706A"/>
                </a:solidFill>
                <a:latin typeface="Helvetica Neue"/>
                <a:ea typeface="Helvetica Neue"/>
                <a:cs typeface="Helvetica Neue"/>
              </a:defRPr>
            </a:pPr>
            <a:r>
              <a:rPr sz="1425" b="1">
                <a:solidFill>
                  <a:srgbClr val="61706A"/>
                </a:solidFill>
                <a:latin typeface="Helvetica Neue"/>
                <a:ea typeface="Helvetica Neue"/>
                <a:cs typeface="Helvetica Neue"/>
              </a:rPr>
              <a:t>Publish only after removing tokens, private email, addresses, and live group identifiers</a:t>
            </a:r>
          </a:p>
        </p:txBody>
      </p:sp>
    </p:spTree>
    <p:extLst>
      <p:ext uri="{BB962C8B-B14F-4D97-AF65-F5344CB8AC3E}">
        <p14:creationId xmlns:p14="http://schemas.microsoft.com/office/powerpoint/2010/main" val="157218192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655816-89F8-43B2-9F99-74144C238EB1}"/>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Strengths, limitations, and next steps</a:t>
            </a:r>
          </a:p>
        </p:txBody>
      </p:sp>
      <p:sp>
        <p:nvSpPr>
          <p:cNvPr id="2" name="">
            <a:extLst xmlns:a="http://schemas.openxmlformats.org/drawingml/2006/main">
              <a:ext uri="{FF2B5EF4-FFF2-40B4-BE49-F238E27FC236}">
                <a16:creationId xmlns:a16="http://schemas.microsoft.com/office/drawing/2014/main" id="{72D72186-EFD4-4E4D-B92C-2A76513B45AB}"/>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F5F3AB2F-BBEF-4480-8207-8E2AA58F093D}"/>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12F4BEFC-2E42-4FFB-A1E4-1DE440DECAA6}"/>
              </a:ext>
            </a:extLst>
          </p:cNvPr>
          <p:cNvSpPr>
            <a:spLocks xmlns:a="http://schemas.openxmlformats.org/drawingml/2006/main" noGrp="1"/>
          </p:cNvSpPr>
          <p:nvPr/>
        </p:nvSpPr>
        <p:spPr>
          <a:xfrm xmlns:a="http://schemas.openxmlformats.org/drawingml/2006/main">
            <a:off x="714375" y="1428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STRENGTHS</a:t>
            </a:r>
          </a:p>
        </p:txBody>
      </p:sp>
      <p:sp>
        <p:nvSpPr>
          <p:cNvPr id="5" name="">
            <a:extLst xmlns:a="http://schemas.openxmlformats.org/drawingml/2006/main">
              <a:ext uri="{FF2B5EF4-FFF2-40B4-BE49-F238E27FC236}">
                <a16:creationId xmlns:a16="http://schemas.microsoft.com/office/drawing/2014/main" id="{C1C50B6E-4388-48F7-B008-C9502910C8BF}"/>
              </a:ext>
            </a:extLst>
          </p:cNvPr>
          <p:cNvSpPr>
            <a:spLocks xmlns:a="http://schemas.openxmlformats.org/drawingml/2006/main" noGrp="1"/>
          </p:cNvSpPr>
          <p:nvPr/>
        </p:nvSpPr>
        <p:spPr>
          <a:xfrm xmlns:a="http://schemas.openxmlformats.org/drawingml/2006/main">
            <a:off x="4429125" y="142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E97962"/>
                </a:solidFill>
                <a:latin typeface="Helvetica Neue"/>
                <a:ea typeface="Helvetica Neue"/>
                <a:cs typeface="Helvetica Neue"/>
              </a:defRPr>
            </a:pPr>
            <a:r>
              <a:rPr sz="1050" b="1">
                <a:solidFill>
                  <a:srgbClr val="E97962"/>
                </a:solidFill>
                <a:latin typeface="Helvetica Neue"/>
                <a:ea typeface="Helvetica Neue"/>
                <a:cs typeface="Helvetica Neue"/>
              </a:rPr>
              <a:t>CURRENT LIMITATIONS</a:t>
            </a:r>
          </a:p>
        </p:txBody>
      </p:sp>
      <p:sp>
        <p:nvSpPr>
          <p:cNvPr id="6" name="">
            <a:extLst xmlns:a="http://schemas.openxmlformats.org/drawingml/2006/main">
              <a:ext uri="{FF2B5EF4-FFF2-40B4-BE49-F238E27FC236}">
                <a16:creationId xmlns:a16="http://schemas.microsoft.com/office/drawing/2014/main" id="{36CE1319-3336-447D-9844-56F483C81721}"/>
              </a:ext>
            </a:extLst>
          </p:cNvPr>
          <p:cNvSpPr>
            <a:spLocks xmlns:a="http://schemas.openxmlformats.org/drawingml/2006/main" noGrp="1"/>
          </p:cNvSpPr>
          <p:nvPr/>
        </p:nvSpPr>
        <p:spPr>
          <a:xfrm xmlns:a="http://schemas.openxmlformats.org/drawingml/2006/main">
            <a:off x="8191500" y="1428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NEXT STEPS</a:t>
            </a:r>
          </a:p>
        </p:txBody>
      </p:sp>
      <p:sp>
        <p:nvSpPr>
          <p:cNvPr id="7" name="">
            <a:extLst xmlns:a="http://schemas.openxmlformats.org/drawingml/2006/main">
              <a:ext uri="{FF2B5EF4-FFF2-40B4-BE49-F238E27FC236}">
                <a16:creationId xmlns:a16="http://schemas.microsoft.com/office/drawing/2014/main" id="{03D74600-5183-4B5E-BA1C-CC8E35805407}"/>
              </a:ext>
            </a:extLst>
          </p:cNvPr>
          <p:cNvSpPr>
            <a:spLocks xmlns:a="http://schemas.openxmlformats.org/drawingml/2006/main" noGrp="1"/>
          </p:cNvSpPr>
          <p:nvPr/>
        </p:nvSpPr>
        <p:spPr>
          <a:xfrm xmlns:a="http://schemas.openxmlformats.org/drawingml/2006/main">
            <a:off x="742950" y="1857375"/>
            <a:ext cx="2952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Visible provenance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Typed state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Fail-closed writes</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Five-domain brief</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Offline fallback</a:t>
            </a:r>
          </a:p>
        </p:txBody>
      </p:sp>
      <p:sp>
        <p:nvSpPr>
          <p:cNvPr id="8" name="">
            <a:extLst xmlns:a="http://schemas.openxmlformats.org/drawingml/2006/main">
              <a:ext uri="{FF2B5EF4-FFF2-40B4-BE49-F238E27FC236}">
                <a16:creationId xmlns:a16="http://schemas.microsoft.com/office/drawing/2014/main" id="{18B3B315-6486-4AAE-970E-A27014CC4612}"/>
              </a:ext>
            </a:extLst>
          </p:cNvPr>
          <p:cNvSpPr>
            <a:spLocks xmlns:a="http://schemas.openxmlformats.org/drawingml/2006/main" noGrp="1"/>
          </p:cNvSpPr>
          <p:nvPr/>
        </p:nvSpPr>
        <p:spPr>
          <a:xfrm xmlns:a="http://schemas.openxmlformats.org/drawingml/2006/main">
            <a:off x="4457700" y="1857375"/>
            <a:ext cx="2952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Local process only</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No job scheduler</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Rule-based routing</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Synthetic evaluation</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One-household design</a:t>
            </a:r>
          </a:p>
        </p:txBody>
      </p:sp>
      <p:sp>
        <p:nvSpPr>
          <p:cNvPr id="9" name="">
            <a:extLst xmlns:a="http://schemas.openxmlformats.org/drawingml/2006/main">
              <a:ext uri="{FF2B5EF4-FFF2-40B4-BE49-F238E27FC236}">
                <a16:creationId xmlns:a16="http://schemas.microsoft.com/office/drawing/2014/main" id="{B5E3956D-62C3-44B4-94A3-A9275185FE76}"/>
              </a:ext>
            </a:extLst>
          </p:cNvPr>
          <p:cNvSpPr>
            <a:spLocks xmlns:a="http://schemas.openxmlformats.org/drawingml/2006/main" noGrp="1"/>
          </p:cNvSpPr>
          <p:nvPr/>
        </p:nvSpPr>
        <p:spPr>
          <a:xfrm xmlns:a="http://schemas.openxmlformats.org/drawingml/2006/main">
            <a:off x="8220075" y="1857375"/>
            <a:ext cx="3048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Managed deployment</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Durable job queue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Sandbox integration tests</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Four-week user study</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Semantic retrieval</a:t>
            </a:r>
          </a:p>
        </p:txBody>
      </p:sp>
      <p:sp>
        <p:nvSpPr>
          <p:cNvPr id="10" name="">
            <a:extLst xmlns:a="http://schemas.openxmlformats.org/drawingml/2006/main">
              <a:ext uri="{FF2B5EF4-FFF2-40B4-BE49-F238E27FC236}">
                <a16:creationId xmlns:a16="http://schemas.microsoft.com/office/drawing/2014/main" id="{E1406F1F-A565-4C40-887B-CE6D81667C1D}"/>
              </a:ext>
            </a:extLst>
          </p:cNvPr>
          <p:cNvSpPr>
            <a:spLocks xmlns:a="http://schemas.openxmlformats.org/drawingml/2006/main" noGrp="1"/>
          </p:cNvSpPr>
          <p:nvPr/>
        </p:nvSpPr>
        <p:spPr>
          <a:xfrm xmlns:a="http://schemas.openxmlformats.org/drawingml/2006/main">
            <a:off x="1143000" y="53816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HouseholdOS demonstrates a reusable Chief-of-Staff pattern while keeping decisions human-owned</a:t>
            </a:r>
          </a:p>
        </p:txBody>
      </p:sp>
    </p:spTree>
    <p:extLst>
      <p:ext uri="{BB962C8B-B14F-4D97-AF65-F5344CB8AC3E}">
        <p14:creationId xmlns:p14="http://schemas.microsoft.com/office/powerpoint/2010/main" val="2026316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2026-09-10T06:29:42.1110000Z</dcterms:created>
  <dcterms:modified xsi:type="dcterms:W3CDTF">2026-09-10T06:29:42.1110000Z</dcterms:modified>
</coreProperties>
</file>